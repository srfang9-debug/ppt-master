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是S6161班临床医学皮肤方向的同学，今天想竞选学习委员。我的竞选口号很简单：选我，少翻群消息，少走科研弯路。我想做的，是把大家学习中那些重复又费时间的小事接过来，让大家把更多精力留给课程、临床和自己想做的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是不是也遇到过，明明记得群里有人发过资料，但真正要用时又找不到；或者消息太多，担心漏掉一个重要通知？想开始科研时，也可能不知道从什么问题、什么文章入手。我想竞选学习委员，就是希望把这些资料和信息整理得更清楚，认真接过这些重复的小事，让大家找资料和看通知都轻松一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有论文、实验和项目经历，也愿意把这些经历转化成大家用得上的帮助。论文方面，我可以分享文献检索和阅读思路，帮助大家从搜到文章走到看懂重点。实验方面，我愿意交流记录习惯和入门经验；项目方面，我可以分享任务拆解和协作方法，让分工、进度和沟通更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的第一个计划是，资料先整理，再共享。我会根据大家的需求，尝试建立按课程和主题分类的共享目录，把课程资料、复习提纲以及科研入门内容分清楚。同时标注来源和更新时间，保留原始入口，发现错误及时修正。大家可以自愿共享和补充，希望这个资料库能够越用越顺手，真正节省大家找东西的时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个计划是，群消息很多，重点我来帮大家捞。重要通知会用清楚的摘要呈现，说明是什么事、什么时候截止、需要什么材料，并保留原通知链接。如果信息有变更，我会再补一条清楚的更新。让大家少刷几页群聊，也能找到重点，把精力留给学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个计划是，科研入门不必一个人摸索。我愿意分享自己的文献检索、文献管理和科研入门经验，从把问题说清楚、确定关键词开始，再讲怎样检索和筛选文献，怎样阅读和记录重点。这些交流会根据大家的需求进行，同学自愿参与。大家有具体困惑时，可以一起交流、一起找思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当选，我希望认真负责是大家能够看见的行动。首先听大家的需求，再建立资料和信息入口；之后用简短周报汇总重点，资料和通知有变化就及时更新。对于同学提出的问题，我会做好记录，反馈进展，未解决的继续跟进。也会定期收集建议，让大家参与改进，尽量把服务做得更贴合实际需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最后，希望大家把这一票投给少一点负担。我的承诺是，把资料整理好，把通知讲清楚，让科研入门多一个可以交流的入口。请支持我竞选学习委员，你们的一票，我会用一件件认真完成的小事回应。谢谢大家！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xjtu_learning_committe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xjtu_learning_committe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410a64bafb6c4f.png"/>
  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  <p:grpSp>
        <p:nvGrpSpPr>
          <p:cNvPr id="7" name="campaign-tag"/>
          <p:cNvGrpSpPr/>
          <p:nvPr/>
        </p:nvGrpSpPr>
        <p:grpSpPr>
          <a:xfrm>
            <a:off x="601218" y="1606550"/>
            <a:ext cx="4371632" cy="322707"/>
            <a:chOff x="601218" y="1606550"/>
            <a:chExt cx="437163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606550"/>
              <a:ext cx="4371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S6161班学习委员竞选 / 临床医学·皮肤方向</a:t>
              </a:r>
            </a:p>
          </p:txBody>
        </p:sp>
      </p:grpSp>
      <p:grpSp>
        <p:nvGrpSpPr>
          <p:cNvPr id="11" name="cover-message"/>
          <p:cNvGrpSpPr/>
          <p:nvPr/>
        </p:nvGrpSpPr>
        <p:grpSpPr>
          <a:xfrm>
            <a:off x="590550" y="2327275"/>
            <a:ext cx="5692140" cy="2955925"/>
            <a:chOff x="590550" y="2327275"/>
            <a:chExt cx="5692140" cy="2955925"/>
          </a:xfrm>
        </p:grpSpPr>
        <p:sp>
          <p:nvSpPr>
            <p:cNvPr id="8" name="TextBox 8"/>
            <p:cNvSpPr txBox="1"/>
            <p:nvPr/>
          </p:nvSpPr>
          <p:spPr>
            <a:xfrm>
              <a:off x="591312" y="2327275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选我，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3092450"/>
              <a:ext cx="488442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少翻群消息，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4121150"/>
              <a:ext cx="569214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少走科研弯路。</a:t>
              </a:r>
            </a:p>
          </p:txBody>
        </p:sp>
      </p:grpSp>
      <p:grpSp>
        <p:nvGrpSpPr>
          <p:cNvPr id="14" name="service-tagline"/>
          <p:cNvGrpSpPr/>
          <p:nvPr/>
        </p:nvGrpSpPr>
        <p:grpSpPr>
          <a:xfrm>
            <a:off x="609600" y="5286375"/>
            <a:ext cx="10972800" cy="609600"/>
            <a:chOff x="609600" y="5286375"/>
            <a:chExt cx="10972800" cy="609600"/>
          </a:xfrm>
        </p:grpSpPr>
        <p:sp>
          <p:nvSpPr>
            <p:cNvPr id="12" name="Rectangle 12"/>
            <p:cNvSpPr/>
            <p:nvPr/>
          </p:nvSpPr>
          <p:spPr>
            <a:xfrm>
              <a:off x="609600" y="5286375"/>
              <a:ext cx="10972800" cy="609600"/>
            </a:xfrm>
            <a:prstGeom prst="roundRect">
              <a:avLst>
                <a:gd name="adj" fmla="val 31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208" y="540385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把同学的学习负担，认真减一点。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  <p:grpSp>
        <p:nvGrpSpPr>
          <p:cNvPr id="8" name="page-title"/>
          <p:cNvGrpSpPr/>
          <p:nvPr/>
        </p:nvGrpSpPr>
        <p:grpSpPr>
          <a:xfrm>
            <a:off x="591312" y="1473200"/>
            <a:ext cx="5367528" cy="1100963"/>
            <a:chOff x="591312" y="1473200"/>
            <a:chExt cx="5367528" cy="110096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为什么想竞选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把时间留给真正重要的事</a:t>
              </a:r>
            </a:p>
          </p:txBody>
        </p:sp>
      </p:grpSp>
      <p:grpSp>
        <p:nvGrpSpPr>
          <p:cNvPr id="12" name="question-1"/>
          <p:cNvGrpSpPr/>
          <p:nvPr/>
        </p:nvGrpSpPr>
        <p:grpSpPr>
          <a:xfrm>
            <a:off x="609600" y="2838450"/>
            <a:ext cx="6661023" cy="666750"/>
            <a:chOff x="609600" y="2838450"/>
            <a:chExt cx="6661023" cy="666750"/>
          </a:xfrm>
        </p:grpSpPr>
        <p:sp>
          <p:nvSpPr>
            <p:cNvPr id="9" name="Rectangle 9"/>
            <p:cNvSpPr/>
            <p:nvPr/>
          </p:nvSpPr>
          <p:spPr>
            <a:xfrm>
              <a:off x="609600" y="2838450"/>
              <a:ext cx="2324100" cy="66675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008" y="29845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资料在哪？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69183" y="298450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文件分散，找起来费时间。</a:t>
              </a:r>
            </a:p>
          </p:txBody>
        </p:sp>
      </p:grpSp>
      <p:grpSp>
        <p:nvGrpSpPr>
          <p:cNvPr id="16" name="question-2"/>
          <p:cNvGrpSpPr/>
          <p:nvPr/>
        </p:nvGrpSpPr>
        <p:grpSpPr>
          <a:xfrm>
            <a:off x="609600" y="3771900"/>
            <a:ext cx="6661023" cy="666750"/>
            <a:chOff x="609600" y="3771900"/>
            <a:chExt cx="6661023" cy="666750"/>
          </a:xfrm>
        </p:grpSpPr>
        <p:sp>
          <p:nvSpPr>
            <p:cNvPr id="13" name="Rectangle 13"/>
            <p:cNvSpPr/>
            <p:nvPr/>
          </p:nvSpPr>
          <p:spPr>
            <a:xfrm>
              <a:off x="609600" y="3771900"/>
              <a:ext cx="2324100" cy="66675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6008" y="39179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有新通知？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69183" y="39179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消息刷屏，重点容易错过。</a:t>
              </a:r>
            </a:p>
          </p:txBody>
        </p:sp>
      </p:grpSp>
      <p:grpSp>
        <p:nvGrpSpPr>
          <p:cNvPr id="20" name="question-3"/>
          <p:cNvGrpSpPr/>
          <p:nvPr/>
        </p:nvGrpSpPr>
        <p:grpSpPr>
          <a:xfrm>
            <a:off x="609600" y="4705350"/>
            <a:ext cx="6984111" cy="666750"/>
            <a:chOff x="609600" y="4705350"/>
            <a:chExt cx="6984111" cy="666750"/>
          </a:xfrm>
        </p:grpSpPr>
        <p:sp>
          <p:nvSpPr>
            <p:cNvPr id="17" name="Rectangle 17"/>
            <p:cNvSpPr/>
            <p:nvPr/>
          </p:nvSpPr>
          <p:spPr>
            <a:xfrm>
              <a:off x="609600" y="4705350"/>
              <a:ext cx="2324100" cy="66675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6008" y="48514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科研咋开始？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69183" y="485140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想试一试，却不知从哪入手。</a:t>
              </a:r>
            </a:p>
          </p:txBody>
        </p:sp>
      </p:grpSp>
      <p:grpSp>
        <p:nvGrpSpPr>
          <p:cNvPr id="22" name="takeaway"/>
          <p:cNvGrpSpPr/>
          <p:nvPr/>
        </p:nvGrpSpPr>
        <p:grpSpPr>
          <a:xfrm>
            <a:off x="597408" y="5775325"/>
            <a:ext cx="5516880" cy="469392"/>
            <a:chOff x="597408" y="5775325"/>
            <a:chExt cx="5516880" cy="469392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5775325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这些重复的小事，我愿意认真接过来。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  <p:grpSp>
        <p:nvGrpSpPr>
          <p:cNvPr id="8" name="page-title"/>
          <p:cNvGrpSpPr/>
          <p:nvPr/>
        </p:nvGrpSpPr>
        <p:grpSpPr>
          <a:xfrm>
            <a:off x="591312" y="1473200"/>
            <a:ext cx="6821424" cy="1100963"/>
            <a:chOff x="591312" y="1473200"/>
            <a:chExt cx="6821424" cy="110096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我能带来什么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让我的经历，变成大家的工具箱</a:t>
              </a:r>
            </a:p>
          </p:txBody>
        </p:sp>
      </p:grpSp>
      <p:grpSp>
        <p:nvGrpSpPr>
          <p:cNvPr id="14" name="experience-1"/>
          <p:cNvGrpSpPr/>
          <p:nvPr/>
        </p:nvGrpSpPr>
        <p:grpSpPr>
          <a:xfrm>
            <a:off x="609600" y="2819400"/>
            <a:ext cx="10972800" cy="962025"/>
            <a:chOff x="609600" y="2819400"/>
            <a:chExt cx="10972800" cy="962025"/>
          </a:xfrm>
        </p:grpSpPr>
        <p:sp>
          <p:nvSpPr>
            <p:cNvPr id="9" name="Rectangle 9"/>
            <p:cNvSpPr/>
            <p:nvPr/>
          </p:nvSpPr>
          <p:spPr>
            <a:xfrm>
              <a:off x="609600" y="2819400"/>
              <a:ext cx="1333500" cy="876300"/>
            </a:xfrm>
            <a:prstGeom prst="roundRect">
              <a:avLst>
                <a:gd name="adj" fmla="val 2173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3013075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1908" y="28797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文献检索与阅读思路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14956" y="3375025"/>
              <a:ext cx="29745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从“搜到文章”到“看懂重点”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324100" y="3771900"/>
              <a:ext cx="9258300" cy="9525"/>
            </a:xfrm>
            <a:custGeom>
              <a:avLst/>
              <a:gdLst/>
              <a:ahLst/>
              <a:cxnLst/>
              <a:rect l="l" t="t" r="r" b="b"/>
              <a:pathLst>
                <a:path w="9258300" h="9525">
                  <a:moveTo>
                    <a:pt x="0" y="0"/>
                  </a:moveTo>
                  <a:lnTo>
                    <a:pt x="9258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experience-2"/>
          <p:cNvGrpSpPr/>
          <p:nvPr/>
        </p:nvGrpSpPr>
        <p:grpSpPr>
          <a:xfrm>
            <a:off x="609600" y="3886200"/>
            <a:ext cx="10972800" cy="962025"/>
            <a:chOff x="609600" y="3886200"/>
            <a:chExt cx="10972800" cy="962025"/>
          </a:xfrm>
        </p:grpSpPr>
        <p:sp>
          <p:nvSpPr>
            <p:cNvPr id="15" name="Rectangle 15"/>
            <p:cNvSpPr/>
            <p:nvPr/>
          </p:nvSpPr>
          <p:spPr>
            <a:xfrm>
              <a:off x="609600" y="3886200"/>
              <a:ext cx="1333500" cy="876300"/>
            </a:xfrm>
            <a:prstGeom prst="roundRect">
              <a:avLst>
                <a:gd name="adj" fmla="val 2173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7250" y="4079875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11908" y="39465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记录习惯与入门经验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14956" y="444182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把摸索过程里的经验分享出来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324100" y="4838700"/>
              <a:ext cx="9258300" cy="9525"/>
            </a:xfrm>
            <a:custGeom>
              <a:avLst/>
              <a:gdLst/>
              <a:ahLst/>
              <a:cxnLst/>
              <a:rect l="l" t="t" r="r" b="b"/>
              <a:pathLst>
                <a:path w="9258300" h="9525">
                  <a:moveTo>
                    <a:pt x="0" y="0"/>
                  </a:moveTo>
                  <a:lnTo>
                    <a:pt x="9258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experience-3"/>
          <p:cNvGrpSpPr/>
          <p:nvPr/>
        </p:nvGrpSpPr>
        <p:grpSpPr>
          <a:xfrm>
            <a:off x="609600" y="4953000"/>
            <a:ext cx="10972800" cy="962025"/>
            <a:chOff x="609600" y="4953000"/>
            <a:chExt cx="10972800" cy="962025"/>
          </a:xfrm>
        </p:grpSpPr>
        <p:sp>
          <p:nvSpPr>
            <p:cNvPr id="21" name="Rectangle 21"/>
            <p:cNvSpPr/>
            <p:nvPr/>
          </p:nvSpPr>
          <p:spPr>
            <a:xfrm>
              <a:off x="609600" y="4953000"/>
              <a:ext cx="1333500" cy="876300"/>
            </a:xfrm>
            <a:prstGeom prst="roundRect">
              <a:avLst>
                <a:gd name="adj" fmla="val 2173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7250" y="5146675"/>
              <a:ext cx="838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11908" y="50133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任务拆解与协作方法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14956" y="55086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让进度、分工和沟通更清楚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324100" y="5905500"/>
              <a:ext cx="9258300" cy="9525"/>
            </a:xfrm>
            <a:custGeom>
              <a:avLst/>
              <a:gdLst/>
              <a:ahLst/>
              <a:cxnLst/>
              <a:rect l="l" t="t" r="r" b="b"/>
              <a:pathLst>
                <a:path w="9258300" h="9525">
                  <a:moveTo>
                    <a:pt x="0" y="0"/>
                  </a:moveTo>
                  <a:lnTo>
                    <a:pt x="9258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  <p:grpSp>
        <p:nvGrpSpPr>
          <p:cNvPr id="8" name="page-title"/>
          <p:cNvGrpSpPr/>
          <p:nvPr/>
        </p:nvGrpSpPr>
        <p:grpSpPr>
          <a:xfrm>
            <a:off x="591312" y="1473200"/>
            <a:ext cx="4398264" cy="1100963"/>
            <a:chOff x="591312" y="1473200"/>
            <a:chExt cx="4398264" cy="110096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 01 / 学习资料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资料先整理，再共享</a:t>
              </a:r>
            </a:p>
          </p:txBody>
        </p:sp>
      </p:grpSp>
      <p:grpSp>
        <p:nvGrpSpPr>
          <p:cNvPr id="14" name="shared-directory"/>
          <p:cNvGrpSpPr/>
          <p:nvPr/>
        </p:nvGrpSpPr>
        <p:grpSpPr>
          <a:xfrm>
            <a:off x="609600" y="2771775"/>
            <a:ext cx="5257800" cy="2971800"/>
            <a:chOff x="609600" y="2771775"/>
            <a:chExt cx="5257800" cy="2971800"/>
          </a:xfrm>
        </p:grpSpPr>
        <p:sp>
          <p:nvSpPr>
            <p:cNvPr id="9" name="Rectangle 9"/>
            <p:cNvSpPr/>
            <p:nvPr/>
          </p:nvSpPr>
          <p:spPr>
            <a:xfrm>
              <a:off x="609600" y="2771775"/>
              <a:ext cx="5257800" cy="2971800"/>
            </a:xfrm>
            <a:prstGeom prst="roundRect">
              <a:avLst>
                <a:gd name="adj" fmla="val 641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2208" y="297497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拟建共享目录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208" y="3594100"/>
              <a:ext cx="33037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课程资料 / 按课程分类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2208" y="4241800"/>
              <a:ext cx="33037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复习提纲 / 按主题整理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208" y="4889500"/>
              <a:ext cx="33037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科研入门 / 检索与阅读</a:t>
              </a:r>
            </a:p>
          </p:txBody>
        </p:sp>
      </p:grpSp>
      <p:grpSp>
        <p:nvGrpSpPr>
          <p:cNvPr id="17" name="directory-principles"/>
          <p:cNvGrpSpPr/>
          <p:nvPr/>
        </p:nvGrpSpPr>
        <p:grpSpPr>
          <a:xfrm>
            <a:off x="6290310" y="2803525"/>
            <a:ext cx="2770632" cy="2088642"/>
            <a:chOff x="6290310" y="2803525"/>
            <a:chExt cx="2770632" cy="2088642"/>
          </a:xfrm>
        </p:grpSpPr>
        <p:sp>
          <p:nvSpPr>
            <p:cNvPr id="15" name="TextBox 15"/>
            <p:cNvSpPr txBox="1"/>
            <p:nvPr/>
          </p:nvSpPr>
          <p:spPr>
            <a:xfrm>
              <a:off x="6290310" y="2803525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找到快一点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93358" y="3355975"/>
              <a:ext cx="2767584" cy="1536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标注来源与更新时间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保留原始资料入口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发现错误，及时修正</a:t>
              </a:r>
            </a:p>
          </p:txBody>
        </p:sp>
      </p:grpSp>
      <p:grpSp>
        <p:nvGrpSpPr>
          <p:cNvPr id="19" name="sharing-note"/>
          <p:cNvGrpSpPr/>
          <p:nvPr/>
        </p:nvGrpSpPr>
        <p:grpSpPr>
          <a:xfrm>
            <a:off x="600456" y="5965825"/>
            <a:ext cx="5349240" cy="352044"/>
            <a:chOff x="600456" y="5965825"/>
            <a:chExt cx="5349240" cy="352044"/>
          </a:xfrm>
        </p:grpSpPr>
        <p:sp>
          <p:nvSpPr>
            <p:cNvPr id="18" name="TextBox 18"/>
            <p:cNvSpPr txBox="1"/>
            <p:nvPr/>
          </p:nvSpPr>
          <p:spPr>
            <a:xfrm>
              <a:off x="600456" y="596582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同学自愿共享；一起补充，把资料库越用越顺手。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  <p:grpSp>
        <p:nvGrpSpPr>
          <p:cNvPr id="8" name="page-title"/>
          <p:cNvGrpSpPr/>
          <p:nvPr/>
        </p:nvGrpSpPr>
        <p:grpSpPr>
          <a:xfrm>
            <a:off x="591312" y="1473200"/>
            <a:ext cx="6336792" cy="1100963"/>
            <a:chOff x="591312" y="1473200"/>
            <a:chExt cx="6336792" cy="110096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 02 / 重要通知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群消息很多，重点我来帮你捞</a:t>
              </a:r>
            </a:p>
          </p:txBody>
        </p:sp>
      </p:grpSp>
      <p:grpSp>
        <p:nvGrpSpPr>
          <p:cNvPr id="13" name="notification-example"/>
          <p:cNvGrpSpPr/>
          <p:nvPr/>
        </p:nvGrpSpPr>
        <p:grpSpPr>
          <a:xfrm>
            <a:off x="609600" y="2847975"/>
            <a:ext cx="6286500" cy="2971800"/>
            <a:chOff x="609600" y="2847975"/>
            <a:chExt cx="6286500" cy="2971800"/>
          </a:xfrm>
        </p:grpSpPr>
        <p:sp>
          <p:nvSpPr>
            <p:cNvPr id="9" name="Rectangle 9"/>
            <p:cNvSpPr/>
            <p:nvPr/>
          </p:nvSpPr>
          <p:spPr>
            <a:xfrm>
              <a:off x="609600" y="2847975"/>
              <a:ext cx="6286500" cy="2971800"/>
            </a:xfrm>
            <a:prstGeom prst="roundRect">
              <a:avLst>
                <a:gd name="adj" fmla="val 641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4306" y="31178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拟用通知摘要格式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1258" y="3486150"/>
              <a:ext cx="3135630" cy="1078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什么事 / 截止时间</a:t>
              </a:r>
              <a:b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所需材料 / 原通知链接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4306" y="51943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有变更，再补一条清楚的更新。</a:t>
              </a:r>
            </a:p>
          </p:txBody>
        </p:sp>
      </p:grpSp>
      <p:grpSp>
        <p:nvGrpSpPr>
          <p:cNvPr id="16" name="notification-promise"/>
          <p:cNvGrpSpPr/>
          <p:nvPr/>
        </p:nvGrpSpPr>
        <p:grpSpPr>
          <a:xfrm>
            <a:off x="7414260" y="3000375"/>
            <a:ext cx="2697480" cy="2438019"/>
            <a:chOff x="7414260" y="3000375"/>
            <a:chExt cx="2697480" cy="2438019"/>
          </a:xfrm>
        </p:grpSpPr>
        <p:sp>
          <p:nvSpPr>
            <p:cNvPr id="14" name="TextBox 14"/>
            <p:cNvSpPr txBox="1"/>
            <p:nvPr/>
          </p:nvSpPr>
          <p:spPr>
            <a:xfrm>
              <a:off x="7414260" y="3000375"/>
              <a:ext cx="2697480" cy="1196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少刷几页群聊，</a:t>
              </a:r>
              <a:b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多留一点精力。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20356" y="4629150"/>
              <a:ext cx="2075688" cy="809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汇总重点，保留原文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关键信息更容易找到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  <p:grpSp>
        <p:nvGrpSpPr>
          <p:cNvPr id="8" name="page-title"/>
          <p:cNvGrpSpPr/>
          <p:nvPr/>
        </p:nvGrpSpPr>
        <p:grpSpPr>
          <a:xfrm>
            <a:off x="591312" y="1473200"/>
            <a:ext cx="5852160" cy="1100963"/>
            <a:chOff x="591312" y="1473200"/>
            <a:chExt cx="5852160" cy="110096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 03 / 文献与科研经验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科研入门，不必一个人摸索</a:t>
              </a:r>
            </a:p>
          </p:txBody>
        </p:sp>
      </p:grpSp>
      <p:grpSp>
        <p:nvGrpSpPr>
          <p:cNvPr id="25" name="research-sequence"/>
          <p:cNvGrpSpPr/>
          <p:nvPr/>
        </p:nvGrpSpPr>
        <p:grpSpPr>
          <a:xfrm>
            <a:off x="597408" y="2886075"/>
            <a:ext cx="9468612" cy="2060194"/>
            <a:chOff x="597408" y="2886075"/>
            <a:chExt cx="9468612" cy="2060194"/>
          </a:xfrm>
        </p:grpSpPr>
        <p:sp>
          <p:nvSpPr>
            <p:cNvPr id="9" name="Line 9"/>
            <p:cNvSpPr/>
            <p:nvPr/>
          </p:nvSpPr>
          <p:spPr>
            <a:xfrm>
              <a:off x="1066800" y="3305175"/>
              <a:ext cx="7848600" cy="9525"/>
            </a:xfrm>
            <a:custGeom>
              <a:avLst/>
              <a:gdLst/>
              <a:ahLst/>
              <a:cxnLst/>
              <a:rect l="l" t="t" r="r" b="b"/>
              <a:pathLst>
                <a:path w="7848600" h="9525">
                  <a:moveTo>
                    <a:pt x="0" y="0"/>
                  </a:moveTo>
                  <a:lnTo>
                    <a:pt x="78486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4" name="research-step-1"/>
            <p:cNvGrpSpPr/>
            <p:nvPr/>
          </p:nvGrpSpPr>
          <p:grpSpPr>
            <a:xfrm>
              <a:off x="597408" y="2886075"/>
              <a:ext cx="1962912" cy="2060194"/>
              <a:chOff x="597408" y="2886075"/>
              <a:chExt cx="1962912" cy="2060194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47700" y="2886075"/>
                <a:ext cx="838200" cy="838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68025" y="312737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7408" y="3965575"/>
                <a:ext cx="19629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把问题说清楚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00456" y="459422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确定关键词</a:t>
                </a:r>
              </a:p>
            </p:txBody>
          </p:sp>
        </p:grpSp>
        <p:grpSp>
          <p:nvGrpSpPr>
            <p:cNvPr id="19" name="research-step-2"/>
            <p:cNvGrpSpPr/>
            <p:nvPr/>
          </p:nvGrpSpPr>
          <p:grpSpPr>
            <a:xfrm>
              <a:off x="4350258" y="2886075"/>
              <a:ext cx="1962912" cy="2060194"/>
              <a:chOff x="4350258" y="2886075"/>
              <a:chExt cx="1962912" cy="2060194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400550" y="2886075"/>
                <a:ext cx="838200" cy="838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20875" y="312737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50258" y="3965575"/>
                <a:ext cx="19629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找到合适文献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353306" y="459422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检索与筛选</a:t>
                </a:r>
              </a:p>
            </p:txBody>
          </p:sp>
        </p:grpSp>
        <p:grpSp>
          <p:nvGrpSpPr>
            <p:cNvPr id="24" name="research-step-3"/>
            <p:cNvGrpSpPr/>
            <p:nvPr/>
          </p:nvGrpSpPr>
          <p:grpSpPr>
            <a:xfrm>
              <a:off x="8103108" y="2886075"/>
              <a:ext cx="1962912" cy="2060194"/>
              <a:chOff x="8103108" y="2886075"/>
              <a:chExt cx="1962912" cy="2060194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153400" y="2886075"/>
                <a:ext cx="838200" cy="838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373725" y="312737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03108" y="3965575"/>
                <a:ext cx="19629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读出文章重点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106156" y="4594225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阅读与记录</a:t>
                </a:r>
              </a:p>
            </p:txBody>
          </p:sp>
        </p:grpSp>
      </p:grpSp>
      <p:grpSp>
        <p:nvGrpSpPr>
          <p:cNvPr id="28" name="voluntary-sharing"/>
          <p:cNvGrpSpPr/>
          <p:nvPr/>
        </p:nvGrpSpPr>
        <p:grpSpPr>
          <a:xfrm>
            <a:off x="609600" y="5581650"/>
            <a:ext cx="10972800" cy="628650"/>
            <a:chOff x="609600" y="5581650"/>
            <a:chExt cx="10972800" cy="628650"/>
          </a:xfrm>
        </p:grpSpPr>
        <p:sp>
          <p:nvSpPr>
            <p:cNvPr id="26" name="Rectangle 26"/>
            <p:cNvSpPr/>
            <p:nvPr/>
          </p:nvSpPr>
          <p:spPr>
            <a:xfrm>
              <a:off x="609600" y="5581650"/>
              <a:ext cx="10972800" cy="628650"/>
            </a:xfrm>
            <a:prstGeom prst="roundRect">
              <a:avLst>
                <a:gd name="adj" fmla="val 303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5256" y="578485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分享检索、文献管理与科研入门经验；按需交流，自愿参与。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  <p:grpSp>
        <p:nvGrpSpPr>
          <p:cNvPr id="8" name="page-title"/>
          <p:cNvGrpSpPr/>
          <p:nvPr/>
        </p:nvGrpSpPr>
        <p:grpSpPr>
          <a:xfrm>
            <a:off x="591312" y="1473200"/>
            <a:ext cx="5852160" cy="1100963"/>
            <a:chOff x="591312" y="1473200"/>
            <a:chExt cx="5852160" cy="110096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47320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当选后的执行计划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认真负责，要让大家看得见</a:t>
              </a:r>
            </a:p>
          </p:txBody>
        </p:sp>
      </p:grpSp>
      <p:grpSp>
        <p:nvGrpSpPr>
          <p:cNvPr id="13" name="commitment-1"/>
          <p:cNvGrpSpPr/>
          <p:nvPr/>
        </p:nvGrpSpPr>
        <p:grpSpPr>
          <a:xfrm>
            <a:off x="609600" y="2857500"/>
            <a:ext cx="3352800" cy="3000375"/>
            <a:chOff x="609600" y="2857500"/>
            <a:chExt cx="3352800" cy="3000375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3352800" cy="3000375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30130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060" y="3670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先听需求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4302125"/>
              <a:ext cx="2532888" cy="771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先问大家最需要什么，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再建立资料与信息入口。</a:t>
              </a:r>
            </a:p>
          </p:txBody>
        </p:sp>
      </p:grpSp>
      <p:grpSp>
        <p:nvGrpSpPr>
          <p:cNvPr id="18" name="commitment-2"/>
          <p:cNvGrpSpPr/>
          <p:nvPr/>
        </p:nvGrpSpPr>
        <p:grpSpPr>
          <a:xfrm>
            <a:off x="4362450" y="2857500"/>
            <a:ext cx="3352800" cy="3000375"/>
            <a:chOff x="4362450" y="2857500"/>
            <a:chExt cx="3352800" cy="3000375"/>
          </a:xfrm>
        </p:grpSpPr>
        <p:sp>
          <p:nvSpPr>
            <p:cNvPr id="14" name="Rectangle 14"/>
            <p:cNvSpPr/>
            <p:nvPr/>
          </p:nvSpPr>
          <p:spPr>
            <a:xfrm>
              <a:off x="4362450" y="2857500"/>
              <a:ext cx="3352800" cy="3000375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13910" y="30130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910" y="3670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持续更新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0006" y="4302125"/>
              <a:ext cx="2761488" cy="771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用简短周报汇总重点，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资料和通知有变化就更新。</a:t>
              </a:r>
            </a:p>
          </p:txBody>
        </p:sp>
      </p:grpSp>
      <p:grpSp>
        <p:nvGrpSpPr>
          <p:cNvPr id="23" name="commitment-3"/>
          <p:cNvGrpSpPr/>
          <p:nvPr/>
        </p:nvGrpSpPr>
        <p:grpSpPr>
          <a:xfrm>
            <a:off x="8115300" y="2857500"/>
            <a:ext cx="3352800" cy="3000375"/>
            <a:chOff x="8115300" y="2857500"/>
            <a:chExt cx="3352800" cy="3000375"/>
          </a:xfrm>
        </p:grpSpPr>
        <p:sp>
          <p:nvSpPr>
            <p:cNvPr id="19" name="Rectangle 19"/>
            <p:cNvSpPr/>
            <p:nvPr/>
          </p:nvSpPr>
          <p:spPr>
            <a:xfrm>
              <a:off x="8115300" y="2857500"/>
              <a:ext cx="3352800" cy="3000375"/>
            </a:xfrm>
            <a:prstGeom prst="roundRect">
              <a:avLst>
                <a:gd name="adj" fmla="val 634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66760" y="30130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6760" y="3670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跟进反馈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2856" y="4302125"/>
              <a:ext cx="2761488" cy="771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问题有记录，进展有回应，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未解决的继续跟进。</a:t>
              </a:r>
            </a:p>
          </p:txBody>
        </p:sp>
      </p:grpSp>
      <p:grpSp>
        <p:nvGrpSpPr>
          <p:cNvPr id="25" name="accountability"/>
          <p:cNvGrpSpPr/>
          <p:nvPr/>
        </p:nvGrpSpPr>
        <p:grpSpPr>
          <a:xfrm>
            <a:off x="600456" y="5984875"/>
            <a:ext cx="4864608" cy="352044"/>
            <a:chOff x="600456" y="5984875"/>
            <a:chExt cx="4864608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600456" y="598487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定期收集建议，和大家一起把服务改得更好。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"/>
            <a:ext cx="2952750" cy="876300"/>
          </a:xfrm>
          <a:prstGeom prst="rect">
            <a:avLst/>
          </a:prstGeom>
        </p:spPr>
      </p:pic>
      <p:grpSp>
        <p:nvGrpSpPr>
          <p:cNvPr id="5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6438900"/>
              <a:ext cx="1647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S6161 · 学习委员竞选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  <p:grpSp>
        <p:nvGrpSpPr>
          <p:cNvPr id="9" name="vote-message"/>
          <p:cNvGrpSpPr/>
          <p:nvPr/>
        </p:nvGrpSpPr>
        <p:grpSpPr>
          <a:xfrm>
            <a:off x="590550" y="1822450"/>
            <a:ext cx="6499860" cy="2498217"/>
            <a:chOff x="590550" y="1822450"/>
            <a:chExt cx="6499860" cy="2498217"/>
          </a:xfrm>
        </p:grpSpPr>
        <p:sp>
          <p:nvSpPr>
            <p:cNvPr id="6" name="TextBox 6"/>
            <p:cNvSpPr txBox="1"/>
            <p:nvPr/>
          </p:nvSpPr>
          <p:spPr>
            <a:xfrm>
              <a:off x="591312" y="182245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这一票，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2635250"/>
              <a:ext cx="649986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投给少一点负担。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3851275"/>
              <a:ext cx="62599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资料整理好 · 通知讲清楚 · 科研多一个入口</a:t>
              </a:r>
            </a:p>
          </p:txBody>
        </p:sp>
      </p:grpSp>
      <p:grpSp>
        <p:nvGrpSpPr>
          <p:cNvPr id="13" name="vote-call"/>
          <p:cNvGrpSpPr/>
          <p:nvPr/>
        </p:nvGrpSpPr>
        <p:grpSpPr>
          <a:xfrm>
            <a:off x="609600" y="4686300"/>
            <a:ext cx="10972800" cy="1171575"/>
            <a:chOff x="609600" y="4686300"/>
            <a:chExt cx="10972800" cy="1171575"/>
          </a:xfrm>
        </p:grpSpPr>
        <p:sp>
          <p:nvSpPr>
            <p:cNvPr id="10" name="Rectangle 10"/>
            <p:cNvSpPr/>
            <p:nvPr/>
          </p:nvSpPr>
          <p:spPr>
            <a:xfrm>
              <a:off x="609600" y="4686300"/>
              <a:ext cx="10972800" cy="1171575"/>
            </a:xfrm>
            <a:prstGeom prst="roundRect">
              <a:avLst>
                <a:gd name="adj" fmla="val 1626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8210" y="48704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请支持我竞选学习委员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4306" y="544195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你们的一票，我用一件件小事回应。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xjtu_learning_committee">
  <a:themeElements>
    <a:clrScheme name="xjtu_learning_committee">
      <a:dk1>
        <a:srgbClr val="172B46"/>
      </a:dk1>
      <a:lt1>
        <a:srgbClr val="FFFFFF"/>
      </a:lt1>
      <a:dk2>
        <a:srgbClr val="1F497D"/>
      </a:dk2>
      <a:lt2>
        <a:srgbClr val="F1F5FB"/>
      </a:lt2>
      <a:accent1>
        <a:srgbClr val="123D82"/>
      </a:accent1>
      <a:accent2>
        <a:srgbClr val="F2A65A"/>
      </a:accent2>
      <a:accent3>
        <a:srgbClr val="5681B9"/>
      </a:accent3>
      <a:accent4>
        <a:srgbClr val="123D82"/>
      </a:accent4>
      <a:accent5>
        <a:srgbClr val="67788E"/>
      </a:accent5>
      <a:accent6>
        <a:srgbClr val="DCE5F0"/>
      </a:accent6>
      <a:hlink>
        <a:srgbClr val="F2A65A"/>
      </a:hlink>
      <a:folHlink>
        <a:srgbClr val="5681B9"/>
      </a:folHlink>
    </a:clrScheme>
    <a:fontScheme name="xjtu_learning_committe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jtu_learning_committe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xjtu_learning_committee">
  <a:themeElements>
    <a:clrScheme name="xjtu_learning_committee">
      <a:dk1>
        <a:srgbClr val="172B46"/>
      </a:dk1>
      <a:lt1>
        <a:srgbClr val="FFFFFF"/>
      </a:lt1>
      <a:dk2>
        <a:srgbClr val="1F497D"/>
      </a:dk2>
      <a:lt2>
        <a:srgbClr val="F1F5FB"/>
      </a:lt2>
      <a:accent1>
        <a:srgbClr val="123D82"/>
      </a:accent1>
      <a:accent2>
        <a:srgbClr val="F2A65A"/>
      </a:accent2>
      <a:accent3>
        <a:srgbClr val="5681B9"/>
      </a:accent3>
      <a:accent4>
        <a:srgbClr val="123D82"/>
      </a:accent4>
      <a:accent5>
        <a:srgbClr val="67788E"/>
      </a:accent5>
      <a:accent6>
        <a:srgbClr val="DCE5F0"/>
      </a:accent6>
      <a:hlink>
        <a:srgbClr val="F2A65A"/>
      </a:hlink>
      <a:folHlink>
        <a:srgbClr val="5681B9"/>
      </a:folHlink>
    </a:clrScheme>
    <a:fontScheme name="xjtu_learning_committe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jtu_learning_committe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2026-10-12T12:24:00Z</dcterms:created>
  <dcterms:modified xsi:type="dcterms:W3CDTF">2026-10-12T12:24:00Z</dcterms:modified>
  <cp:category/>
  <cp:contentStatus/>
</cp:coreProperties>
</file>