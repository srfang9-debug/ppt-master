
<file path=[Content_Types].xml><?xml version="1.0" encoding="utf-8"?>
<ns0:Types xmlns:ns0="http://schemas.openxmlformats.org/package/2006/content-types">
  <ns0:Default Extension="emf" ContentType="image/x-emf"/>
  <ns0:Default Extension="jpeg" ContentType="image/jpeg"/>
  <ns0:Default Extension="jp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  <ns0:Override PartName="/ppt/tags/tag2_tf1.xml" ContentType="application/vnd.openxmlformats-officedocument.presentationml.tags+xml"/>
  <ns0:Override PartName="/ppt/tags/tag8_tf1.xml" ContentType="application/vnd.openxmlformats-officedocument.presentationml.tags+xml"/>
  <ns0:Override PartName="/ppt/tags/tag9_tf1.xml" ContentType="application/vnd.openxmlformats-officedocument.presentationml.tags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>
  <p:sldMasterIdLst>
    <p:sldMasterId id="2147483648" r:id="rId1"/>
  </p:sldMasterIdLst>
  <p:sldIdLst>
    <p:sldId id="256" r:id="rId35"/>
    <p:sldId id="257" r:id="rId36"/>
    <p:sldId id="258" r:id="rId37"/>
    <p:sldId id="259" r:id="rId38"/>
    <p:sldId id="260" r:id="rId39"/>
    <p:sldId id="261" r:id="rId40"/>
    <p:sldId id="262" r:id="rId41"/>
    <p:sldId id="263" r:id="rId42"/>
    <p:sldId id="264" r:id="rId43"/>
    <p:sldId id="265" r:id="rId44"/>
    <p:sldId id="266" r:id="rId45"/>
    <p:sldId id="267" r:id="rId46"/>
    <p:sldId id="268" r:id="rId47"/>
    <p:sldId id="269" r:id="rId48"/>
    <p:sldId id="270" r:id="rId49"/>
    <p:sldId id="271" r:id="rId50"/>
    <p:sldId id="272" r:id="rId51"/>
    <p:sldId id="273" r:id="rId52"/>
    <p:sldId id="274" r:id="rId53"/>
    <p:sldId id="275" r:id="rId54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9E4C"/>
    <a:srgbClr val="E2F0D9"/>
    <a:srgbClr val="F1F8EC"/>
    <a:srgbClr val="015529"/>
    <a:srgbClr val="548235"/>
    <a:srgbClr val="014723"/>
    <a:srgbClr val="D8E6E7"/>
    <a:srgbClr val="299D80"/>
    <a:srgbClr val="129473"/>
    <a:srgbClr val="2762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42" autoAdjust="0"/>
    <p:restoredTop sz="94660"/>
  </p:normalViewPr>
  <p:slideViewPr>
    <p:cSldViewPr snapToGrid="0">
      <p:cViewPr>
        <p:scale>
          <a:sx n="50" d="100"/>
          <a:sy n="50" d="100"/>
        </p:scale>
        <p:origin x="636" y="1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30" Type="http://schemas.openxmlformats.org/officeDocument/2006/relationships/tags" Target="tags/tag1.xml" /><Relationship Id="rId31" Type="http://schemas.openxmlformats.org/officeDocument/2006/relationships/presProps" Target="presProps.xml" /><Relationship Id="rId32" Type="http://schemas.openxmlformats.org/officeDocument/2006/relationships/viewProps" Target="viewProps.xml" /><Relationship Id="rId33" Type="http://schemas.openxmlformats.org/officeDocument/2006/relationships/theme" Target="theme/theme1.xml" /><Relationship Id="rId34" Type="http://schemas.openxmlformats.org/officeDocument/2006/relationships/tableStyles" Target="tableStyles.xml" /><Relationship Id="rId35" Type="http://schemas.openxmlformats.org/officeDocument/2006/relationships/slide" Target="slides/slide1.xml" /><Relationship Id="rId36" Type="http://schemas.openxmlformats.org/officeDocument/2006/relationships/slide" Target="slides/slide2.xml" /><Relationship Id="rId37" Type="http://schemas.openxmlformats.org/officeDocument/2006/relationships/slide" Target="slides/slide3.xml" /><Relationship Id="rId38" Type="http://schemas.openxmlformats.org/officeDocument/2006/relationships/slide" Target="slides/slide4.xml" /><Relationship Id="rId39" Type="http://schemas.openxmlformats.org/officeDocument/2006/relationships/slide" Target="slides/slide5.xml" /><Relationship Id="rId40" Type="http://schemas.openxmlformats.org/officeDocument/2006/relationships/slide" Target="slides/slide6.xml" /><Relationship Id="rId41" Type="http://schemas.openxmlformats.org/officeDocument/2006/relationships/slide" Target="slides/slide7.xml" /><Relationship Id="rId42" Type="http://schemas.openxmlformats.org/officeDocument/2006/relationships/slide" Target="slides/slide8.xml" /><Relationship Id="rId43" Type="http://schemas.openxmlformats.org/officeDocument/2006/relationships/slide" Target="slides/slide9.xml" /><Relationship Id="rId44" Type="http://schemas.openxmlformats.org/officeDocument/2006/relationships/slide" Target="slides/slide10.xml" /><Relationship Id="rId45" Type="http://schemas.openxmlformats.org/officeDocument/2006/relationships/slide" Target="slides/slide11.xml" /><Relationship Id="rId46" Type="http://schemas.openxmlformats.org/officeDocument/2006/relationships/slide" Target="slides/slide12.xml" /><Relationship Id="rId47" Type="http://schemas.openxmlformats.org/officeDocument/2006/relationships/slide" Target="slides/slide13.xml" /><Relationship Id="rId48" Type="http://schemas.openxmlformats.org/officeDocument/2006/relationships/slide" Target="slides/slide14.xml" /><Relationship Id="rId49" Type="http://schemas.openxmlformats.org/officeDocument/2006/relationships/slide" Target="slides/slide15.xml" /><Relationship Id="rId50" Type="http://schemas.openxmlformats.org/officeDocument/2006/relationships/slide" Target="slides/slide16.xml" /><Relationship Id="rId51" Type="http://schemas.openxmlformats.org/officeDocument/2006/relationships/slide" Target="slides/slide17.xml" /><Relationship Id="rId52" Type="http://schemas.openxmlformats.org/officeDocument/2006/relationships/slide" Target="slides/slide18.xml" /><Relationship Id="rId53" Type="http://schemas.openxmlformats.org/officeDocument/2006/relationships/slide" Target="slides/slide19.xml" /><Relationship Id="rId54" Type="http://schemas.openxmlformats.org/officeDocument/2006/relationships/slide" Target="slides/slide20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89C00-3007-445F-903C-C55D6E6A648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tags" Target="../tags/tag2_tf1.xml" /><Relationship Id="rId2" Type="http://schemas.openxmlformats.org/officeDocument/2006/relationships/slideLayout" Target="../slideLayouts/slideLayout1.xml" /><Relationship Id="rId7" Type="http://schemas.openxmlformats.org/officeDocument/2006/relationships/image" Target="../media/image_2c220d463a5bdd3a.jpg" /><Relationship Id="rId3" Type="http://schemas.openxmlformats.org/officeDocument/2006/relationships/image" Target="../media/image_97483a6ff2b9a604.png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_97483a6ff2b9a604.png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5" Type="http://schemas.openxmlformats.org/officeDocument/2006/relationships/image" Target="../media/image_97483a6ff2b9a604.png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_97483a6ff2b9a604.png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tags" Target="../tags/tag8_tf1.xml" /><Relationship Id="rId2" Type="http://schemas.openxmlformats.org/officeDocument/2006/relationships/slideLayout" Target="../slideLayouts/slideLayout4.xml" /><Relationship Id="rId5" Type="http://schemas.openxmlformats.org/officeDocument/2006/relationships/image" Target="../media/image_97483a6ff2b9a604.png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5" Type="http://schemas.openxmlformats.org/officeDocument/2006/relationships/image" Target="../media/image_97483a6ff2b9a604.png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tags" Target="../tags/tag9_tf1.xml" /><Relationship Id="rId2" Type="http://schemas.openxmlformats.org/officeDocument/2006/relationships/slideLayout" Target="../slideLayouts/slideLayout4.xml" /><Relationship Id="rId5" Type="http://schemas.openxmlformats.org/officeDocument/2006/relationships/image" Target="../media/image_97483a6ff2b9a604.png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_97483a6ff2b9a604.png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_97483a6ff2b9a604.png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_97483a6ff2b9a604.png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_97483a6ff2b9a604.png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5" Type="http://schemas.openxmlformats.org/officeDocument/2006/relationships/image" Target="../media/image_97483a6ff2b9a604.png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_97483a6ff2b9a604.png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_97483a6ff2b9a604.png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_97483a6ff2b9a604.png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5" Type="http://schemas.openxmlformats.org/officeDocument/2006/relationships/image" Target="../media/image_97483a6ff2b9a604.png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5" Type="http://schemas.openxmlformats.org/officeDocument/2006/relationships/image" Target="../media/image_97483a6ff2b9a604.png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_97483a6ff2b9a604.png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_97483a6ff2b9a604.png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_c8b92857cbdc7939.jpg" /><Relationship Id="rId3" Type="http://schemas.openxmlformats.org/officeDocument/2006/relationships/image" Target="../media/image_97483a6ff2b9a604.png" /></Relationships>
</file>

<file path=ppt/slides/slide1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248C4086-F3BC-FFB6-CA0C-58DA79DA2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-436912" y="-1728406"/>
            <a:ext cx="12895612" cy="8837294"/>
            <a:chOff x="-436912" y="-1728406"/>
            <a:chExt cx="12895612" cy="8837294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37814" y="-593217"/>
              <a:ext cx="12229814" cy="7643622"/>
            </a:xfrm>
            <a:prstGeom prst="rect">
              <a:avLst/>
            </a:prstGeom>
          </p:spPr>
        </p:pic>
        <p:sp>
          <p:nvSpPr>
            <p:cNvPr id="25" name="淘宝-想搞设计PPT(倒卖必究)-25"/>
            <p:cNvSpPr/>
            <p:nvPr/>
          </p:nvSpPr>
          <p:spPr>
            <a:xfrm>
              <a:off x="-436912" y="4983670"/>
              <a:ext cx="12895612" cy="212521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淘宝-想搞设计PPT(倒卖必究)-26"/>
            <p:cNvSpPr/>
            <p:nvPr/>
          </p:nvSpPr>
          <p:spPr>
            <a:xfrm>
              <a:off x="-250888" y="-1728406"/>
              <a:ext cx="12442888" cy="3825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4" name="淘宝-想搞设计PPT(倒卖必究)-24"/>
          <p:cNvSpPr/>
          <p:nvPr/>
        </p:nvSpPr>
        <p:spPr>
          <a:xfrm>
            <a:off x="-250888" y="2101024"/>
            <a:ext cx="12656058" cy="2879979"/>
          </a:xfrm>
          <a:prstGeom prst="rect">
            <a:avLst/>
          </a:prstGeom>
          <a:solidFill>
            <a:srgbClr val="113884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" name="淘宝-想搞设计PPT(倒卖必究)-16"/>
          <p:cNvSpPr/>
          <p:nvPr/>
        </p:nvSpPr>
        <p:spPr>
          <a:xfrm>
            <a:off x="3047238" y="5680996"/>
            <a:ext cx="2236470" cy="400145"/>
          </a:xfrm>
          <a:prstGeom prst="rect">
            <a:avLst/>
          </a:prstGeom>
          <a:noFill/>
          <a:ln>
            <a:noFill/>
          </a:ln>
        </p:spPr>
        <p:txBody>
          <a:bodyPr wrap="none" lIns="0" tIns="71122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依据所附文献综述</a:t>
            </a:r>
          </a:p>
        </p:txBody>
      </p:sp>
      <p:sp>
        <p:nvSpPr>
          <p:cNvPr id="17" name="淘宝-想搞设计PPT(倒卖必究)-17"/>
          <p:cNvSpPr/>
          <p:nvPr/>
        </p:nvSpPr>
        <p:spPr>
          <a:xfrm>
            <a:off x="6651784" y="5680996"/>
            <a:ext cx="2492978" cy="400145"/>
          </a:xfrm>
          <a:prstGeom prst="rect">
            <a:avLst/>
          </a:prstGeom>
          <a:noFill/>
          <a:ln>
            <a:noFill/>
          </a:ln>
        </p:spPr>
        <p:txBody>
          <a:bodyPr wrap="none" lIns="95" tIns="71122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2026年10月12日</a:t>
            </a:r>
          </a:p>
        </p:txBody>
      </p:sp>
      <p:sp>
        <p:nvSpPr>
          <p:cNvPr id="22" name="淘宝-想搞设计PPT(倒卖必究)-22"/>
          <p:cNvSpPr/>
          <p:nvPr/>
        </p:nvSpPr>
        <p:spPr>
          <a:xfrm>
            <a:off x="2667000" y="3974592"/>
            <a:ext cx="6667500" cy="461677"/>
          </a:xfrm>
          <a:prstGeom prst="rect">
            <a:avLst/>
          </a:prstGeom>
          <a:noFill/>
          <a:ln>
            <a:noFill/>
          </a:ln>
        </p:spPr>
        <p:txBody>
          <a:bodyPr wrap="none" lIns="0" tIns="83849" rIns="60388" bIns="0" anchor="t" anchorCtr="0">
            <a:no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需求现状与研究空白｜中英文文献综述</a:t>
            </a:r>
          </a:p>
        </p:txBody>
      </p:sp>
      <p:sp>
        <p:nvSpPr>
          <p:cNvPr id="11" name="淘宝-想搞设计PPT(倒卖必究)-11"/>
          <p:cNvSpPr/>
          <p:nvPr/>
        </p:nvSpPr>
        <p:spPr>
          <a:xfrm>
            <a:off x="1333500" y="2095500"/>
            <a:ext cx="9525000" cy="1524000"/>
          </a:xfrm>
          <a:prstGeom prst="rect">
            <a:avLst/>
          </a:prstGeom>
          <a:noFill/>
          <a:ln>
            <a:noFill/>
          </a:ln>
        </p:spPr>
        <p:txBody>
          <a:bodyPr wrap="none" lIns="0" tIns="260985" rIns="0" bIns="0" anchor="t" anchorCtr="0">
            <a:noAutofit/>
          </a:bodyPr>
          <a:lstStyle/>
          <a:p>
            <a:pPr algn="ctr">
              <a:lnSpc>
                <a:spcPts val="6720"/>
              </a:lnSpc>
            </a:pPr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园区光伏预测</a:t>
            </a:r>
            <a:br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应服务真实运行决策</a:t>
            </a:r>
          </a:p>
        </p:txBody>
      </p:sp>
      <p:grpSp>
        <p:nvGrpSpPr>
          <p:cNvPr id="8" name="Picture 27"/>
          <p:cNvGrpSpPr/>
          <p:nvPr/>
        </p:nvGrpSpPr>
        <p:grpSpPr>
          <a:xfrm>
            <a:off x="4019740" y="374237"/>
            <a:ext cx="4152519" cy="1273969"/>
            <a:chOff x="4019740" y="374237"/>
            <a:chExt cx="4152519" cy="1273969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19740" y="374237"/>
              <a:ext cx="4152519" cy="1273969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val="255661681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淘宝-想搞设计PPT(倒卖必究)-26"/>
          <p:cNvSpPr/>
          <p:nvPr/>
        </p:nvSpPr>
        <p:spPr>
          <a:xfrm>
            <a:off x="695325" y="2680240"/>
            <a:ext cx="10801350" cy="3780949"/>
          </a:xfrm>
          <a:prstGeom prst="rect">
            <a:avLst/>
          </a:prstGeom>
          <a:gradFill>
            <a:gsLst>
              <a:gs pos="0">
                <a:srgbClr val="12469E">
                  <a:lumMod val="23000"/>
                  <a:lumOff val="77000"/>
                  <a:alpha val="42000"/>
                </a:srgbClr>
              </a:gs>
              <a:gs pos="100000">
                <a:srgbClr val="12469E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 rot="0" spcFirstLastPara="0" vert="horz" wrap="square" lIns="90000" tIns="46800" rIns="90000" bIns="46800" numCol="1" spcCol="0" rtlCol="0" fromWordArt="0" anchor="t" anchorCtr="0" forceAA="0" compatLnSpc="1">
            <a:normAutofit/>
          </a:bodyPr>
          <a:lstStyle/>
          <a:p>
            <a:pPr marL="171450" marR="0" lvl="0" indent="-1714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27965" algn="l"/>
              </a:tabLst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淘宝-想搞设计PPT(倒卖必究)-23"/>
          <p:cNvSpPr/>
          <p:nvPr/>
        </p:nvSpPr>
        <p:spPr>
          <a:xfrm>
            <a:off x="0" y="0"/>
            <a:ext cx="12192000" cy="79200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55600" dist="190500" dir="5400000" algn="ctr" rotWithShape="0">
              <a:srgbClr val="000000">
                <a:alpha val="825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淘宝-想搞设计PPT(倒卖必究)-19"/>
          <p:cNvSpPr/>
          <p:nvPr>
            <p:ph type="dt" idx="4294967295" sz="half"/>
          </p:nvPr>
        </p:nvSpPr>
        <p:spPr>
          <a:xfrm>
            <a:off x="838200" y="6464332"/>
            <a:ext cx="2743200" cy="3650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淘宝-想搞设计PPT(倒卖必究)-18"/>
          <p:cNvSpPr/>
          <p:nvPr>
            <p:ph type="ftr" idx="4294967295" sz="quarter"/>
          </p:nvPr>
        </p:nvSpPr>
        <p:spPr>
          <a:xfrm>
            <a:off x="4038600" y="6464332"/>
            <a:ext cx="4114800" cy="3650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淘宝-想搞设计PPT(倒卖必究)-14"/>
          <p:cNvSpPr/>
          <p:nvPr>
            <p:ph type="sldNum" idx="4294967295" sz="quarter"/>
          </p:nvPr>
        </p:nvSpPr>
        <p:spPr>
          <a:xfrm>
            <a:off x="9366218" y="6464332"/>
            <a:ext cx="27432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106331" rIns="91440" bIns="0" anchor="t" anchorCtr="0">
            <a:noAutofit/>
          </a:bodyPr>
          <a:lstStyle/>
          <a:p>
            <a:pPr algn="r"/>
            <a:r>
              <a:rPr lang="zh-CN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淘宝-想搞设计PPT(倒卖必究)-13"/>
          <p:cNvSpPr/>
          <p:nvPr/>
        </p:nvSpPr>
        <p:spPr>
          <a:xfrm>
            <a:off x="344519" y="1046893"/>
            <a:ext cx="11144250" cy="514350"/>
          </a:xfrm>
          <a:prstGeom prst="rect">
            <a:avLst/>
          </a:prstGeom>
          <a:noFill/>
          <a:ln>
            <a:noFill/>
          </a:ln>
        </p:spPr>
        <p:txBody>
          <a:bodyPr wrap="none" lIns="91440" tIns="42653" rIns="0" bIns="0" anchor="t" anchorCtr="0">
            <a:no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最优预测时距取决于园区用途</a:t>
            </a:r>
          </a:p>
        </p:txBody>
      </p:sp>
      <p:cxnSp>
        <p:nvCxnSpPr>
          <p:cNvPr id="12" name="淘宝-想搞设计PPT(倒卖必究)-12"/>
          <p:cNvCxnSpPr/>
          <p:nvPr/>
        </p:nvCxnSpPr>
        <p:spPr>
          <a:xfrm>
            <a:off x="425768" y="1508474"/>
            <a:ext cx="1836039" cy="0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3" name="淘宝-想搞设计PPT(倒卖必究)-3"/>
          <p:cNvSpPr/>
          <p:nvPr/>
        </p:nvSpPr>
        <p:spPr>
          <a:xfrm>
            <a:off x="2898743" y="0"/>
            <a:ext cx="1656017" cy="792004"/>
          </a:xfrm>
          <a:prstGeom prst="rect">
            <a:avLst/>
          </a:prstGeom>
          <a:solidFill>
            <a:srgbClr val="113884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淘宝-想搞设计PPT(倒卖必究)-4"/>
          <p:cNvCxnSpPr/>
          <p:nvPr/>
        </p:nvCxnSpPr>
        <p:spPr>
          <a:xfrm>
            <a:off x="6330506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5" name="淘宝-想搞设计PPT(倒卖必究)-5"/>
          <p:cNvCxnSpPr/>
          <p:nvPr/>
        </p:nvCxnSpPr>
        <p:spPr>
          <a:xfrm>
            <a:off x="8066246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6" name="淘宝-想搞设计PPT(倒卖必究)-6"/>
          <p:cNvCxnSpPr/>
          <p:nvPr/>
        </p:nvCxnSpPr>
        <p:spPr>
          <a:xfrm>
            <a:off x="9802082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7" name="淘宝-想搞设计PPT(倒卖必究)-7"/>
          <p:cNvSpPr/>
          <p:nvPr/>
        </p:nvSpPr>
        <p:spPr>
          <a:xfrm>
            <a:off x="3147155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需求边界</a:t>
            </a:r>
          </a:p>
        </p:txBody>
      </p:sp>
      <p:sp>
        <p:nvSpPr>
          <p:cNvPr id="8" name="淘宝-想搞设计PPT(倒卖必究)-8"/>
          <p:cNvSpPr/>
          <p:nvPr/>
        </p:nvSpPr>
        <p:spPr>
          <a:xfrm>
            <a:off x="4882896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研究现状</a:t>
            </a:r>
          </a:p>
        </p:txBody>
      </p:sp>
      <p:sp>
        <p:nvSpPr>
          <p:cNvPr id="9" name="淘宝-想搞设计PPT(倒卖必究)-9"/>
          <p:cNvSpPr/>
          <p:nvPr/>
        </p:nvSpPr>
        <p:spPr>
          <a:xfrm>
            <a:off x="6375082" y="211360"/>
            <a:ext cx="1646587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评价方法</a:t>
            </a:r>
          </a:p>
        </p:txBody>
      </p:sp>
      <p:sp>
        <p:nvSpPr>
          <p:cNvPr id="10" name="淘宝-想搞设计PPT(倒卖必究)-10"/>
          <p:cNvSpPr/>
          <p:nvPr/>
        </p:nvSpPr>
        <p:spPr>
          <a:xfrm>
            <a:off x="8354473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研究空白</a:t>
            </a:r>
          </a:p>
        </p:txBody>
      </p:sp>
      <p:sp>
        <p:nvSpPr>
          <p:cNvPr id="11" name="淘宝-想搞设计PPT(倒卖必究)-11"/>
          <p:cNvSpPr/>
          <p:nvPr/>
        </p:nvSpPr>
        <p:spPr>
          <a:xfrm>
            <a:off x="10090309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研究主线</a:t>
            </a:r>
          </a:p>
        </p:txBody>
      </p:sp>
      <p:sp>
        <p:nvSpPr>
          <p:cNvPr id="16" name="淘宝-想搞设计PPT(倒卖必究)-16"/>
          <p:cNvSpPr/>
          <p:nvPr/>
        </p:nvSpPr>
        <p:spPr>
          <a:xfrm>
            <a:off x="695325" y="1965579"/>
            <a:ext cx="10801350" cy="719995"/>
          </a:xfrm>
          <a:prstGeom prst="rect">
            <a:avLst/>
          </a:prstGeom>
          <a:solidFill>
            <a:srgbClr val="113884"/>
          </a:solidFill>
          <a:ln w="12700" cap="flat">
            <a:solidFill>
              <a:srgbClr val="113884"/>
            </a:solidFill>
          </a:ln>
        </p:spPr>
        <p:txBody>
          <a:bodyPr wrap="none" lIns="0" tIns="197457" rIns="0" bIns="0" anchor="t" anchorCtr="0">
            <a:no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用途决定时间窗口</a:t>
            </a:r>
          </a:p>
        </p:txBody>
      </p:sp>
      <p:sp>
        <p:nvSpPr>
          <p:cNvPr id="17" name="淘宝-想搞设计PPT(倒卖必究)-17"/>
          <p:cNvSpPr/>
          <p:nvPr/>
        </p:nvSpPr>
        <p:spPr>
          <a:xfrm>
            <a:off x="1043369" y="2955036"/>
            <a:ext cx="10105263" cy="2118550"/>
          </a:xfrm>
          <a:prstGeom prst="rect">
            <a:avLst/>
          </a:prstGeom>
          <a:noFill/>
          <a:ln>
            <a:noFill/>
          </a:ln>
        </p:spPr>
        <p:txBody>
          <a:bodyPr wrap="none" lIns="91440" tIns="58439" rIns="0" bIns="0" anchor="t" anchorCtr="0">
            <a:noAutofit/>
          </a:bodyPr>
          <a:lstStyle/>
          <a:p>
            <a:pPr algn="l">
              <a:lnSpc>
                <a:spcPts val="3120"/>
              </a:lnSpc>
            </a:pPr>
            <a: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储能调节、可移负荷与日前购电，需要不同的提前量。</a:t>
            </a:r>
            <a:b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</a:br>
            <a: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预测必须在决策截止前发布，并覆盖设备响应后的运行窗口。</a:t>
            </a:r>
            <a:b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</a:br>
            <a: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日前长窗口安排计划，日内短窗口滚动修正。</a:t>
            </a:r>
            <a:b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</a:br>
            <a: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标准分类提供基准，具体园区仍需本地验证。</a:t>
            </a:r>
          </a:p>
        </p:txBody>
      </p:sp>
      <p:grpSp>
        <p:nvGrpSpPr>
          <p:cNvPr id="31" name="Picture 26"/>
          <p:cNvGrpSpPr/>
          <p:nvPr/>
        </p:nvGrpSpPr>
        <p:grpSpPr>
          <a:xfrm>
            <a:off x="356044" y="158210"/>
            <a:ext cx="2011870" cy="617220"/>
            <a:chOff x="356044" y="158210"/>
            <a:chExt cx="2011870" cy="617220"/>
          </a:xfrm>
        </p:grpSpPr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6044" y="158210"/>
              <a:ext cx="2011870" cy="617220"/>
            </a:xfrm>
            <a:prstGeom prst="rect">
              <a:avLst/>
            </a:prstGeom>
          </p:spPr>
        </p:pic>
      </p:grpSp>
      <p:grpSp>
        <p:nvGrpSpPr>
          <p:cNvPr id="33" name="source-citation"/>
          <p:cNvGrpSpPr/>
          <p:nvPr/>
        </p:nvGrpSpPr>
        <p:grpSpPr>
          <a:xfrm>
            <a:off x="422529" y="6315075"/>
            <a:ext cx="3305099" cy="234696"/>
            <a:chOff x="422529" y="6315075"/>
            <a:chExt cx="3305099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422529" y="6315075"/>
              <a:ext cx="33050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依据原文 [1–3,9,14] · 文献编号与Word一致</a:t>
              </a:r>
            </a:p>
          </p:txBody>
        </p:sp>
      </p:grpSp>
    </p:spTree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淘宝-想搞设计PPT(倒卖必究)-13"/>
          <p:cNvSpPr/>
          <p:nvPr/>
        </p:nvSpPr>
        <p:spPr>
          <a:xfrm>
            <a:off x="0" y="0"/>
            <a:ext cx="12192000" cy="79200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55600" dist="190500" dir="5400000" algn="ctr" rotWithShape="0">
              <a:srgbClr val="000000">
                <a:alpha val="825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cxnSp>
        <p:nvCxnSpPr>
          <p:cNvPr id="12" name="淘宝-想搞设计PPT(倒卖必究)-12"/>
          <p:cNvCxnSpPr/>
          <p:nvPr/>
        </p:nvCxnSpPr>
        <p:spPr>
          <a:xfrm>
            <a:off x="6521768" y="4937474"/>
            <a:ext cx="1836039" cy="0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3" name="淘宝-想搞设计PPT(倒卖必究)-3"/>
          <p:cNvCxnSpPr/>
          <p:nvPr/>
        </p:nvCxnSpPr>
        <p:spPr>
          <a:xfrm>
            <a:off x="4594670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4" name="淘宝-想搞设计PPT(倒卖必究)-4"/>
          <p:cNvCxnSpPr/>
          <p:nvPr/>
        </p:nvCxnSpPr>
        <p:spPr>
          <a:xfrm>
            <a:off x="9802082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5" name="淘宝-想搞设计PPT(倒卖必究)-5"/>
          <p:cNvSpPr/>
          <p:nvPr/>
        </p:nvSpPr>
        <p:spPr>
          <a:xfrm>
            <a:off x="3147155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需求边界</a:t>
            </a:r>
          </a:p>
        </p:txBody>
      </p:sp>
      <p:sp>
        <p:nvSpPr>
          <p:cNvPr id="6" name="淘宝-想搞设计PPT(倒卖必究)-6"/>
          <p:cNvSpPr/>
          <p:nvPr/>
        </p:nvSpPr>
        <p:spPr>
          <a:xfrm>
            <a:off x="8354473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研究空白</a:t>
            </a:r>
          </a:p>
        </p:txBody>
      </p:sp>
      <p:sp>
        <p:nvSpPr>
          <p:cNvPr id="7" name="淘宝-想搞设计PPT(倒卖必究)-7"/>
          <p:cNvSpPr/>
          <p:nvPr/>
        </p:nvSpPr>
        <p:spPr>
          <a:xfrm>
            <a:off x="10090309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研究主线</a:t>
            </a:r>
          </a:p>
        </p:txBody>
      </p:sp>
      <p:sp>
        <p:nvSpPr>
          <p:cNvPr id="8" name="淘宝-想搞设计PPT(倒卖必究)-8"/>
          <p:cNvSpPr/>
          <p:nvPr/>
        </p:nvSpPr>
        <p:spPr>
          <a:xfrm>
            <a:off x="2898743" y="0"/>
            <a:ext cx="1656017" cy="792004"/>
          </a:xfrm>
          <a:prstGeom prst="rect">
            <a:avLst/>
          </a:prstGeom>
          <a:solidFill>
            <a:srgbClr val="113884"/>
          </a:solidFill>
          <a:ln>
            <a:noFill/>
          </a:ln>
        </p:spPr>
      </p:sp>
      <p:sp>
        <p:nvSpPr>
          <p:cNvPr id="9" name="淘宝-想搞设计PPT(倒卖必究)-9"/>
          <p:cNvSpPr/>
          <p:nvPr/>
        </p:nvSpPr>
        <p:spPr>
          <a:xfrm>
            <a:off x="4882896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研究现状</a:t>
            </a:r>
          </a:p>
        </p:txBody>
      </p:sp>
      <p:cxnSp>
        <p:nvCxnSpPr>
          <p:cNvPr id="10" name="淘宝-想搞设计PPT(倒卖必究)-10"/>
          <p:cNvCxnSpPr/>
          <p:nvPr/>
        </p:nvCxnSpPr>
        <p:spPr>
          <a:xfrm>
            <a:off x="2858929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11" name="淘宝-想搞设计PPT(倒卖必究)-11"/>
          <p:cNvSpPr/>
          <p:nvPr/>
        </p:nvSpPr>
        <p:spPr>
          <a:xfrm>
            <a:off x="6375082" y="211360"/>
            <a:ext cx="1646587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评价方法</a:t>
            </a:r>
          </a:p>
        </p:txBody>
      </p:sp>
      <p:sp>
        <p:nvSpPr>
          <p:cNvPr id="39" name="淘宝-想搞设计PPT(倒卖必究)-39"/>
          <p:cNvSpPr/>
          <p:nvPr/>
        </p:nvSpPr>
        <p:spPr>
          <a:xfrm>
            <a:off x="2730722" y="2060067"/>
            <a:ext cx="8765953" cy="971931"/>
          </a:xfrm>
          <a:custGeom>
            <a:avLst/>
            <a:gdLst/>
            <a:ahLst/>
            <a:cxnLst/>
            <a:rect l="l" t="t" r="r" b="b"/>
            <a:pathLst>
              <a:path w="8765953" h="971931">
                <a:moveTo>
                  <a:pt x="269653" y="0"/>
                </a:moveTo>
                <a:lnTo>
                  <a:pt x="2704528" y="0"/>
                </a:lnTo>
                <a:lnTo>
                  <a:pt x="8623840" y="0"/>
                </a:lnTo>
                <a:lnTo>
                  <a:pt x="8765953" y="0"/>
                </a:lnTo>
                <a:lnTo>
                  <a:pt x="8765953" y="971931"/>
                </a:lnTo>
                <a:lnTo>
                  <a:pt x="8354187" y="971931"/>
                </a:lnTo>
                <a:lnTo>
                  <a:pt x="2704528" y="971931"/>
                </a:lnTo>
                <a:lnTo>
                  <a:pt x="0" y="971931"/>
                </a:lnTo>
                <a:close/>
              </a:path>
            </a:pathLst>
          </a:custGeom>
          <a:noFill/>
          <a:ln w="9525">
            <a:solidFill>
              <a:srgbClr val="BFBFBF"/>
            </a:solidFill>
          </a:ln>
        </p:spPr>
        <p:txBody>
          <a:bodyPr wrap="none" lIns="548640" tIns="346774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区分交流侧可用功率、实发功率与并网点净负荷。</a:t>
            </a:r>
          </a:p>
        </p:txBody>
      </p:sp>
      <p:sp>
        <p:nvSpPr>
          <p:cNvPr id="40" name="淘宝-想搞设计PPT(倒卖必究)-40"/>
          <p:cNvSpPr/>
          <p:nvPr/>
        </p:nvSpPr>
        <p:spPr>
          <a:xfrm>
            <a:off x="403765" y="2060067"/>
            <a:ext cx="2369248" cy="971931"/>
          </a:xfrm>
          <a:custGeom>
            <a:avLst/>
            <a:gdLst/>
            <a:ahLst/>
            <a:cxnLst/>
            <a:rect l="l" t="t" r="r" b="b"/>
            <a:pathLst>
              <a:path w="2369248" h="971931">
                <a:moveTo>
                  <a:pt x="0" y="0"/>
                </a:moveTo>
                <a:lnTo>
                  <a:pt x="650272" y="0"/>
                </a:lnTo>
                <a:lnTo>
                  <a:pt x="1967579" y="0"/>
                </a:lnTo>
                <a:lnTo>
                  <a:pt x="2369248" y="0"/>
                </a:lnTo>
                <a:lnTo>
                  <a:pt x="2120741" y="971931"/>
                </a:lnTo>
                <a:lnTo>
                  <a:pt x="1967579" y="971931"/>
                </a:lnTo>
                <a:lnTo>
                  <a:pt x="401669" y="971931"/>
                </a:lnTo>
                <a:lnTo>
                  <a:pt x="0" y="971931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wrap="none" lIns="0" tIns="348806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功率口径</a:t>
            </a:r>
          </a:p>
        </p:txBody>
      </p:sp>
      <p:sp>
        <p:nvSpPr>
          <p:cNvPr id="41" name="淘宝-想搞设计PPT(倒卖必究)-41"/>
          <p:cNvSpPr/>
          <p:nvPr/>
        </p:nvSpPr>
        <p:spPr>
          <a:xfrm>
            <a:off x="2433352" y="3250692"/>
            <a:ext cx="9063323" cy="971931"/>
          </a:xfrm>
          <a:custGeom>
            <a:avLst/>
            <a:gdLst/>
            <a:ahLst/>
            <a:cxnLst/>
            <a:rect l="l" t="t" r="r" b="b"/>
            <a:pathLst>
              <a:path w="9063323" h="971931">
                <a:moveTo>
                  <a:pt x="278797" y="0"/>
                </a:moveTo>
                <a:lnTo>
                  <a:pt x="2796254" y="0"/>
                </a:lnTo>
                <a:lnTo>
                  <a:pt x="8916352" y="0"/>
                </a:lnTo>
                <a:lnTo>
                  <a:pt x="9063323" y="0"/>
                </a:lnTo>
                <a:lnTo>
                  <a:pt x="9063323" y="971931"/>
                </a:lnTo>
                <a:lnTo>
                  <a:pt x="8637556" y="971931"/>
                </a:lnTo>
                <a:lnTo>
                  <a:pt x="2796254" y="971931"/>
                </a:lnTo>
                <a:lnTo>
                  <a:pt x="0" y="971931"/>
                </a:lnTo>
                <a:close/>
              </a:path>
            </a:pathLst>
          </a:custGeom>
          <a:noFill/>
          <a:ln w="9525">
            <a:solidFill>
              <a:srgbClr val="113884"/>
            </a:solidFill>
          </a:ln>
        </p:spPr>
        <p:txBody>
          <a:bodyPr wrap="none" lIns="548640" tIns="346774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明确测点、交流容量、时间戳与时区；净负荷另需负荷预测。</a:t>
            </a:r>
          </a:p>
        </p:txBody>
      </p:sp>
      <p:sp>
        <p:nvSpPr>
          <p:cNvPr id="42" name="淘宝-想搞设计PPT(倒卖必究)-42"/>
          <p:cNvSpPr/>
          <p:nvPr/>
        </p:nvSpPr>
        <p:spPr>
          <a:xfrm>
            <a:off x="403765" y="3250692"/>
            <a:ext cx="2058829" cy="971931"/>
          </a:xfrm>
          <a:custGeom>
            <a:avLst/>
            <a:gdLst/>
            <a:ahLst/>
            <a:cxnLst/>
            <a:rect l="l" t="t" r="r" b="b"/>
            <a:pathLst>
              <a:path w="2058829" h="971931">
                <a:moveTo>
                  <a:pt x="0" y="0"/>
                </a:moveTo>
                <a:lnTo>
                  <a:pt x="565023" y="0"/>
                </a:lnTo>
                <a:lnTo>
                  <a:pt x="1709833" y="0"/>
                </a:lnTo>
                <a:lnTo>
                  <a:pt x="2058829" y="0"/>
                </a:lnTo>
                <a:lnTo>
                  <a:pt x="1842897" y="971931"/>
                </a:lnTo>
                <a:lnTo>
                  <a:pt x="1709833" y="971931"/>
                </a:lnTo>
                <a:lnTo>
                  <a:pt x="349091" y="971931"/>
                </a:lnTo>
                <a:lnTo>
                  <a:pt x="0" y="971931"/>
                </a:lnTo>
                <a:close/>
              </a:path>
            </a:pathLst>
          </a:custGeom>
          <a:solidFill>
            <a:srgbClr val="113884">
              <a:alpha val="90000"/>
            </a:srgbClr>
          </a:solidFill>
          <a:ln>
            <a:noFill/>
          </a:ln>
        </p:spPr>
        <p:txBody>
          <a:bodyPr wrap="none" lIns="95" tIns="348806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测量边界</a:t>
            </a:r>
          </a:p>
        </p:txBody>
      </p:sp>
      <p:sp>
        <p:nvSpPr>
          <p:cNvPr id="43" name="淘宝-想搞设计PPT(倒卖必究)-43"/>
          <p:cNvSpPr/>
          <p:nvPr/>
        </p:nvSpPr>
        <p:spPr>
          <a:xfrm>
            <a:off x="2111883" y="4441317"/>
            <a:ext cx="9384792" cy="971931"/>
          </a:xfrm>
          <a:custGeom>
            <a:avLst/>
            <a:gdLst/>
            <a:ahLst/>
            <a:cxnLst/>
            <a:rect l="l" t="t" r="r" b="b"/>
            <a:pathLst>
              <a:path w="9384792" h="971931">
                <a:moveTo>
                  <a:pt x="288703" y="0"/>
                </a:moveTo>
                <a:lnTo>
                  <a:pt x="2895410" y="0"/>
                </a:lnTo>
                <a:lnTo>
                  <a:pt x="9232678" y="0"/>
                </a:lnTo>
                <a:lnTo>
                  <a:pt x="9384792" y="0"/>
                </a:lnTo>
                <a:lnTo>
                  <a:pt x="9384792" y="971931"/>
                </a:lnTo>
                <a:lnTo>
                  <a:pt x="8943975" y="971931"/>
                </a:lnTo>
                <a:lnTo>
                  <a:pt x="2895410" y="971931"/>
                </a:lnTo>
                <a:lnTo>
                  <a:pt x="0" y="971931"/>
                </a:lnTo>
                <a:close/>
              </a:path>
            </a:pathLst>
          </a:custGeom>
          <a:noFill/>
          <a:ln w="9525">
            <a:solidFill>
              <a:srgbClr val="BFBFBF"/>
            </a:solidFill>
          </a:ln>
        </p:spPr>
        <p:txBody>
          <a:bodyPr wrap="none" lIns="548640" tIns="346774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标记限发、故障、检修与缺测，避免混淆气象和设备影响。</a:t>
            </a:r>
          </a:p>
        </p:txBody>
      </p:sp>
      <p:sp>
        <p:nvSpPr>
          <p:cNvPr id="44" name="淘宝-想搞设计PPT(倒卖必究)-44"/>
          <p:cNvSpPr/>
          <p:nvPr/>
        </p:nvSpPr>
        <p:spPr>
          <a:xfrm>
            <a:off x="403765" y="4441317"/>
            <a:ext cx="1786033" cy="971931"/>
          </a:xfrm>
          <a:custGeom>
            <a:avLst/>
            <a:gdLst/>
            <a:ahLst/>
            <a:cxnLst/>
            <a:rect l="l" t="t" r="r" b="b"/>
            <a:pathLst>
              <a:path w="1786033" h="971931">
                <a:moveTo>
                  <a:pt x="0" y="0"/>
                </a:moveTo>
                <a:lnTo>
                  <a:pt x="490156" y="0"/>
                </a:lnTo>
                <a:lnTo>
                  <a:pt x="1483233" y="0"/>
                </a:lnTo>
                <a:lnTo>
                  <a:pt x="1786033" y="0"/>
                </a:lnTo>
                <a:lnTo>
                  <a:pt x="1598676" y="971931"/>
                </a:lnTo>
                <a:lnTo>
                  <a:pt x="1483233" y="971931"/>
                </a:lnTo>
                <a:lnTo>
                  <a:pt x="302800" y="971931"/>
                </a:lnTo>
                <a:lnTo>
                  <a:pt x="0" y="971931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wrap="none" lIns="95" tIns="348806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运行状态</a:t>
            </a:r>
          </a:p>
        </p:txBody>
      </p:sp>
      <p:grpSp>
        <p:nvGrpSpPr>
          <p:cNvPr id="25" name="Picture 44"/>
          <p:cNvGrpSpPr/>
          <p:nvPr/>
        </p:nvGrpSpPr>
        <p:grpSpPr>
          <a:xfrm>
            <a:off x="356044" y="158210"/>
            <a:ext cx="2011870" cy="617220"/>
            <a:chOff x="356044" y="158210"/>
            <a:chExt cx="2011870" cy="617220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6044" y="158210"/>
              <a:ext cx="2011870" cy="617220"/>
            </a:xfrm>
            <a:prstGeom prst="rect">
              <a:avLst/>
            </a:prstGeom>
          </p:spPr>
        </p:pic>
      </p:grpSp>
      <p:grpSp>
        <p:nvGrpSpPr>
          <p:cNvPr id="27" name="core-title"/>
          <p:cNvGrpSpPr/>
          <p:nvPr/>
        </p:nvGrpSpPr>
        <p:grpSpPr>
          <a:xfrm>
            <a:off x="416433" y="1098550"/>
            <a:ext cx="4547616" cy="469392"/>
            <a:chOff x="416433" y="1098550"/>
            <a:chExt cx="4547616" cy="469392"/>
          </a:xfrm>
        </p:grpSpPr>
        <p:sp>
          <p:nvSpPr>
            <p:cNvPr id="26" name="TextBox 26"/>
            <p:cNvSpPr txBox="1"/>
            <p:nvPr/>
          </p:nvSpPr>
          <p:spPr>
            <a:xfrm>
              <a:off x="416433" y="1098550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13884"/>
                  </a:solidFill>
                  <a:latin typeface="Arial"/>
                  <a:ea typeface="Microsoft YaHei"/>
                  <a:cs typeface="Arial"/>
                </a:rPr>
                <a:t>预测对象与测量边界必须先明确</a:t>
              </a:r>
            </a:p>
          </p:txBody>
        </p:sp>
      </p:grpSp>
      <p:grpSp>
        <p:nvGrpSpPr>
          <p:cNvPr id="29" name="source-citation"/>
          <p:cNvGrpSpPr/>
          <p:nvPr/>
        </p:nvGrpSpPr>
        <p:grpSpPr>
          <a:xfrm>
            <a:off x="422529" y="6315075"/>
            <a:ext cx="3038551" cy="234696"/>
            <a:chOff x="422529" y="6315075"/>
            <a:chExt cx="3038551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422529" y="6315075"/>
              <a:ext cx="30385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依据原文 [1–4,9] · 文献编号与Word一致</a:t>
              </a:r>
            </a:p>
          </p:txBody>
        </p:sp>
      </p:grpSp>
    </p:spTree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淘宝-想搞设计PPT(倒卖必究)-29"/>
          <p:cNvSpPr/>
          <p:nvPr/>
        </p:nvSpPr>
        <p:spPr>
          <a:xfrm>
            <a:off x="0" y="0"/>
            <a:ext cx="12192000" cy="79200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55600" dist="190500" dir="5400000" algn="ctr" rotWithShape="0">
              <a:srgbClr val="000000">
                <a:alpha val="825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淘宝-想搞设计PPT(倒卖必究)-19"/>
          <p:cNvSpPr/>
          <p:nvPr>
            <p:ph type="dt" idx="4294967295" sz="half"/>
          </p:nvPr>
        </p:nvSpPr>
        <p:spPr>
          <a:xfrm>
            <a:off x="838200" y="6464332"/>
            <a:ext cx="2743200" cy="3650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淘宝-想搞设计PPT(倒卖必究)-17"/>
          <p:cNvSpPr/>
          <p:nvPr>
            <p:ph type="ftr" idx="4294967295" sz="quarter"/>
          </p:nvPr>
        </p:nvSpPr>
        <p:spPr>
          <a:xfrm>
            <a:off x="4038600" y="6464332"/>
            <a:ext cx="4114800" cy="3650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淘宝-想搞设计PPT(倒卖必究)-15"/>
          <p:cNvSpPr/>
          <p:nvPr>
            <p:ph type="sldNum" idx="4294967295" sz="quarter"/>
          </p:nvPr>
        </p:nvSpPr>
        <p:spPr>
          <a:xfrm>
            <a:off x="9366218" y="6464332"/>
            <a:ext cx="27432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106331" rIns="91440" bIns="0" anchor="t" anchorCtr="0">
            <a:noAutofit/>
          </a:bodyPr>
          <a:lstStyle/>
          <a:p>
            <a:pPr algn="r"/>
            <a:r>
              <a:rPr lang="zh-CN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淘宝-想搞设计PPT(倒卖必究)-13"/>
          <p:cNvSpPr/>
          <p:nvPr/>
        </p:nvSpPr>
        <p:spPr>
          <a:xfrm>
            <a:off x="344519" y="1046893"/>
            <a:ext cx="11144250" cy="514350"/>
          </a:xfrm>
          <a:prstGeom prst="rect">
            <a:avLst/>
          </a:prstGeom>
          <a:noFill/>
          <a:ln>
            <a:noFill/>
          </a:ln>
        </p:spPr>
        <p:txBody>
          <a:bodyPr wrap="none" lIns="91440" tIns="42653" rIns="0" bIns="0" anchor="t" anchorCtr="0">
            <a:no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四个时间参数应分别定义</a:t>
            </a:r>
          </a:p>
        </p:txBody>
      </p:sp>
      <p:cxnSp>
        <p:nvCxnSpPr>
          <p:cNvPr id="12" name="淘宝-想搞设计PPT(倒卖必究)-12"/>
          <p:cNvCxnSpPr/>
          <p:nvPr/>
        </p:nvCxnSpPr>
        <p:spPr>
          <a:xfrm>
            <a:off x="425768" y="1508474"/>
            <a:ext cx="1836039" cy="0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36" name="淘宝-想搞设计PPT(倒卖必究)-36"/>
          <p:cNvSpPr/>
          <p:nvPr/>
        </p:nvSpPr>
        <p:spPr>
          <a:xfrm flipH="1">
            <a:off x="442912" y="1803368"/>
            <a:ext cx="11306175" cy="450542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4799999" algn="tl" rotWithShape="0">
              <a:srgbClr val="000000">
                <a:alpha val="8250"/>
              </a:srgbClr>
            </a:outerShdw>
          </a:effectLst>
        </p:spPr>
        <p:txBody>
          <a:bodyPr rtlCol="0" anchor="ctr"/>
          <a:lstStyle/>
          <a:p>
            <a:pPr algn="ctr"/>
            <a:endParaRPr lang="en-US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淘宝-想搞设计PPT(倒卖必究)-21"/>
          <p:cNvSpPr/>
          <p:nvPr/>
        </p:nvSpPr>
        <p:spPr>
          <a:xfrm flipH="1">
            <a:off x="516065" y="1803368"/>
            <a:ext cx="11233118" cy="4505420"/>
          </a:xfrm>
          <a:prstGeom prst="roundRect">
            <a:avLst>
              <a:gd name="adj" fmla="val 3552"/>
            </a:avLst>
          </a:prstGeom>
          <a:noFill/>
          <a:ln>
            <a:noFill/>
          </a:ln>
          <a:effectLst>
            <a:outerShdw blurRad="355600" dist="190500" dir="5400000" algn="ctr" rotWithShape="0">
              <a:srgbClr val="000000">
                <a:alpha val="8250"/>
              </a:srgbClr>
            </a:outerShdw>
          </a:effectLst>
        </p:spPr>
        <p:txBody>
          <a:bodyPr rtlCol="0" anchor="ctr"/>
          <a:lstStyle/>
          <a:p>
            <a:pPr algn="ctr"/>
            <a:endParaRPr lang="en-US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" name="淘宝-想搞设计PPT(倒卖必究)-3"/>
          <p:cNvSpPr/>
          <p:nvPr/>
        </p:nvSpPr>
        <p:spPr>
          <a:xfrm>
            <a:off x="2898743" y="0"/>
            <a:ext cx="1656017" cy="792004"/>
          </a:xfrm>
          <a:prstGeom prst="rect">
            <a:avLst/>
          </a:prstGeom>
          <a:solidFill>
            <a:srgbClr val="113884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淘宝-想搞设计PPT(倒卖必究)-4"/>
          <p:cNvCxnSpPr/>
          <p:nvPr/>
        </p:nvCxnSpPr>
        <p:spPr>
          <a:xfrm>
            <a:off x="6330506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5" name="淘宝-想搞设计PPT(倒卖必究)-5"/>
          <p:cNvCxnSpPr/>
          <p:nvPr/>
        </p:nvCxnSpPr>
        <p:spPr>
          <a:xfrm>
            <a:off x="8066246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6" name="淘宝-想搞设计PPT(倒卖必究)-6"/>
          <p:cNvCxnSpPr/>
          <p:nvPr/>
        </p:nvCxnSpPr>
        <p:spPr>
          <a:xfrm>
            <a:off x="9802082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7" name="淘宝-想搞设计PPT(倒卖必究)-7"/>
          <p:cNvSpPr/>
          <p:nvPr/>
        </p:nvSpPr>
        <p:spPr>
          <a:xfrm>
            <a:off x="3147155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需求边界</a:t>
            </a:r>
          </a:p>
        </p:txBody>
      </p:sp>
      <p:sp>
        <p:nvSpPr>
          <p:cNvPr id="8" name="淘宝-想搞设计PPT(倒卖必究)-8"/>
          <p:cNvSpPr/>
          <p:nvPr/>
        </p:nvSpPr>
        <p:spPr>
          <a:xfrm>
            <a:off x="4882896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研究现状</a:t>
            </a:r>
          </a:p>
        </p:txBody>
      </p:sp>
      <p:sp>
        <p:nvSpPr>
          <p:cNvPr id="9" name="淘宝-想搞设计PPT(倒卖必究)-9"/>
          <p:cNvSpPr/>
          <p:nvPr/>
        </p:nvSpPr>
        <p:spPr>
          <a:xfrm>
            <a:off x="6375082" y="211360"/>
            <a:ext cx="1646587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评价方法</a:t>
            </a:r>
          </a:p>
        </p:txBody>
      </p:sp>
      <p:sp>
        <p:nvSpPr>
          <p:cNvPr id="10" name="淘宝-想搞设计PPT(倒卖必究)-10"/>
          <p:cNvSpPr/>
          <p:nvPr/>
        </p:nvSpPr>
        <p:spPr>
          <a:xfrm>
            <a:off x="8354473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研究空白</a:t>
            </a:r>
          </a:p>
        </p:txBody>
      </p:sp>
      <p:sp>
        <p:nvSpPr>
          <p:cNvPr id="11" name="淘宝-想搞设计PPT(倒卖必究)-11"/>
          <p:cNvSpPr/>
          <p:nvPr/>
        </p:nvSpPr>
        <p:spPr>
          <a:xfrm>
            <a:off x="10090309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研究主线</a:t>
            </a:r>
          </a:p>
        </p:txBody>
      </p:sp>
      <p:sp>
        <p:nvSpPr>
          <p:cNvPr id="14" name="淘宝-想搞设计PPT(倒卖必究)-14"/>
          <p:cNvSpPr/>
          <p:nvPr/>
        </p:nvSpPr>
        <p:spPr>
          <a:xfrm>
            <a:off x="983837" y="2219516"/>
            <a:ext cx="444246" cy="444246"/>
          </a:xfrm>
          <a:prstGeom prst="rect">
            <a:avLst/>
          </a:prstGeom>
          <a:solidFill>
            <a:srgbClr val="113884"/>
          </a:solidFill>
          <a:ln>
            <a:noFill/>
          </a:ln>
        </p:spPr>
        <p:txBody>
          <a:bodyPr wrap="none" lIns="0" tIns="112843" rIns="0" bIns="0" anchor="t" anchorCtr="0">
            <a:noAutofit/>
          </a:bodyPr>
          <a:lstStyle/>
          <a:p>
            <a:pPr algn="ctr"/>
            <a:r>
              <a:rPr lang="en-US" sz="15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6" name="淘宝-想搞设计PPT(倒卖必究)-16"/>
          <p:cNvSpPr/>
          <p:nvPr/>
        </p:nvSpPr>
        <p:spPr>
          <a:xfrm>
            <a:off x="983837" y="3184208"/>
            <a:ext cx="444246" cy="444246"/>
          </a:xfrm>
          <a:prstGeom prst="rect">
            <a:avLst/>
          </a:prstGeom>
          <a:solidFill>
            <a:srgbClr val="113884"/>
          </a:solidFill>
          <a:ln>
            <a:noFill/>
          </a:ln>
        </p:spPr>
        <p:txBody>
          <a:bodyPr wrap="none" lIns="0" tIns="112884" rIns="0" bIns="0" anchor="t" anchorCtr="0">
            <a:noAutofit/>
          </a:bodyPr>
          <a:lstStyle/>
          <a:p>
            <a:pPr algn="ctr"/>
            <a:r>
              <a:rPr lang="el-GR" sz="15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Δt</a:t>
            </a:r>
          </a:p>
        </p:txBody>
      </p:sp>
      <p:sp>
        <p:nvSpPr>
          <p:cNvPr id="18" name="淘宝-想搞设计PPT(倒卖必究)-18"/>
          <p:cNvSpPr/>
          <p:nvPr/>
        </p:nvSpPr>
        <p:spPr>
          <a:xfrm>
            <a:off x="983837" y="4148900"/>
            <a:ext cx="444246" cy="444246"/>
          </a:xfrm>
          <a:prstGeom prst="rect">
            <a:avLst/>
          </a:prstGeom>
          <a:solidFill>
            <a:srgbClr val="113884"/>
          </a:solidFill>
          <a:ln>
            <a:noFill/>
          </a:ln>
        </p:spPr>
        <p:txBody>
          <a:bodyPr wrap="none" lIns="0" tIns="112923" rIns="0" bIns="0" anchor="t" anchorCtr="0">
            <a:noAutofit/>
          </a:bodyPr>
          <a:lstStyle/>
          <a:p>
            <a:pPr algn="ctr"/>
            <a:r>
              <a:rPr lang="el-GR" sz="15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τ</a:t>
            </a:r>
          </a:p>
        </p:txBody>
      </p:sp>
      <p:sp>
        <p:nvSpPr>
          <p:cNvPr id="20" name="淘宝-想搞设计PPT(倒卖必究)-20"/>
          <p:cNvSpPr/>
          <p:nvPr/>
        </p:nvSpPr>
        <p:spPr>
          <a:xfrm>
            <a:off x="983837" y="5113687"/>
            <a:ext cx="444246" cy="444246"/>
          </a:xfrm>
          <a:prstGeom prst="rect">
            <a:avLst/>
          </a:prstGeom>
          <a:solidFill>
            <a:srgbClr val="113884"/>
          </a:solidFill>
          <a:ln>
            <a:noFill/>
          </a:ln>
        </p:spPr>
        <p:txBody>
          <a:bodyPr wrap="none" lIns="0" tIns="112869" rIns="0" bIns="0" anchor="t" anchorCtr="0">
            <a:noAutofit/>
          </a:bodyPr>
          <a:lstStyle/>
          <a:p>
            <a:pPr algn="ctr"/>
            <a:r>
              <a:rPr lang="en-US" sz="15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22" name="淘宝-想搞设计PPT(倒卖必究)-22"/>
          <p:cNvSpPr/>
          <p:nvPr/>
        </p:nvSpPr>
        <p:spPr>
          <a:xfrm>
            <a:off x="1602581" y="2303050"/>
            <a:ext cx="9720453" cy="276987"/>
          </a:xfrm>
          <a:prstGeom prst="rect">
            <a:avLst/>
          </a:prstGeom>
          <a:noFill/>
          <a:ln>
            <a:noFill/>
          </a:ln>
        </p:spPr>
        <p:txBody>
          <a:bodyPr wrap="none" lIns="0" tIns="-12670" rIns="0" bIns="0" anchor="t" anchorCtr="0">
            <a:noAutofit/>
          </a:bodyPr>
          <a:lstStyle/>
          <a:p>
            <a:pPr algn="l"/>
            <a:r>
              <a:rPr lang="zh-CN" sz="1950" b="1" dirty="0">
                <a:solidFill>
                  <a:srgbClr val="404040"/>
                </a:solidFill>
                <a:latin typeface="Arial"/>
                <a:ea typeface="Microsoft YaHei"/>
                <a:cs typeface="Arial"/>
              </a:rPr>
              <a:t>预测时距 H：从发布时刻向未来覆盖多久。</a:t>
            </a:r>
          </a:p>
        </p:txBody>
      </p:sp>
      <p:sp>
        <p:nvSpPr>
          <p:cNvPr id="23" name="淘宝-想搞设计PPT(倒卖必究)-23"/>
          <p:cNvSpPr/>
          <p:nvPr/>
        </p:nvSpPr>
        <p:spPr>
          <a:xfrm>
            <a:off x="1602581" y="3267837"/>
            <a:ext cx="9720453" cy="276987"/>
          </a:xfrm>
          <a:prstGeom prst="rect">
            <a:avLst/>
          </a:prstGeom>
          <a:noFill/>
          <a:ln>
            <a:noFill/>
          </a:ln>
        </p:spPr>
        <p:txBody>
          <a:bodyPr wrap="none" lIns="0" tIns="-12725" rIns="0" bIns="0" anchor="t" anchorCtr="0">
            <a:noAutofit/>
          </a:bodyPr>
          <a:lstStyle/>
          <a:p>
            <a:pPr algn="l"/>
            <a:r>
              <a:rPr lang="zh-CN" sz="1950" b="1" dirty="0">
                <a:solidFill>
                  <a:srgbClr val="404040"/>
                </a:solidFill>
                <a:latin typeface="Arial"/>
                <a:ea typeface="Microsoft YaHei"/>
                <a:cs typeface="Arial"/>
              </a:rPr>
              <a:t>输出间隔 Δt：相邻预测点之间的时间长度。</a:t>
            </a:r>
          </a:p>
        </p:txBody>
      </p:sp>
      <p:sp>
        <p:nvSpPr>
          <p:cNvPr id="24" name="淘宝-想搞设计PPT(倒卖必究)-24"/>
          <p:cNvSpPr/>
          <p:nvPr/>
        </p:nvSpPr>
        <p:spPr>
          <a:xfrm>
            <a:off x="1602581" y="4232529"/>
            <a:ext cx="9720453" cy="276987"/>
          </a:xfrm>
          <a:prstGeom prst="rect">
            <a:avLst/>
          </a:prstGeom>
          <a:noFill/>
          <a:ln>
            <a:noFill/>
          </a:ln>
        </p:spPr>
        <p:txBody>
          <a:bodyPr wrap="none" lIns="0" tIns="-12685" rIns="0" bIns="0" anchor="t" anchorCtr="0">
            <a:noAutofit/>
          </a:bodyPr>
          <a:lstStyle/>
          <a:p>
            <a:pPr algn="l"/>
            <a:r>
              <a:rPr lang="zh-CN" sz="1950" b="1" dirty="0">
                <a:solidFill>
                  <a:srgbClr val="404040"/>
                </a:solidFill>
                <a:latin typeface="Arial"/>
                <a:ea typeface="Microsoft YaHei"/>
                <a:cs typeface="Arial"/>
              </a:rPr>
              <a:t>更新频率 τ：系统多久重新生成一次预测。</a:t>
            </a:r>
          </a:p>
        </p:txBody>
      </p:sp>
      <p:sp>
        <p:nvSpPr>
          <p:cNvPr id="25" name="淘宝-想搞设计PPT(倒卖必究)-25"/>
          <p:cNvSpPr/>
          <p:nvPr/>
        </p:nvSpPr>
        <p:spPr>
          <a:xfrm>
            <a:off x="1602581" y="5197316"/>
            <a:ext cx="9720453" cy="276987"/>
          </a:xfrm>
          <a:prstGeom prst="rect">
            <a:avLst/>
          </a:prstGeom>
          <a:noFill/>
          <a:ln>
            <a:noFill/>
          </a:ln>
        </p:spPr>
        <p:txBody>
          <a:bodyPr wrap="none" lIns="0" tIns="-12740" rIns="0" bIns="0" anchor="t" anchorCtr="0">
            <a:noAutofit/>
          </a:bodyPr>
          <a:lstStyle/>
          <a:p>
            <a:pPr algn="l"/>
            <a:r>
              <a:rPr lang="zh-CN" sz="1950" b="1" dirty="0">
                <a:solidFill>
                  <a:srgbClr val="404040"/>
                </a:solidFill>
                <a:latin typeface="Arial"/>
                <a:ea typeface="Microsoft YaHei"/>
                <a:cs typeface="Arial"/>
              </a:rPr>
              <a:t>历史窗口 L：模型使用过去多久的输入数据。</a:t>
            </a:r>
          </a:p>
        </p:txBody>
      </p:sp>
      <p:grpSp>
        <p:nvGrpSpPr>
          <p:cNvPr id="44" name="Picture 36"/>
          <p:cNvGrpSpPr/>
          <p:nvPr/>
        </p:nvGrpSpPr>
        <p:grpSpPr>
          <a:xfrm>
            <a:off x="356044" y="158210"/>
            <a:ext cx="2011870" cy="617220"/>
            <a:chOff x="356044" y="158210"/>
            <a:chExt cx="2011870" cy="617220"/>
          </a:xfrm>
        </p:grpSpPr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6044" y="158210"/>
              <a:ext cx="2011870" cy="617220"/>
            </a:xfrm>
            <a:prstGeom prst="rect">
              <a:avLst/>
            </a:prstGeom>
          </p:spPr>
        </p:pic>
      </p:grpSp>
      <p:grpSp>
        <p:nvGrpSpPr>
          <p:cNvPr id="46" name="source-citation"/>
          <p:cNvGrpSpPr/>
          <p:nvPr/>
        </p:nvGrpSpPr>
        <p:grpSpPr>
          <a:xfrm>
            <a:off x="422529" y="6315075"/>
            <a:ext cx="2850452" cy="234696"/>
            <a:chOff x="422529" y="6315075"/>
            <a:chExt cx="2850452" cy="234696"/>
          </a:xfrm>
        </p:grpSpPr>
        <p:sp>
          <p:nvSpPr>
            <p:cNvPr id="45" name="TextBox 45"/>
            <p:cNvSpPr txBox="1"/>
            <p:nvPr/>
          </p:nvSpPr>
          <p:spPr>
            <a:xfrm>
              <a:off x="422529" y="6315075"/>
              <a:ext cx="28504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依据Word §3.2 · 文献编号与Word一致</a:t>
              </a:r>
            </a:p>
          </p:txBody>
        </p:sp>
      </p:grpSp>
    </p:spTree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淘宝-想搞设计PPT(倒卖必究)-23"/>
          <p:cNvSpPr/>
          <p:nvPr/>
        </p:nvSpPr>
        <p:spPr>
          <a:xfrm>
            <a:off x="0" y="0"/>
            <a:ext cx="12192000" cy="79200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55600" dist="190500" dir="5400000" algn="ctr" rotWithShape="0">
              <a:srgbClr val="000000">
                <a:alpha val="825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淘宝-想搞设计PPT(倒卖必究)-19"/>
          <p:cNvSpPr/>
          <p:nvPr>
            <p:ph type="dt" idx="4294967295" sz="half"/>
          </p:nvPr>
        </p:nvSpPr>
        <p:spPr>
          <a:xfrm>
            <a:off x="838200" y="6464332"/>
            <a:ext cx="2743200" cy="3650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淘宝-想搞设计PPT(倒卖必究)-18"/>
          <p:cNvSpPr/>
          <p:nvPr>
            <p:ph type="ftr" idx="4294967295" sz="quarter"/>
          </p:nvPr>
        </p:nvSpPr>
        <p:spPr>
          <a:xfrm>
            <a:off x="4038600" y="6464332"/>
            <a:ext cx="4114800" cy="3650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淘宝-想搞设计PPT(倒卖必究)-17"/>
          <p:cNvSpPr/>
          <p:nvPr>
            <p:ph type="sldNum" idx="4294967295" sz="quarter"/>
          </p:nvPr>
        </p:nvSpPr>
        <p:spPr>
          <a:xfrm>
            <a:off x="9366218" y="6464332"/>
            <a:ext cx="27432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106331" rIns="91440" bIns="0" anchor="t" anchorCtr="0">
            <a:noAutofit/>
          </a:bodyPr>
          <a:lstStyle/>
          <a:p>
            <a:pPr algn="r"/>
            <a:r>
              <a:rPr lang="zh-CN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淘宝-想搞设计PPT(倒卖必究)-16"/>
          <p:cNvSpPr/>
          <p:nvPr/>
        </p:nvSpPr>
        <p:spPr>
          <a:xfrm>
            <a:off x="344519" y="1046893"/>
            <a:ext cx="11144250" cy="514350"/>
          </a:xfrm>
          <a:prstGeom prst="rect">
            <a:avLst/>
          </a:prstGeom>
          <a:noFill/>
          <a:ln>
            <a:noFill/>
          </a:ln>
        </p:spPr>
        <p:txBody>
          <a:bodyPr wrap="none" lIns="91440" tIns="42653" rIns="0" bIns="0" anchor="t" anchorCtr="0">
            <a:no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15分钟采样下，72个未来点代表18小时</a:t>
            </a:r>
          </a:p>
        </p:txBody>
      </p:sp>
      <p:cxnSp>
        <p:nvCxnSpPr>
          <p:cNvPr id="13" name="淘宝-想搞设计PPT(倒卖必究)-13"/>
          <p:cNvCxnSpPr/>
          <p:nvPr/>
        </p:nvCxnSpPr>
        <p:spPr>
          <a:xfrm>
            <a:off x="425768" y="1508474"/>
            <a:ext cx="1836039" cy="0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3" name="淘宝-想搞设计PPT(倒卖必究)-3"/>
          <p:cNvCxnSpPr/>
          <p:nvPr/>
        </p:nvCxnSpPr>
        <p:spPr>
          <a:xfrm>
            <a:off x="4594670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4" name="淘宝-想搞设计PPT(倒卖必究)-4"/>
          <p:cNvSpPr/>
          <p:nvPr/>
        </p:nvSpPr>
        <p:spPr>
          <a:xfrm>
            <a:off x="3147155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需求边界</a:t>
            </a:r>
          </a:p>
        </p:txBody>
      </p:sp>
      <p:sp>
        <p:nvSpPr>
          <p:cNvPr id="5" name="淘宝-想搞设计PPT(倒卖必究)-5"/>
          <p:cNvSpPr/>
          <p:nvPr/>
        </p:nvSpPr>
        <p:spPr>
          <a:xfrm>
            <a:off x="10090309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研究主线</a:t>
            </a:r>
          </a:p>
        </p:txBody>
      </p:sp>
      <p:sp>
        <p:nvSpPr>
          <p:cNvPr id="6" name="淘宝-想搞设计PPT(倒卖必究)-6"/>
          <p:cNvSpPr/>
          <p:nvPr/>
        </p:nvSpPr>
        <p:spPr>
          <a:xfrm>
            <a:off x="2898743" y="0"/>
            <a:ext cx="1656017" cy="792004"/>
          </a:xfrm>
          <a:prstGeom prst="rect">
            <a:avLst/>
          </a:prstGeom>
          <a:solidFill>
            <a:srgbClr val="113884"/>
          </a:solidFill>
          <a:ln>
            <a:noFill/>
          </a:ln>
        </p:spPr>
      </p:sp>
      <p:sp>
        <p:nvSpPr>
          <p:cNvPr id="7" name="淘宝-想搞设计PPT(倒卖必究)-7"/>
          <p:cNvSpPr/>
          <p:nvPr/>
        </p:nvSpPr>
        <p:spPr>
          <a:xfrm>
            <a:off x="4882896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研究现状</a:t>
            </a:r>
          </a:p>
        </p:txBody>
      </p:sp>
      <p:cxnSp>
        <p:nvCxnSpPr>
          <p:cNvPr id="8" name="淘宝-想搞设计PPT(倒卖必究)-8"/>
          <p:cNvCxnSpPr/>
          <p:nvPr/>
        </p:nvCxnSpPr>
        <p:spPr>
          <a:xfrm>
            <a:off x="2858929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9" name="淘宝-想搞设计PPT(倒卖必究)-9"/>
          <p:cNvSpPr/>
          <p:nvPr/>
        </p:nvSpPr>
        <p:spPr>
          <a:xfrm>
            <a:off x="6375082" y="211360"/>
            <a:ext cx="1646587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评价方法</a:t>
            </a:r>
          </a:p>
        </p:txBody>
      </p:sp>
      <p:cxnSp>
        <p:nvCxnSpPr>
          <p:cNvPr id="10" name="淘宝-想搞设计PPT(倒卖必究)-10"/>
          <p:cNvCxnSpPr/>
          <p:nvPr/>
        </p:nvCxnSpPr>
        <p:spPr>
          <a:xfrm>
            <a:off x="6330506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11" name="淘宝-想搞设计PPT(倒卖必究)-11"/>
          <p:cNvSpPr/>
          <p:nvPr/>
        </p:nvSpPr>
        <p:spPr>
          <a:xfrm>
            <a:off x="8354473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研究空白</a:t>
            </a:r>
          </a:p>
        </p:txBody>
      </p:sp>
      <p:sp>
        <p:nvSpPr>
          <p:cNvPr id="14" name="淘宝-想搞设计PPT(倒卖必究)-14"/>
          <p:cNvSpPr/>
          <p:nvPr/>
        </p:nvSpPr>
        <p:spPr>
          <a:xfrm>
            <a:off x="407956" y="1988725"/>
            <a:ext cx="1800034" cy="4319968"/>
          </a:xfrm>
          <a:prstGeom prst="rect">
            <a:avLst/>
          </a:prstGeom>
          <a:solidFill>
            <a:srgbClr val="113884"/>
          </a:solidFill>
          <a:ln>
            <a:noFill/>
          </a:ln>
        </p:spPr>
        <p:txBody>
          <a:bodyPr wrap="none" lIns="0" tIns="1686036" rIns="0" bIns="0" anchor="t" anchorCtr="0">
            <a:noAutofit/>
          </a:bodyPr>
          <a:lstStyle/>
          <a:p>
            <a:pPr algn="ctr">
              <a:lnSpc>
                <a:spcPts val="3600"/>
              </a:lnSpc>
            </a:pPr>
            <a:r>
              <a:rPr lang="zh-CN" sz="22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点数 ×</a:t>
            </a:r>
            <a:br>
              <a:rPr lang="zh-CN" sz="22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</a:br>
            <a:r>
              <a:rPr lang="zh-CN" sz="22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15分钟</a:t>
            </a:r>
          </a:p>
        </p:txBody>
      </p:sp>
      <p:sp>
        <p:nvSpPr>
          <p:cNvPr id="15" name="淘宝-想搞设计PPT(倒卖必究)-15"/>
          <p:cNvSpPr/>
          <p:nvPr/>
        </p:nvSpPr>
        <p:spPr>
          <a:xfrm>
            <a:off x="2207990" y="1988725"/>
            <a:ext cx="9576054" cy="43199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0" dist="101600" dir="3000000" algn="tl" rotWithShape="0">
              <a:srgbClr val="000000">
                <a:alpha val="1125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spc="15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" name="Picture 25"/>
          <p:cNvGrpSpPr/>
          <p:nvPr/>
        </p:nvGrpSpPr>
        <p:grpSpPr>
          <a:xfrm>
            <a:off x="356044" y="158210"/>
            <a:ext cx="2011870" cy="617220"/>
            <a:chOff x="356044" y="158210"/>
            <a:chExt cx="2011870" cy="61722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6044" y="158210"/>
              <a:ext cx="2011870" cy="617220"/>
            </a:xfrm>
            <a:prstGeom prst="rect">
              <a:avLst/>
            </a:prstGeom>
          </p:spPr>
        </p:pic>
      </p:grpSp>
      <p:grpSp>
        <p:nvGrpSpPr>
          <p:cNvPr id="58" name="conversion-grid"/>
          <p:cNvGrpSpPr/>
          <p:nvPr/>
        </p:nvGrpSpPr>
        <p:grpSpPr>
          <a:xfrm>
            <a:off x="2667000" y="2095500"/>
            <a:ext cx="8763000" cy="3867150"/>
            <a:chOff x="2667000" y="2095500"/>
            <a:chExt cx="8763000" cy="3867150"/>
          </a:xfrm>
        </p:grpSpPr>
        <p:sp>
          <p:nvSpPr>
            <p:cNvPr id="30" name="Rectangle 30"/>
            <p:cNvSpPr/>
            <p:nvPr/>
          </p:nvSpPr>
          <p:spPr>
            <a:xfrm>
              <a:off x="2667000" y="2095500"/>
              <a:ext cx="3048000" cy="552450"/>
            </a:xfrm>
            <a:prstGeom prst="rect">
              <a:avLst/>
            </a:prstGeom>
            <a:solidFill>
              <a:srgbClr val="113884"/>
            </a:solidFill>
            <a:ln w="19050">
              <a:solidFill>
                <a:srgbClr val="FFFFF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791206" y="22415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数据窗口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715000" y="2095500"/>
              <a:ext cx="5715000" cy="552450"/>
            </a:xfrm>
            <a:prstGeom prst="rect">
              <a:avLst/>
            </a:prstGeom>
            <a:solidFill>
              <a:srgbClr val="113884"/>
            </a:solidFill>
            <a:ln w="19050">
              <a:solidFill>
                <a:srgbClr val="FFFFF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839206" y="22415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实际时长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667000" y="2647950"/>
              <a:ext cx="3048000" cy="552450"/>
            </a:xfrm>
            <a:prstGeom prst="rect">
              <a:avLst/>
            </a:prstGeom>
            <a:solidFill>
              <a:srgbClr val="EDF2FA"/>
            </a:solidFill>
            <a:ln w="19050">
              <a:solidFill>
                <a:srgbClr val="FFFFF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791206" y="2794000"/>
              <a:ext cx="10117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13884"/>
                  </a:solidFill>
                  <a:latin typeface="Arial"/>
                  <a:ea typeface="Microsoft YaHei"/>
                  <a:cs typeface="Arial"/>
                </a:rPr>
                <a:t>历史96点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715000" y="2647950"/>
              <a:ext cx="5715000" cy="552450"/>
            </a:xfrm>
            <a:prstGeom prst="rect">
              <a:avLst/>
            </a:prstGeom>
            <a:solidFill>
              <a:srgbClr val="EDF2FA"/>
            </a:solidFill>
            <a:ln w="19050">
              <a:solidFill>
                <a:srgbClr val="FFFFF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839206" y="2794000"/>
              <a:ext cx="12541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13884"/>
                  </a:solidFill>
                  <a:latin typeface="Arial"/>
                  <a:ea typeface="Microsoft YaHei"/>
                  <a:cs typeface="Arial"/>
                </a:rPr>
                <a:t>过去24小时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667000" y="3200400"/>
              <a:ext cx="3048000" cy="5524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FFF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791206" y="3346450"/>
              <a:ext cx="10117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13884"/>
                  </a:solidFill>
                  <a:latin typeface="Arial"/>
                  <a:ea typeface="Microsoft YaHei"/>
                  <a:cs typeface="Arial"/>
                </a:rPr>
                <a:t>未来16点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715000" y="3200400"/>
              <a:ext cx="5715000" cy="5524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FFF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839206" y="3346450"/>
              <a:ext cx="11208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13884"/>
                  </a:solidFill>
                  <a:latin typeface="Arial"/>
                  <a:ea typeface="Microsoft YaHei"/>
                  <a:cs typeface="Arial"/>
                </a:rPr>
                <a:t>未来4小时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667000" y="3752850"/>
              <a:ext cx="3048000" cy="552450"/>
            </a:xfrm>
            <a:prstGeom prst="rect">
              <a:avLst/>
            </a:prstGeom>
            <a:solidFill>
              <a:srgbClr val="EDF2FA"/>
            </a:solidFill>
            <a:ln w="19050">
              <a:solidFill>
                <a:srgbClr val="FFFFF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791206" y="3898900"/>
              <a:ext cx="10117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13884"/>
                  </a:solidFill>
                  <a:latin typeface="Arial"/>
                  <a:ea typeface="Microsoft YaHei"/>
                  <a:cs typeface="Arial"/>
                </a:rPr>
                <a:t>未来32点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715000" y="3752850"/>
              <a:ext cx="5715000" cy="552450"/>
            </a:xfrm>
            <a:prstGeom prst="rect">
              <a:avLst/>
            </a:prstGeom>
            <a:solidFill>
              <a:srgbClr val="EDF2FA"/>
            </a:solidFill>
            <a:ln w="19050">
              <a:solidFill>
                <a:srgbClr val="FFFFF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839206" y="3898900"/>
              <a:ext cx="11208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13884"/>
                  </a:solidFill>
                  <a:latin typeface="Arial"/>
                  <a:ea typeface="Microsoft YaHei"/>
                  <a:cs typeface="Arial"/>
                </a:rPr>
                <a:t>未来8小时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667000" y="4305300"/>
              <a:ext cx="3048000" cy="5524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FFF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791206" y="4451350"/>
              <a:ext cx="10117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13884"/>
                  </a:solidFill>
                  <a:latin typeface="Arial"/>
                  <a:ea typeface="Microsoft YaHei"/>
                  <a:cs typeface="Arial"/>
                </a:rPr>
                <a:t>未来48点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715000" y="4305300"/>
              <a:ext cx="5715000" cy="5524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FFFF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839206" y="4451350"/>
              <a:ext cx="12541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13884"/>
                  </a:solidFill>
                  <a:latin typeface="Arial"/>
                  <a:ea typeface="Microsoft YaHei"/>
                  <a:cs typeface="Arial"/>
                </a:rPr>
                <a:t>未来12小时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667000" y="4857750"/>
              <a:ext cx="3048000" cy="552450"/>
            </a:xfrm>
            <a:prstGeom prst="rect">
              <a:avLst/>
            </a:prstGeom>
            <a:solidFill>
              <a:srgbClr val="EDF2FA"/>
            </a:solidFill>
            <a:ln w="19050">
              <a:solidFill>
                <a:srgbClr val="FFFFFF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791206" y="5003800"/>
              <a:ext cx="10117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13884"/>
                  </a:solidFill>
                  <a:latin typeface="Arial"/>
                  <a:ea typeface="Microsoft YaHei"/>
                  <a:cs typeface="Arial"/>
                </a:rPr>
                <a:t>未来72点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715000" y="4857750"/>
              <a:ext cx="5715000" cy="552450"/>
            </a:xfrm>
            <a:prstGeom prst="rect">
              <a:avLst/>
            </a:prstGeom>
            <a:solidFill>
              <a:srgbClr val="EDF2FA"/>
            </a:solidFill>
            <a:ln w="19050">
              <a:solidFill>
                <a:srgbClr val="FFFFF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839206" y="5003800"/>
              <a:ext cx="12541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13884"/>
                  </a:solidFill>
                  <a:latin typeface="Arial"/>
                  <a:ea typeface="Microsoft YaHei"/>
                  <a:cs typeface="Arial"/>
                </a:rPr>
                <a:t>未来18小时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667000" y="5410200"/>
              <a:ext cx="3048000" cy="5524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FFFF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791206" y="5556250"/>
              <a:ext cx="10117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13884"/>
                  </a:solidFill>
                  <a:latin typeface="Arial"/>
                  <a:ea typeface="Microsoft YaHei"/>
                  <a:cs typeface="Arial"/>
                </a:rPr>
                <a:t>未来96点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715000" y="5410200"/>
              <a:ext cx="5715000" cy="5524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FFFF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839206" y="5556250"/>
              <a:ext cx="12541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13884"/>
                  </a:solidFill>
                  <a:latin typeface="Arial"/>
                  <a:ea typeface="Microsoft YaHei"/>
                  <a:cs typeface="Arial"/>
                </a:rPr>
                <a:t>未来24小时</a:t>
              </a:r>
            </a:p>
          </p:txBody>
        </p:sp>
      </p:grpSp>
      <p:grpSp>
        <p:nvGrpSpPr>
          <p:cNvPr id="60" name="source-citation"/>
          <p:cNvGrpSpPr/>
          <p:nvPr/>
        </p:nvGrpSpPr>
        <p:grpSpPr>
          <a:xfrm>
            <a:off x="422529" y="6315075"/>
            <a:ext cx="3210878" cy="234696"/>
            <a:chOff x="422529" y="6315075"/>
            <a:chExt cx="3210878" cy="234696"/>
          </a:xfrm>
        </p:grpSpPr>
        <p:sp>
          <p:nvSpPr>
            <p:cNvPr id="59" name="TextBox 59"/>
            <p:cNvSpPr txBox="1"/>
            <p:nvPr/>
          </p:nvSpPr>
          <p:spPr>
            <a:xfrm>
              <a:off x="422529" y="6315075"/>
              <a:ext cx="32108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依据Word §5.2–5.3 · 文献编号与Word一致</a:t>
              </a:r>
            </a:p>
          </p:txBody>
        </p:sp>
      </p:grpSp>
    </p:spTree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淘宝-想搞设计PPT(倒卖必究)-13"/>
          <p:cNvSpPr/>
          <p:nvPr/>
        </p:nvSpPr>
        <p:spPr>
          <a:xfrm>
            <a:off x="0" y="0"/>
            <a:ext cx="12192000" cy="79200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55600" dist="190500" dir="5400000" algn="ctr" rotWithShape="0">
              <a:srgbClr val="000000">
                <a:alpha val="825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cxnSp>
        <p:nvCxnSpPr>
          <p:cNvPr id="12" name="淘宝-想搞设计PPT(倒卖必究)-12"/>
          <p:cNvCxnSpPr/>
          <p:nvPr/>
        </p:nvCxnSpPr>
        <p:spPr>
          <a:xfrm>
            <a:off x="6521768" y="4937474"/>
            <a:ext cx="1836039" cy="0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3" name="淘宝-想搞设计PPT(倒卖必究)-3"/>
          <p:cNvCxnSpPr/>
          <p:nvPr/>
        </p:nvCxnSpPr>
        <p:spPr>
          <a:xfrm>
            <a:off x="4594670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4" name="淘宝-想搞设计PPT(倒卖必究)-4"/>
          <p:cNvCxnSpPr/>
          <p:nvPr/>
        </p:nvCxnSpPr>
        <p:spPr>
          <a:xfrm>
            <a:off x="9802082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5" name="淘宝-想搞设计PPT(倒卖必究)-5"/>
          <p:cNvSpPr/>
          <p:nvPr/>
        </p:nvSpPr>
        <p:spPr>
          <a:xfrm>
            <a:off x="3147155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需求边界</a:t>
            </a:r>
          </a:p>
        </p:txBody>
      </p:sp>
      <p:sp>
        <p:nvSpPr>
          <p:cNvPr id="6" name="淘宝-想搞设计PPT(倒卖必究)-6"/>
          <p:cNvSpPr/>
          <p:nvPr/>
        </p:nvSpPr>
        <p:spPr>
          <a:xfrm>
            <a:off x="8354473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研究空白</a:t>
            </a:r>
          </a:p>
        </p:txBody>
      </p:sp>
      <p:sp>
        <p:nvSpPr>
          <p:cNvPr id="7" name="淘宝-想搞设计PPT(倒卖必究)-7"/>
          <p:cNvSpPr/>
          <p:nvPr/>
        </p:nvSpPr>
        <p:spPr>
          <a:xfrm>
            <a:off x="10090309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研究主线</a:t>
            </a:r>
          </a:p>
        </p:txBody>
      </p:sp>
      <p:sp>
        <p:nvSpPr>
          <p:cNvPr id="8" name="淘宝-想搞设计PPT(倒卖必究)-8"/>
          <p:cNvSpPr/>
          <p:nvPr/>
        </p:nvSpPr>
        <p:spPr>
          <a:xfrm>
            <a:off x="2898743" y="0"/>
            <a:ext cx="1656017" cy="792004"/>
          </a:xfrm>
          <a:prstGeom prst="rect">
            <a:avLst/>
          </a:prstGeom>
          <a:solidFill>
            <a:srgbClr val="113884"/>
          </a:solidFill>
          <a:ln>
            <a:noFill/>
          </a:ln>
        </p:spPr>
      </p:sp>
      <p:sp>
        <p:nvSpPr>
          <p:cNvPr id="9" name="淘宝-想搞设计PPT(倒卖必究)-9"/>
          <p:cNvSpPr/>
          <p:nvPr/>
        </p:nvSpPr>
        <p:spPr>
          <a:xfrm>
            <a:off x="4882896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研究现状</a:t>
            </a:r>
          </a:p>
        </p:txBody>
      </p:sp>
      <p:cxnSp>
        <p:nvCxnSpPr>
          <p:cNvPr id="10" name="淘宝-想搞设计PPT(倒卖必究)-10"/>
          <p:cNvCxnSpPr/>
          <p:nvPr/>
        </p:nvCxnSpPr>
        <p:spPr>
          <a:xfrm>
            <a:off x="2858929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11" name="淘宝-想搞设计PPT(倒卖必究)-11"/>
          <p:cNvSpPr/>
          <p:nvPr/>
        </p:nvSpPr>
        <p:spPr>
          <a:xfrm>
            <a:off x="6375082" y="211360"/>
            <a:ext cx="1646587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评价方法</a:t>
            </a:r>
          </a:p>
        </p:txBody>
      </p:sp>
      <p:sp>
        <p:nvSpPr>
          <p:cNvPr id="39" name="淘宝-想搞设计PPT(倒卖必究)-39"/>
          <p:cNvSpPr/>
          <p:nvPr/>
        </p:nvSpPr>
        <p:spPr>
          <a:xfrm>
            <a:off x="2730722" y="2060067"/>
            <a:ext cx="8765953" cy="971931"/>
          </a:xfrm>
          <a:custGeom>
            <a:avLst/>
            <a:gdLst/>
            <a:ahLst/>
            <a:cxnLst/>
            <a:rect l="l" t="t" r="r" b="b"/>
            <a:pathLst>
              <a:path w="8765953" h="971931">
                <a:moveTo>
                  <a:pt x="269653" y="0"/>
                </a:moveTo>
                <a:lnTo>
                  <a:pt x="2704528" y="0"/>
                </a:lnTo>
                <a:lnTo>
                  <a:pt x="8623840" y="0"/>
                </a:lnTo>
                <a:lnTo>
                  <a:pt x="8765953" y="0"/>
                </a:lnTo>
                <a:lnTo>
                  <a:pt x="8765953" y="971931"/>
                </a:lnTo>
                <a:lnTo>
                  <a:pt x="8354187" y="971931"/>
                </a:lnTo>
                <a:lnTo>
                  <a:pt x="2704528" y="971931"/>
                </a:lnTo>
                <a:lnTo>
                  <a:pt x="0" y="971931"/>
                </a:lnTo>
                <a:close/>
              </a:path>
            </a:pathLst>
          </a:custGeom>
          <a:noFill/>
          <a:ln w="9525">
            <a:solidFill>
              <a:srgbClr val="BFBFBF"/>
            </a:solidFill>
          </a:ln>
        </p:spPr>
        <p:txBody>
          <a:bodyPr wrap="none" lIns="548640" tIns="346774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模型输出与真实功率的偏差，用 MAE、RMSE 等评价。</a:t>
            </a:r>
          </a:p>
        </p:txBody>
      </p:sp>
      <p:sp>
        <p:nvSpPr>
          <p:cNvPr id="40" name="淘宝-想搞设计PPT(倒卖必究)-40"/>
          <p:cNvSpPr/>
          <p:nvPr/>
        </p:nvSpPr>
        <p:spPr>
          <a:xfrm>
            <a:off x="403765" y="2060067"/>
            <a:ext cx="2369248" cy="971931"/>
          </a:xfrm>
          <a:custGeom>
            <a:avLst/>
            <a:gdLst/>
            <a:ahLst/>
            <a:cxnLst/>
            <a:rect l="l" t="t" r="r" b="b"/>
            <a:pathLst>
              <a:path w="2369248" h="971931">
                <a:moveTo>
                  <a:pt x="0" y="0"/>
                </a:moveTo>
                <a:lnTo>
                  <a:pt x="650272" y="0"/>
                </a:lnTo>
                <a:lnTo>
                  <a:pt x="1967579" y="0"/>
                </a:lnTo>
                <a:lnTo>
                  <a:pt x="2369248" y="0"/>
                </a:lnTo>
                <a:lnTo>
                  <a:pt x="2120741" y="971931"/>
                </a:lnTo>
                <a:lnTo>
                  <a:pt x="1967579" y="971931"/>
                </a:lnTo>
                <a:lnTo>
                  <a:pt x="401669" y="971931"/>
                </a:lnTo>
                <a:lnTo>
                  <a:pt x="0" y="971931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wrap="none" lIns="0" tIns="348806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准确性</a:t>
            </a:r>
          </a:p>
        </p:txBody>
      </p:sp>
      <p:sp>
        <p:nvSpPr>
          <p:cNvPr id="41" name="淘宝-想搞设计PPT(倒卖必究)-41"/>
          <p:cNvSpPr/>
          <p:nvPr/>
        </p:nvSpPr>
        <p:spPr>
          <a:xfrm>
            <a:off x="2433352" y="3250692"/>
            <a:ext cx="9063323" cy="971931"/>
          </a:xfrm>
          <a:custGeom>
            <a:avLst/>
            <a:gdLst/>
            <a:ahLst/>
            <a:cxnLst/>
            <a:rect l="l" t="t" r="r" b="b"/>
            <a:pathLst>
              <a:path w="9063323" h="971931">
                <a:moveTo>
                  <a:pt x="278797" y="0"/>
                </a:moveTo>
                <a:lnTo>
                  <a:pt x="2796254" y="0"/>
                </a:lnTo>
                <a:lnTo>
                  <a:pt x="8916352" y="0"/>
                </a:lnTo>
                <a:lnTo>
                  <a:pt x="9063323" y="0"/>
                </a:lnTo>
                <a:lnTo>
                  <a:pt x="9063323" y="971931"/>
                </a:lnTo>
                <a:lnTo>
                  <a:pt x="8637556" y="971931"/>
                </a:lnTo>
                <a:lnTo>
                  <a:pt x="2796254" y="971931"/>
                </a:lnTo>
                <a:lnTo>
                  <a:pt x="0" y="971931"/>
                </a:lnTo>
                <a:close/>
              </a:path>
            </a:pathLst>
          </a:custGeom>
          <a:noFill/>
          <a:ln w="9525">
            <a:solidFill>
              <a:srgbClr val="113884"/>
            </a:solidFill>
          </a:ln>
        </p:spPr>
        <p:txBody>
          <a:bodyPr wrap="none" lIns="548640" tIns="346774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模型使用某个输入信息的程度，受样本与输出目标影响。</a:t>
            </a:r>
          </a:p>
        </p:txBody>
      </p:sp>
      <p:sp>
        <p:nvSpPr>
          <p:cNvPr id="42" name="淘宝-想搞设计PPT(倒卖必究)-42"/>
          <p:cNvSpPr/>
          <p:nvPr/>
        </p:nvSpPr>
        <p:spPr>
          <a:xfrm>
            <a:off x="403765" y="3250692"/>
            <a:ext cx="2058829" cy="971931"/>
          </a:xfrm>
          <a:custGeom>
            <a:avLst/>
            <a:gdLst/>
            <a:ahLst/>
            <a:cxnLst/>
            <a:rect l="l" t="t" r="r" b="b"/>
            <a:pathLst>
              <a:path w="2058829" h="971931">
                <a:moveTo>
                  <a:pt x="0" y="0"/>
                </a:moveTo>
                <a:lnTo>
                  <a:pt x="565023" y="0"/>
                </a:lnTo>
                <a:lnTo>
                  <a:pt x="1709833" y="0"/>
                </a:lnTo>
                <a:lnTo>
                  <a:pt x="2058829" y="0"/>
                </a:lnTo>
                <a:lnTo>
                  <a:pt x="1842897" y="971931"/>
                </a:lnTo>
                <a:lnTo>
                  <a:pt x="1709833" y="971931"/>
                </a:lnTo>
                <a:lnTo>
                  <a:pt x="349091" y="971931"/>
                </a:lnTo>
                <a:lnTo>
                  <a:pt x="0" y="971931"/>
                </a:lnTo>
                <a:close/>
              </a:path>
            </a:pathLst>
          </a:custGeom>
          <a:solidFill>
            <a:srgbClr val="113884">
              <a:alpha val="90000"/>
            </a:srgbClr>
          </a:solidFill>
          <a:ln>
            <a:noFill/>
          </a:ln>
        </p:spPr>
        <p:txBody>
          <a:bodyPr wrap="none" lIns="95" tIns="348806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重要性</a:t>
            </a:r>
          </a:p>
        </p:txBody>
      </p:sp>
      <p:sp>
        <p:nvSpPr>
          <p:cNvPr id="43" name="淘宝-想搞设计PPT(倒卖必究)-43"/>
          <p:cNvSpPr/>
          <p:nvPr/>
        </p:nvSpPr>
        <p:spPr>
          <a:xfrm>
            <a:off x="2111883" y="4441317"/>
            <a:ext cx="9384792" cy="971931"/>
          </a:xfrm>
          <a:custGeom>
            <a:avLst/>
            <a:gdLst/>
            <a:ahLst/>
            <a:cxnLst/>
            <a:rect l="l" t="t" r="r" b="b"/>
            <a:pathLst>
              <a:path w="9384792" h="971931">
                <a:moveTo>
                  <a:pt x="288703" y="0"/>
                </a:moveTo>
                <a:lnTo>
                  <a:pt x="2895410" y="0"/>
                </a:lnTo>
                <a:lnTo>
                  <a:pt x="9232678" y="0"/>
                </a:lnTo>
                <a:lnTo>
                  <a:pt x="9384792" y="0"/>
                </a:lnTo>
                <a:lnTo>
                  <a:pt x="9384792" y="971931"/>
                </a:lnTo>
                <a:lnTo>
                  <a:pt x="8943975" y="971931"/>
                </a:lnTo>
                <a:lnTo>
                  <a:pt x="2895410" y="971931"/>
                </a:lnTo>
                <a:lnTo>
                  <a:pt x="0" y="971931"/>
                </a:lnTo>
                <a:close/>
              </a:path>
            </a:pathLst>
          </a:custGeom>
          <a:noFill/>
          <a:ln w="9525">
            <a:solidFill>
              <a:srgbClr val="BFBFBF"/>
            </a:solidFill>
          </a:ln>
        </p:spPr>
        <p:txBody>
          <a:bodyPr wrap="none" lIns="548640" tIns="346774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传感器或天气预报的误差；SHAP不能给出精度门槛。</a:t>
            </a:r>
          </a:p>
        </p:txBody>
      </p:sp>
      <p:sp>
        <p:nvSpPr>
          <p:cNvPr id="44" name="淘宝-想搞设计PPT(倒卖必究)-44"/>
          <p:cNvSpPr/>
          <p:nvPr/>
        </p:nvSpPr>
        <p:spPr>
          <a:xfrm>
            <a:off x="403765" y="4441317"/>
            <a:ext cx="1786033" cy="971931"/>
          </a:xfrm>
          <a:custGeom>
            <a:avLst/>
            <a:gdLst/>
            <a:ahLst/>
            <a:cxnLst/>
            <a:rect l="l" t="t" r="r" b="b"/>
            <a:pathLst>
              <a:path w="1786033" h="971931">
                <a:moveTo>
                  <a:pt x="0" y="0"/>
                </a:moveTo>
                <a:lnTo>
                  <a:pt x="490156" y="0"/>
                </a:lnTo>
                <a:lnTo>
                  <a:pt x="1483233" y="0"/>
                </a:lnTo>
                <a:lnTo>
                  <a:pt x="1786033" y="0"/>
                </a:lnTo>
                <a:lnTo>
                  <a:pt x="1598676" y="971931"/>
                </a:lnTo>
                <a:lnTo>
                  <a:pt x="1483233" y="971931"/>
                </a:lnTo>
                <a:lnTo>
                  <a:pt x="302800" y="971931"/>
                </a:lnTo>
                <a:lnTo>
                  <a:pt x="0" y="971931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wrap="none" lIns="95" tIns="348806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输入精度</a:t>
            </a:r>
          </a:p>
        </p:txBody>
      </p:sp>
      <p:grpSp>
        <p:nvGrpSpPr>
          <p:cNvPr id="25" name="Picture 44"/>
          <p:cNvGrpSpPr/>
          <p:nvPr/>
        </p:nvGrpSpPr>
        <p:grpSpPr>
          <a:xfrm>
            <a:off x="356044" y="158210"/>
            <a:ext cx="2011870" cy="617220"/>
            <a:chOff x="356044" y="158210"/>
            <a:chExt cx="2011870" cy="617220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6044" y="158210"/>
              <a:ext cx="2011870" cy="617220"/>
            </a:xfrm>
            <a:prstGeom prst="rect">
              <a:avLst/>
            </a:prstGeom>
          </p:spPr>
        </p:pic>
      </p:grpSp>
      <p:grpSp>
        <p:nvGrpSpPr>
          <p:cNvPr id="27" name="core-title"/>
          <p:cNvGrpSpPr/>
          <p:nvPr/>
        </p:nvGrpSpPr>
        <p:grpSpPr>
          <a:xfrm>
            <a:off x="416433" y="1098550"/>
            <a:ext cx="5516880" cy="469392"/>
            <a:chOff x="416433" y="1098550"/>
            <a:chExt cx="5516880" cy="469392"/>
          </a:xfrm>
        </p:grpSpPr>
        <p:sp>
          <p:nvSpPr>
            <p:cNvPr id="26" name="TextBox 26"/>
            <p:cNvSpPr txBox="1"/>
            <p:nvPr/>
          </p:nvSpPr>
          <p:spPr>
            <a:xfrm>
              <a:off x="416433" y="1098550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13884"/>
                  </a:solidFill>
                  <a:latin typeface="Arial"/>
                  <a:ea typeface="Microsoft YaHei"/>
                  <a:cs typeface="Arial"/>
                </a:rPr>
                <a:t>准确性、重要性与输入精度是不同问题</a:t>
              </a:r>
            </a:p>
          </p:txBody>
        </p:sp>
      </p:grpSp>
      <p:grpSp>
        <p:nvGrpSpPr>
          <p:cNvPr id="29" name="source-citation"/>
          <p:cNvGrpSpPr/>
          <p:nvPr/>
        </p:nvGrpSpPr>
        <p:grpSpPr>
          <a:xfrm>
            <a:off x="422529" y="6315075"/>
            <a:ext cx="2850452" cy="234696"/>
            <a:chOff x="422529" y="6315075"/>
            <a:chExt cx="2850452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422529" y="6315075"/>
              <a:ext cx="28504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依据Word §3.1 · 文献编号与Word一致</a:t>
              </a:r>
            </a:p>
          </p:txBody>
        </p:sp>
      </p:grpSp>
    </p:spTree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淘宝-想搞设计PPT(倒卖必究)-23"/>
          <p:cNvSpPr/>
          <p:nvPr/>
        </p:nvSpPr>
        <p:spPr>
          <a:xfrm>
            <a:off x="0" y="0"/>
            <a:ext cx="12192000" cy="79200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55600" dist="190500" dir="5400000" algn="ctr" rotWithShape="0">
              <a:srgbClr val="000000">
                <a:alpha val="825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淘宝-想搞设计PPT(倒卖必究)-19"/>
          <p:cNvSpPr/>
          <p:nvPr>
            <p:ph type="dt" idx="4294967295" sz="half"/>
          </p:nvPr>
        </p:nvSpPr>
        <p:spPr>
          <a:xfrm>
            <a:off x="838200" y="6464332"/>
            <a:ext cx="2743200" cy="3650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淘宝-想搞设计PPT(倒卖必究)-18"/>
          <p:cNvSpPr/>
          <p:nvPr>
            <p:ph type="ftr" idx="4294967295" sz="quarter"/>
          </p:nvPr>
        </p:nvSpPr>
        <p:spPr>
          <a:xfrm>
            <a:off x="4038600" y="6464332"/>
            <a:ext cx="4114800" cy="3650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淘宝-想搞设计PPT(倒卖必究)-17"/>
          <p:cNvSpPr/>
          <p:nvPr>
            <p:ph type="sldNum" idx="4294967295" sz="quarter"/>
          </p:nvPr>
        </p:nvSpPr>
        <p:spPr>
          <a:xfrm>
            <a:off x="9366218" y="6464332"/>
            <a:ext cx="27432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106331" rIns="91440" bIns="0" anchor="t" anchorCtr="0">
            <a:noAutofit/>
          </a:bodyPr>
          <a:lstStyle/>
          <a:p>
            <a:pPr algn="r"/>
            <a:r>
              <a:rPr lang="zh-CN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6" name="淘宝-想搞设计PPT(倒卖必究)-16"/>
          <p:cNvSpPr/>
          <p:nvPr/>
        </p:nvSpPr>
        <p:spPr>
          <a:xfrm>
            <a:off x="344519" y="1046893"/>
            <a:ext cx="11144250" cy="514350"/>
          </a:xfrm>
          <a:prstGeom prst="rect">
            <a:avLst/>
          </a:prstGeom>
          <a:noFill/>
          <a:ln>
            <a:noFill/>
          </a:ln>
        </p:spPr>
        <p:txBody>
          <a:bodyPr wrap="none" lIns="91440" tIns="42653" rIns="0" bIns="0" anchor="t" anchorCtr="0">
            <a:no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标准提供分类框架，园区参数仍需验证</a:t>
            </a:r>
          </a:p>
        </p:txBody>
      </p:sp>
      <p:cxnSp>
        <p:nvCxnSpPr>
          <p:cNvPr id="13" name="淘宝-想搞设计PPT(倒卖必究)-13"/>
          <p:cNvCxnSpPr/>
          <p:nvPr/>
        </p:nvCxnSpPr>
        <p:spPr>
          <a:xfrm>
            <a:off x="425768" y="1508474"/>
            <a:ext cx="1836039" cy="0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3" name="淘宝-想搞设计PPT(倒卖必究)-3"/>
          <p:cNvCxnSpPr/>
          <p:nvPr/>
        </p:nvCxnSpPr>
        <p:spPr>
          <a:xfrm>
            <a:off x="4594670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4" name="淘宝-想搞设计PPT(倒卖必究)-4"/>
          <p:cNvSpPr/>
          <p:nvPr/>
        </p:nvSpPr>
        <p:spPr>
          <a:xfrm>
            <a:off x="3147155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需求边界</a:t>
            </a:r>
          </a:p>
        </p:txBody>
      </p:sp>
      <p:sp>
        <p:nvSpPr>
          <p:cNvPr id="5" name="淘宝-想搞设计PPT(倒卖必究)-5"/>
          <p:cNvSpPr/>
          <p:nvPr/>
        </p:nvSpPr>
        <p:spPr>
          <a:xfrm>
            <a:off x="10090309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研究主线</a:t>
            </a:r>
          </a:p>
        </p:txBody>
      </p:sp>
      <p:sp>
        <p:nvSpPr>
          <p:cNvPr id="6" name="淘宝-想搞设计PPT(倒卖必究)-6"/>
          <p:cNvSpPr/>
          <p:nvPr/>
        </p:nvSpPr>
        <p:spPr>
          <a:xfrm>
            <a:off x="4634579" y="0"/>
            <a:ext cx="1656017" cy="792004"/>
          </a:xfrm>
          <a:prstGeom prst="rect">
            <a:avLst/>
          </a:prstGeom>
          <a:solidFill>
            <a:srgbClr val="113884"/>
          </a:solidFill>
          <a:ln>
            <a:noFill/>
          </a:ln>
        </p:spPr>
      </p:sp>
      <p:sp>
        <p:nvSpPr>
          <p:cNvPr id="7" name="淘宝-想搞设计PPT(倒卖必究)-7"/>
          <p:cNvSpPr/>
          <p:nvPr/>
        </p:nvSpPr>
        <p:spPr>
          <a:xfrm>
            <a:off x="4882896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研究现状</a:t>
            </a:r>
          </a:p>
        </p:txBody>
      </p:sp>
      <p:cxnSp>
        <p:nvCxnSpPr>
          <p:cNvPr id="8" name="淘宝-想搞设计PPT(倒卖必究)-8"/>
          <p:cNvCxnSpPr/>
          <p:nvPr/>
        </p:nvCxnSpPr>
        <p:spPr>
          <a:xfrm>
            <a:off x="2858929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9" name="淘宝-想搞设计PPT(倒卖必究)-9"/>
          <p:cNvSpPr/>
          <p:nvPr/>
        </p:nvSpPr>
        <p:spPr>
          <a:xfrm>
            <a:off x="6375082" y="211360"/>
            <a:ext cx="1646587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评价方法</a:t>
            </a:r>
          </a:p>
        </p:txBody>
      </p:sp>
      <p:cxnSp>
        <p:nvCxnSpPr>
          <p:cNvPr id="10" name="淘宝-想搞设计PPT(倒卖必究)-10"/>
          <p:cNvCxnSpPr/>
          <p:nvPr/>
        </p:nvCxnSpPr>
        <p:spPr>
          <a:xfrm>
            <a:off x="6330506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11" name="淘宝-想搞设计PPT(倒卖必究)-11"/>
          <p:cNvSpPr/>
          <p:nvPr/>
        </p:nvSpPr>
        <p:spPr>
          <a:xfrm>
            <a:off x="8354473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研究空白</a:t>
            </a:r>
          </a:p>
        </p:txBody>
      </p:sp>
      <p:sp>
        <p:nvSpPr>
          <p:cNvPr id="14" name="淘宝-想搞设计PPT(倒卖必究)-14"/>
          <p:cNvSpPr/>
          <p:nvPr/>
        </p:nvSpPr>
        <p:spPr>
          <a:xfrm>
            <a:off x="407956" y="1988725"/>
            <a:ext cx="1800034" cy="4319968"/>
          </a:xfrm>
          <a:prstGeom prst="rect">
            <a:avLst/>
          </a:prstGeom>
          <a:solidFill>
            <a:srgbClr val="113884"/>
          </a:solidFill>
          <a:ln>
            <a:noFill/>
          </a:ln>
        </p:spPr>
        <p:txBody>
          <a:bodyPr wrap="none" lIns="0" tIns="1686036" rIns="0" bIns="0" anchor="t" anchorCtr="0">
            <a:noAutofit/>
          </a:bodyPr>
          <a:lstStyle/>
          <a:p>
            <a:pPr algn="ctr">
              <a:lnSpc>
                <a:spcPts val="3600"/>
              </a:lnSpc>
            </a:pPr>
            <a:r>
              <a:rPr lang="zh-CN" sz="22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标准</a:t>
            </a:r>
            <a:br>
              <a:rPr lang="zh-CN" sz="22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</a:br>
            <a:r>
              <a:rPr lang="zh-CN" sz="22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最优时距</a:t>
            </a:r>
          </a:p>
        </p:txBody>
      </p:sp>
      <p:sp>
        <p:nvSpPr>
          <p:cNvPr id="15" name="淘宝-想搞设计PPT(倒卖必究)-15"/>
          <p:cNvSpPr/>
          <p:nvPr/>
        </p:nvSpPr>
        <p:spPr>
          <a:xfrm>
            <a:off x="2207990" y="1988725"/>
            <a:ext cx="9576054" cy="43199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0" dist="101600" dir="3000000" algn="tl" rotWithShape="0">
              <a:srgbClr val="000000">
                <a:alpha val="1125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spc="15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" name="Picture 24"/>
          <p:cNvGrpSpPr/>
          <p:nvPr/>
        </p:nvGrpSpPr>
        <p:grpSpPr>
          <a:xfrm>
            <a:off x="356044" y="158210"/>
            <a:ext cx="2011870" cy="617220"/>
            <a:chOff x="356044" y="158210"/>
            <a:chExt cx="2011870" cy="61722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6044" y="158210"/>
              <a:ext cx="2011870" cy="617220"/>
            </a:xfrm>
            <a:prstGeom prst="rect">
              <a:avLst/>
            </a:prstGeom>
          </p:spPr>
        </p:pic>
      </p:grpSp>
      <p:grpSp>
        <p:nvGrpSpPr>
          <p:cNvPr id="70" name="standards-grid"/>
          <p:cNvGrpSpPr/>
          <p:nvPr/>
        </p:nvGrpSpPr>
        <p:grpSpPr>
          <a:xfrm>
            <a:off x="2667000" y="2095500"/>
            <a:ext cx="8763000" cy="4095750"/>
            <a:chOff x="2667000" y="2095500"/>
            <a:chExt cx="8763000" cy="4095750"/>
          </a:xfrm>
        </p:grpSpPr>
        <p:sp>
          <p:nvSpPr>
            <p:cNvPr id="30" name="Rectangle 30"/>
            <p:cNvSpPr/>
            <p:nvPr/>
          </p:nvSpPr>
          <p:spPr>
            <a:xfrm>
              <a:off x="2667000" y="2095500"/>
              <a:ext cx="1095375" cy="819150"/>
            </a:xfrm>
            <a:prstGeom prst="rect">
              <a:avLst/>
            </a:prstGeom>
            <a:solidFill>
              <a:srgbClr val="113884"/>
            </a:solidFill>
            <a:ln w="19050">
              <a:solidFill>
                <a:srgbClr val="FFFFF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792349" y="2400300"/>
              <a:ext cx="4414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版本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762375" y="2095500"/>
              <a:ext cx="2000250" cy="819150"/>
            </a:xfrm>
            <a:prstGeom prst="rect">
              <a:avLst/>
            </a:prstGeom>
            <a:solidFill>
              <a:srgbClr val="113884"/>
            </a:solidFill>
            <a:ln w="19050">
              <a:solidFill>
                <a:srgbClr val="FFFFF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887724" y="2400300"/>
              <a:ext cx="4414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标准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62625" y="2095500"/>
              <a:ext cx="1714500" cy="819150"/>
            </a:xfrm>
            <a:prstGeom prst="rect">
              <a:avLst/>
            </a:prstGeom>
            <a:solidFill>
              <a:srgbClr val="113884"/>
            </a:solidFill>
            <a:ln w="19050">
              <a:solidFill>
                <a:srgbClr val="FFFFF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87974" y="2400300"/>
              <a:ext cx="6541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侧重点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477125" y="2095500"/>
              <a:ext cx="3952875" cy="819150"/>
            </a:xfrm>
            <a:prstGeom prst="rect">
              <a:avLst/>
            </a:prstGeom>
            <a:solidFill>
              <a:srgbClr val="113884"/>
            </a:solidFill>
            <a:ln w="19050">
              <a:solidFill>
                <a:srgbClr val="FFFFF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02474" y="240030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适用边界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667000" y="2914650"/>
              <a:ext cx="1095375" cy="819150"/>
            </a:xfrm>
            <a:prstGeom prst="rect">
              <a:avLst/>
            </a:prstGeom>
            <a:solidFill>
              <a:srgbClr val="EDF2FA"/>
            </a:solidFill>
            <a:ln w="19050">
              <a:solidFill>
                <a:srgbClr val="FFFFF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792349" y="3219450"/>
              <a:ext cx="48394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13884"/>
                  </a:solidFill>
                  <a:latin typeface="Arial"/>
                  <a:ea typeface="Arial"/>
                  <a:cs typeface="Arial"/>
                </a:rPr>
                <a:t>2024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762375" y="2914650"/>
              <a:ext cx="2000250" cy="819150"/>
            </a:xfrm>
            <a:prstGeom prst="rect">
              <a:avLst/>
            </a:prstGeom>
            <a:solidFill>
              <a:srgbClr val="EDF2FA"/>
            </a:solidFill>
            <a:ln w="19050">
              <a:solidFill>
                <a:srgbClr val="FFFFF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887724" y="3219450"/>
              <a:ext cx="1195883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113884"/>
                  </a:solidFill>
                  <a:latin typeface="Arial"/>
                  <a:ea typeface="Arial"/>
                  <a:cs typeface="Arial"/>
                </a:rPr>
                <a:t>GB/T 19964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762625" y="2914650"/>
              <a:ext cx="1714500" cy="819150"/>
            </a:xfrm>
            <a:prstGeom prst="rect">
              <a:avLst/>
            </a:prstGeom>
            <a:solidFill>
              <a:srgbClr val="EDF2FA"/>
            </a:solidFill>
            <a:ln w="19050">
              <a:solidFill>
                <a:srgbClr val="FFFFF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887974" y="321945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13884"/>
                  </a:solidFill>
                  <a:latin typeface="Arial"/>
                  <a:ea typeface="Microsoft YaHei"/>
                  <a:cs typeface="Arial"/>
                </a:rPr>
                <a:t>并网技术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477125" y="2914650"/>
              <a:ext cx="3952875" cy="819150"/>
            </a:xfrm>
            <a:prstGeom prst="rect">
              <a:avLst/>
            </a:prstGeom>
            <a:solidFill>
              <a:srgbClr val="EDF2FA"/>
            </a:solidFill>
            <a:ln w="19050">
              <a:solidFill>
                <a:srgbClr val="FFFFF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02474" y="3219450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13884"/>
                  </a:solidFill>
                  <a:latin typeface="Arial"/>
                  <a:ea typeface="Microsoft YaHei"/>
                  <a:cs typeface="Arial"/>
                </a:rPr>
                <a:t>建立并网侧预测分类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667000" y="3733800"/>
              <a:ext cx="1095375" cy="8191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FFF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792349" y="4038600"/>
              <a:ext cx="48394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13884"/>
                  </a:solidFill>
                  <a:latin typeface="Arial"/>
                  <a:ea typeface="Arial"/>
                  <a:cs typeface="Arial"/>
                </a:rPr>
                <a:t>2021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762375" y="3733800"/>
              <a:ext cx="2000250" cy="8191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FFFF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887724" y="4038600"/>
              <a:ext cx="1195883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113884"/>
                  </a:solidFill>
                  <a:latin typeface="Arial"/>
                  <a:ea typeface="Arial"/>
                  <a:cs typeface="Arial"/>
                </a:rPr>
                <a:t>GB/T 40607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762625" y="3733800"/>
              <a:ext cx="1714500" cy="8191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FFFF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887974" y="403860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13884"/>
                  </a:solidFill>
                  <a:latin typeface="Arial"/>
                  <a:ea typeface="Microsoft YaHei"/>
                  <a:cs typeface="Arial"/>
                </a:rPr>
                <a:t>调度系统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477125" y="3733800"/>
              <a:ext cx="3952875" cy="8191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FFF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602474" y="4038600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13884"/>
                  </a:solidFill>
                  <a:latin typeface="Arial"/>
                  <a:ea typeface="Microsoft YaHei"/>
                  <a:cs typeface="Arial"/>
                </a:rPr>
                <a:t>明确调度侧技术要求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667000" y="4552950"/>
              <a:ext cx="1095375" cy="819150"/>
            </a:xfrm>
            <a:prstGeom prst="rect">
              <a:avLst/>
            </a:prstGeom>
            <a:solidFill>
              <a:srgbClr val="EDF2FA"/>
            </a:solidFill>
            <a:ln w="19050">
              <a:solidFill>
                <a:srgbClr val="FFFFFF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792349" y="4857750"/>
              <a:ext cx="48394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13884"/>
                  </a:solidFill>
                  <a:latin typeface="Arial"/>
                  <a:ea typeface="Arial"/>
                  <a:cs typeface="Arial"/>
                </a:rPr>
                <a:t>2025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3762375" y="4552950"/>
              <a:ext cx="2000250" cy="819150"/>
            </a:xfrm>
            <a:prstGeom prst="rect">
              <a:avLst/>
            </a:prstGeom>
            <a:solidFill>
              <a:srgbClr val="EDF2FA"/>
            </a:solidFill>
            <a:ln w="19050">
              <a:solidFill>
                <a:srgbClr val="FFFFFF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887724" y="4857750"/>
              <a:ext cx="1195883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113884"/>
                  </a:solidFill>
                  <a:latin typeface="Arial"/>
                  <a:ea typeface="Arial"/>
                  <a:cs typeface="Arial"/>
                </a:rPr>
                <a:t>NB/T 32031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762625" y="4552950"/>
              <a:ext cx="1714500" cy="819150"/>
            </a:xfrm>
            <a:prstGeom prst="rect">
              <a:avLst/>
            </a:prstGeom>
            <a:solidFill>
              <a:srgbClr val="EDF2FA"/>
            </a:solidFill>
            <a:ln w="19050">
              <a:solidFill>
                <a:srgbClr val="FFFFFF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887974" y="485775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13884"/>
                  </a:solidFill>
                  <a:latin typeface="Arial"/>
                  <a:ea typeface="Microsoft YaHei"/>
                  <a:cs typeface="Arial"/>
                </a:rPr>
                <a:t>功能规范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477125" y="4552950"/>
              <a:ext cx="3952875" cy="819150"/>
            </a:xfrm>
            <a:prstGeom prst="rect">
              <a:avLst/>
            </a:prstGeom>
            <a:solidFill>
              <a:srgbClr val="EDF2FA"/>
            </a:solidFill>
            <a:ln w="19050">
              <a:solidFill>
                <a:srgbClr val="FFFFFF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602474" y="4857750"/>
              <a:ext cx="161124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13884"/>
                  </a:solidFill>
                  <a:latin typeface="Arial"/>
                  <a:ea typeface="Microsoft YaHei"/>
                  <a:cs typeface="Arial"/>
                </a:rPr>
                <a:t>2026-03-28实施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2667000" y="5372100"/>
              <a:ext cx="1095375" cy="8191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FFFF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2792349" y="5676900"/>
              <a:ext cx="48394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13884"/>
                  </a:solidFill>
                  <a:latin typeface="Arial"/>
                  <a:ea typeface="Arial"/>
                  <a:cs typeface="Arial"/>
                </a:rPr>
                <a:t>2022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3762375" y="5372100"/>
              <a:ext cx="2000250" cy="8191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FFFF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887724" y="5676900"/>
              <a:ext cx="107227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113884"/>
                  </a:solidFill>
                  <a:latin typeface="Arial"/>
                  <a:ea typeface="Arial"/>
                  <a:cs typeface="Arial"/>
                </a:rPr>
                <a:t>T/CES 139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762625" y="5372100"/>
              <a:ext cx="1714500" cy="8191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FFFF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887974" y="567690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13884"/>
                  </a:solidFill>
                  <a:latin typeface="Arial"/>
                  <a:ea typeface="Microsoft YaHei"/>
                  <a:cs typeface="Arial"/>
                </a:rPr>
                <a:t>概率预测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477125" y="5372100"/>
              <a:ext cx="3952875" cy="8191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FFFF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602474" y="5676900"/>
              <a:ext cx="21429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13884"/>
                  </a:solidFill>
                  <a:latin typeface="Arial"/>
                  <a:ea typeface="Microsoft YaHei"/>
                  <a:cs typeface="Arial"/>
                </a:rPr>
                <a:t>覆盖率与区间宽度评价</a:t>
              </a:r>
            </a:p>
          </p:txBody>
        </p:sp>
      </p:grpSp>
      <p:grpSp>
        <p:nvGrpSpPr>
          <p:cNvPr id="72" name="source-citation"/>
          <p:cNvGrpSpPr/>
          <p:nvPr/>
        </p:nvGrpSpPr>
        <p:grpSpPr>
          <a:xfrm>
            <a:off x="422529" y="6315075"/>
            <a:ext cx="2860853" cy="234696"/>
            <a:chOff x="422529" y="6315075"/>
            <a:chExt cx="2860853" cy="234696"/>
          </a:xfrm>
        </p:grpSpPr>
        <p:sp>
          <p:nvSpPr>
            <p:cNvPr id="71" name="TextBox 71"/>
            <p:cNvSpPr txBox="1"/>
            <p:nvPr/>
          </p:nvSpPr>
          <p:spPr>
            <a:xfrm>
              <a:off x="422529" y="6315075"/>
              <a:ext cx="28608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依据原文 [1–4] · 文献编号与Word一致</a:t>
              </a:r>
            </a:p>
          </p:txBody>
        </p:sp>
      </p:grpSp>
    </p:spTree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淘宝-想搞设计PPT(倒卖必究)-17"/>
          <p:cNvSpPr/>
          <p:nvPr/>
        </p:nvSpPr>
        <p:spPr>
          <a:xfrm>
            <a:off x="0" y="0"/>
            <a:ext cx="12192000" cy="79200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55600" dist="190500" dir="5400000" algn="ctr" rotWithShape="0">
              <a:srgbClr val="000000">
                <a:alpha val="825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cxnSp>
        <p:nvCxnSpPr>
          <p:cNvPr id="3" name="淘宝-想搞设计PPT(倒卖必究)-3"/>
          <p:cNvCxnSpPr/>
          <p:nvPr/>
        </p:nvCxnSpPr>
        <p:spPr>
          <a:xfrm>
            <a:off x="2858929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4" name="淘宝-想搞设计PPT(倒卖必究)-4"/>
          <p:cNvCxnSpPr/>
          <p:nvPr/>
        </p:nvCxnSpPr>
        <p:spPr>
          <a:xfrm>
            <a:off x="8066246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5" name="淘宝-想搞设计PPT(倒卖必究)-5"/>
          <p:cNvCxnSpPr/>
          <p:nvPr/>
        </p:nvCxnSpPr>
        <p:spPr>
          <a:xfrm>
            <a:off x="9802082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6" name="淘宝-想搞设计PPT(倒卖必究)-6"/>
          <p:cNvSpPr/>
          <p:nvPr/>
        </p:nvSpPr>
        <p:spPr>
          <a:xfrm>
            <a:off x="3147155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需求边界</a:t>
            </a:r>
          </a:p>
        </p:txBody>
      </p:sp>
      <p:sp>
        <p:nvSpPr>
          <p:cNvPr id="7" name="淘宝-想搞设计PPT(倒卖必究)-7"/>
          <p:cNvSpPr/>
          <p:nvPr/>
        </p:nvSpPr>
        <p:spPr>
          <a:xfrm>
            <a:off x="6375082" y="211360"/>
            <a:ext cx="1646587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评价方法</a:t>
            </a:r>
          </a:p>
        </p:txBody>
      </p:sp>
      <p:sp>
        <p:nvSpPr>
          <p:cNvPr id="8" name="淘宝-想搞设计PPT(倒卖必究)-8"/>
          <p:cNvSpPr/>
          <p:nvPr/>
        </p:nvSpPr>
        <p:spPr>
          <a:xfrm>
            <a:off x="8354473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研究空白</a:t>
            </a:r>
          </a:p>
        </p:txBody>
      </p:sp>
      <p:sp>
        <p:nvSpPr>
          <p:cNvPr id="9" name="淘宝-想搞设计PPT(倒卖必究)-9"/>
          <p:cNvSpPr/>
          <p:nvPr/>
        </p:nvSpPr>
        <p:spPr>
          <a:xfrm>
            <a:off x="10090309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研究主线</a:t>
            </a:r>
          </a:p>
        </p:txBody>
      </p:sp>
      <p:sp>
        <p:nvSpPr>
          <p:cNvPr id="10" name="淘宝-想搞设计PPT(倒卖必究)-10"/>
          <p:cNvSpPr/>
          <p:nvPr/>
        </p:nvSpPr>
        <p:spPr>
          <a:xfrm>
            <a:off x="4634579" y="0"/>
            <a:ext cx="1656017" cy="792004"/>
          </a:xfrm>
          <a:prstGeom prst="rect">
            <a:avLst/>
          </a:prstGeom>
          <a:solidFill>
            <a:srgbClr val="113884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淘宝-想搞设计PPT(倒卖必究)-11"/>
          <p:cNvSpPr/>
          <p:nvPr/>
        </p:nvSpPr>
        <p:spPr>
          <a:xfrm>
            <a:off x="4882896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研究现状</a:t>
            </a:r>
          </a:p>
        </p:txBody>
      </p:sp>
      <p:sp>
        <p:nvSpPr>
          <p:cNvPr id="25" name="淘宝-想搞设计PPT(倒卖必究)-25"/>
          <p:cNvSpPr/>
          <p:nvPr/>
        </p:nvSpPr>
        <p:spPr>
          <a:xfrm>
            <a:off x="421862" y="2480596"/>
            <a:ext cx="2841974" cy="2841974"/>
          </a:xfrm>
          <a:prstGeom prst="ellipse">
            <a:avLst/>
          </a:prstGeom>
          <a:solidFill>
            <a:srgbClr val="113884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6" name="淘宝-想搞设计PPT(倒卖必究)-26"/>
          <p:cNvSpPr/>
          <p:nvPr/>
        </p:nvSpPr>
        <p:spPr>
          <a:xfrm>
            <a:off x="555784" y="2614517"/>
            <a:ext cx="2574131" cy="2574131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wrap="none" lIns="95" tIns="1068659" rIns="0" bIns="0" anchor="t" anchorCtr="0">
            <a:noAutofit/>
          </a:bodyPr>
          <a:lstStyle/>
          <a:p>
            <a:pPr algn="ctr">
              <a:lnSpc>
                <a:spcPts val="3840"/>
              </a:lnSpc>
            </a:pPr>
            <a:r>
              <a:rPr lang="zh-CN" sz="2400" b="1" dirty="0">
                <a:solidFill>
                  <a:srgbClr val="113884"/>
                </a:solidFill>
                <a:latin typeface="Arial"/>
                <a:ea typeface="Microsoft YaHei"/>
                <a:cs typeface="Arial"/>
              </a:rPr>
              <a:t>前向天气</a:t>
            </a:r>
            <a:br>
              <a:rPr lang="zh-CN" sz="2400" b="1" dirty="0">
                <a:solidFill>
                  <a:srgbClr val="113884"/>
                </a:solidFill>
                <a:latin typeface="Arial"/>
                <a:ea typeface="Microsoft YaHei"/>
                <a:cs typeface="Arial"/>
              </a:rPr>
            </a:br>
            <a:r>
              <a:rPr lang="zh-CN" sz="2400" b="1" dirty="0">
                <a:solidFill>
                  <a:srgbClr val="113884"/>
                </a:solidFill>
                <a:latin typeface="Arial"/>
                <a:ea typeface="Microsoft YaHei"/>
                <a:cs typeface="Arial"/>
              </a:rPr>
              <a:t>支撑远期</a:t>
            </a:r>
          </a:p>
        </p:txBody>
      </p:sp>
      <p:sp>
        <p:nvSpPr>
          <p:cNvPr id="27" name="淘宝-想搞设计PPT(倒卖必究)-27"/>
          <p:cNvSpPr/>
          <p:nvPr/>
        </p:nvSpPr>
        <p:spPr>
          <a:xfrm>
            <a:off x="3540919" y="1842897"/>
            <a:ext cx="538544" cy="4117467"/>
          </a:xfrm>
          <a:custGeom>
            <a:avLst/>
            <a:gdLst/>
            <a:ahLst/>
            <a:cxnLst/>
            <a:rect l="l" t="t" r="r" b="b"/>
            <a:pathLst>
              <a:path w="538544" h="4117467">
                <a:moveTo>
                  <a:pt x="538544" y="56198"/>
                </a:moveTo>
                <a:lnTo>
                  <a:pt x="538544" y="0"/>
                </a:lnTo>
                <a:cubicBezTo>
                  <a:pt x="497396" y="16478"/>
                  <a:pt x="461486" y="32195"/>
                  <a:pt x="430625" y="48673"/>
                </a:cubicBezTo>
                <a:cubicBezTo>
                  <a:pt x="399669" y="65056"/>
                  <a:pt x="369951" y="90488"/>
                  <a:pt x="340995" y="124682"/>
                </a:cubicBezTo>
                <a:cubicBezTo>
                  <a:pt x="312039" y="158306"/>
                  <a:pt x="286036" y="200787"/>
                  <a:pt x="262795" y="251460"/>
                </a:cubicBezTo>
                <a:cubicBezTo>
                  <a:pt x="239554" y="303562"/>
                  <a:pt x="222028" y="355664"/>
                  <a:pt x="209360" y="409099"/>
                </a:cubicBezTo>
                <a:cubicBezTo>
                  <a:pt x="197549" y="462534"/>
                  <a:pt x="188785" y="520065"/>
                  <a:pt x="181928" y="581025"/>
                </a:cubicBezTo>
                <a:cubicBezTo>
                  <a:pt x="175451" y="642080"/>
                  <a:pt x="171260" y="709898"/>
                  <a:pt x="170117" y="781812"/>
                </a:cubicBezTo>
                <a:cubicBezTo>
                  <a:pt x="168593" y="855154"/>
                  <a:pt x="172784" y="937355"/>
                  <a:pt x="183452" y="1027843"/>
                </a:cubicBezTo>
                <a:lnTo>
                  <a:pt x="212027" y="1254633"/>
                </a:lnTo>
                <a:cubicBezTo>
                  <a:pt x="220504" y="1329976"/>
                  <a:pt x="223552" y="1408081"/>
                  <a:pt x="222790" y="1491044"/>
                </a:cubicBezTo>
                <a:cubicBezTo>
                  <a:pt x="222790" y="1581436"/>
                  <a:pt x="217742" y="1656112"/>
                  <a:pt x="207074" y="1714405"/>
                </a:cubicBezTo>
                <a:cubicBezTo>
                  <a:pt x="196787" y="1772602"/>
                  <a:pt x="185357" y="1815084"/>
                  <a:pt x="172022" y="1841182"/>
                </a:cubicBezTo>
                <a:cubicBezTo>
                  <a:pt x="159449" y="1866519"/>
                  <a:pt x="140399" y="1895951"/>
                  <a:pt x="115157" y="1928908"/>
                </a:cubicBezTo>
                <a:cubicBezTo>
                  <a:pt x="90011" y="1961102"/>
                  <a:pt x="72866" y="1978247"/>
                  <a:pt x="64103" y="1979581"/>
                </a:cubicBezTo>
                <a:lnTo>
                  <a:pt x="0" y="2000822"/>
                </a:lnTo>
                <a:lnTo>
                  <a:pt x="0" y="2109788"/>
                </a:lnTo>
                <a:cubicBezTo>
                  <a:pt x="43529" y="2128266"/>
                  <a:pt x="75914" y="2147411"/>
                  <a:pt x="97631" y="2167985"/>
                </a:cubicBezTo>
                <a:cubicBezTo>
                  <a:pt x="119348" y="2187892"/>
                  <a:pt x="139256" y="2217325"/>
                  <a:pt x="157544" y="2255044"/>
                </a:cubicBezTo>
                <a:cubicBezTo>
                  <a:pt x="175451" y="2293430"/>
                  <a:pt x="190691" y="2342769"/>
                  <a:pt x="202883" y="2403729"/>
                </a:cubicBezTo>
                <a:cubicBezTo>
                  <a:pt x="215456" y="2464022"/>
                  <a:pt x="222409" y="2531840"/>
                  <a:pt x="223552" y="2606516"/>
                </a:cubicBezTo>
                <a:cubicBezTo>
                  <a:pt x="224695" y="2681954"/>
                  <a:pt x="222028" y="2770346"/>
                  <a:pt x="214312" y="2873121"/>
                </a:cubicBezTo>
                <a:cubicBezTo>
                  <a:pt x="210503" y="2943701"/>
                  <a:pt x="205931" y="3003328"/>
                  <a:pt x="201359" y="3050572"/>
                </a:cubicBezTo>
                <a:lnTo>
                  <a:pt x="181928" y="3256121"/>
                </a:lnTo>
                <a:cubicBezTo>
                  <a:pt x="176975" y="3326702"/>
                  <a:pt x="175832" y="3393853"/>
                  <a:pt x="178499" y="3457575"/>
                </a:cubicBezTo>
                <a:cubicBezTo>
                  <a:pt x="181547" y="3528822"/>
                  <a:pt x="188024" y="3594640"/>
                  <a:pt x="197930" y="3652838"/>
                </a:cubicBezTo>
                <a:cubicBezTo>
                  <a:pt x="208217" y="3711130"/>
                  <a:pt x="221266" y="3762470"/>
                  <a:pt x="236506" y="3804952"/>
                </a:cubicBezTo>
                <a:cubicBezTo>
                  <a:pt x="251365" y="3848862"/>
                  <a:pt x="270796" y="3890677"/>
                  <a:pt x="294799" y="3931063"/>
                </a:cubicBezTo>
                <a:cubicBezTo>
                  <a:pt x="318135" y="3971449"/>
                  <a:pt x="341376" y="4003643"/>
                  <a:pt x="363855" y="4028313"/>
                </a:cubicBezTo>
                <a:lnTo>
                  <a:pt x="420338" y="4088702"/>
                </a:lnTo>
                <a:cubicBezTo>
                  <a:pt x="436340" y="4109180"/>
                  <a:pt x="448913" y="4117467"/>
                  <a:pt x="457676" y="4114705"/>
                </a:cubicBezTo>
                <a:cubicBezTo>
                  <a:pt x="466439" y="4111942"/>
                  <a:pt x="471773" y="4104418"/>
                  <a:pt x="473297" y="4092797"/>
                </a:cubicBezTo>
                <a:cubicBezTo>
                  <a:pt x="475202" y="4079748"/>
                  <a:pt x="470249" y="4064698"/>
                  <a:pt x="459200" y="4046220"/>
                </a:cubicBezTo>
                <a:cubicBezTo>
                  <a:pt x="455009" y="4040029"/>
                  <a:pt x="443579" y="4024884"/>
                  <a:pt x="424148" y="4001643"/>
                </a:cubicBezTo>
                <a:cubicBezTo>
                  <a:pt x="404717" y="3976973"/>
                  <a:pt x="386334" y="3946779"/>
                  <a:pt x="368808" y="3909155"/>
                </a:cubicBezTo>
                <a:cubicBezTo>
                  <a:pt x="350901" y="3871436"/>
                  <a:pt x="335661" y="3828288"/>
                  <a:pt x="323469" y="3776853"/>
                </a:cubicBezTo>
                <a:cubicBezTo>
                  <a:pt x="311277" y="3726847"/>
                  <a:pt x="303181" y="3681603"/>
                  <a:pt x="300133" y="3641884"/>
                </a:cubicBezTo>
                <a:cubicBezTo>
                  <a:pt x="296704" y="3602831"/>
                  <a:pt x="295180" y="3557588"/>
                  <a:pt x="295180" y="3509010"/>
                </a:cubicBezTo>
                <a:cubicBezTo>
                  <a:pt x="295942" y="3465766"/>
                  <a:pt x="298609" y="3398615"/>
                  <a:pt x="302800" y="3306128"/>
                </a:cubicBezTo>
                <a:cubicBezTo>
                  <a:pt x="307372" y="3213640"/>
                  <a:pt x="311658" y="3119723"/>
                  <a:pt x="315849" y="3025235"/>
                </a:cubicBezTo>
                <a:cubicBezTo>
                  <a:pt x="319659" y="2930652"/>
                  <a:pt x="320421" y="2847784"/>
                  <a:pt x="318135" y="2773775"/>
                </a:cubicBezTo>
                <a:cubicBezTo>
                  <a:pt x="315849" y="2677097"/>
                  <a:pt x="308515" y="2598325"/>
                  <a:pt x="297466" y="2538032"/>
                </a:cubicBezTo>
                <a:cubicBezTo>
                  <a:pt x="286417" y="2477738"/>
                  <a:pt x="268510" y="2410587"/>
                  <a:pt x="244126" y="2337911"/>
                </a:cubicBezTo>
                <a:cubicBezTo>
                  <a:pt x="219361" y="2264664"/>
                  <a:pt x="197930" y="2219420"/>
                  <a:pt x="179642" y="2202942"/>
                </a:cubicBezTo>
                <a:lnTo>
                  <a:pt x="53054" y="2063877"/>
                </a:lnTo>
                <a:cubicBezTo>
                  <a:pt x="90773" y="2027587"/>
                  <a:pt x="121253" y="1997393"/>
                  <a:pt x="144209" y="1973390"/>
                </a:cubicBezTo>
                <a:cubicBezTo>
                  <a:pt x="166688" y="1948720"/>
                  <a:pt x="186119" y="1922716"/>
                  <a:pt x="201359" y="1895951"/>
                </a:cubicBezTo>
                <a:cubicBezTo>
                  <a:pt x="216599" y="1869948"/>
                  <a:pt x="234982" y="1823371"/>
                  <a:pt x="256699" y="1756886"/>
                </a:cubicBezTo>
                <a:cubicBezTo>
                  <a:pt x="278035" y="1690402"/>
                  <a:pt x="294799" y="1625346"/>
                  <a:pt x="305467" y="1561624"/>
                </a:cubicBezTo>
                <a:cubicBezTo>
                  <a:pt x="316611" y="1498568"/>
                  <a:pt x="323088" y="1428655"/>
                  <a:pt x="325755" y="1351883"/>
                </a:cubicBezTo>
                <a:cubicBezTo>
                  <a:pt x="328803" y="1275874"/>
                  <a:pt x="328041" y="1201198"/>
                  <a:pt x="324231" y="1129189"/>
                </a:cubicBezTo>
                <a:cubicBezTo>
                  <a:pt x="322707" y="1090898"/>
                  <a:pt x="317373" y="1012698"/>
                  <a:pt x="307753" y="896302"/>
                </a:cubicBezTo>
                <a:cubicBezTo>
                  <a:pt x="298609" y="780479"/>
                  <a:pt x="293275" y="687991"/>
                  <a:pt x="292132" y="619411"/>
                </a:cubicBezTo>
                <a:cubicBezTo>
                  <a:pt x="290989" y="551593"/>
                  <a:pt x="294037" y="491966"/>
                  <a:pt x="302419" y="441293"/>
                </a:cubicBezTo>
                <a:cubicBezTo>
                  <a:pt x="308515" y="403574"/>
                  <a:pt x="321564" y="357664"/>
                  <a:pt x="340233" y="302228"/>
                </a:cubicBezTo>
                <a:cubicBezTo>
                  <a:pt x="359283" y="246698"/>
                  <a:pt x="381762" y="200787"/>
                  <a:pt x="408527" y="164497"/>
                </a:cubicBezTo>
                <a:cubicBezTo>
                  <a:pt x="434816" y="128111"/>
                  <a:pt x="459200" y="104108"/>
                  <a:pt x="480536" y="90488"/>
                </a:cubicBezTo>
                <a:lnTo>
                  <a:pt x="538544" y="56198"/>
                </a:lnTo>
                <a:close/>
              </a:path>
            </a:pathLst>
          </a:custGeom>
          <a:solidFill>
            <a:srgbClr val="11388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9" name="淘宝-想搞设计PPT(倒卖必究)-29"/>
          <p:cNvSpPr/>
          <p:nvPr/>
        </p:nvSpPr>
        <p:spPr>
          <a:xfrm>
            <a:off x="4315873" y="1842897"/>
            <a:ext cx="5715000" cy="400145"/>
          </a:xfrm>
          <a:prstGeom prst="rect">
            <a:avLst/>
          </a:prstGeom>
          <a:noFill/>
          <a:ln>
            <a:noFill/>
          </a:ln>
        </p:spPr>
        <p:txBody>
          <a:bodyPr wrap="none" lIns="91440" tIns="45723" rIns="0" bIns="0" anchor="t" anchorCtr="0">
            <a:noAutofit/>
          </a:bodyPr>
          <a:lstStyle/>
          <a:p>
            <a:pPr algn="l"/>
            <a:r>
              <a:rPr lang="zh-CN" sz="2020" b="1" dirty="0">
                <a:solidFill>
                  <a:srgbClr val="113884"/>
                </a:solidFill>
                <a:latin typeface="Arial"/>
                <a:ea typeface="Microsoft YaHei"/>
                <a:cs typeface="Arial"/>
              </a:rPr>
              <a:t>多源信息融合</a:t>
            </a:r>
          </a:p>
        </p:txBody>
      </p:sp>
      <p:sp>
        <p:nvSpPr>
          <p:cNvPr id="30" name="淘宝-想搞设计PPT(倒卖必究)-30"/>
          <p:cNvSpPr/>
          <p:nvPr/>
        </p:nvSpPr>
        <p:spPr>
          <a:xfrm>
            <a:off x="4315873" y="2209800"/>
            <a:ext cx="7289864" cy="656082"/>
          </a:xfrm>
          <a:prstGeom prst="rect">
            <a:avLst/>
          </a:prstGeom>
          <a:noFill/>
          <a:ln>
            <a:noFill/>
          </a:ln>
        </p:spPr>
        <p:txBody>
          <a:bodyPr wrap="none" lIns="91440" tIns="58396" rIns="0" bIns="0" anchor="t" anchorCtr="0">
            <a:noAutofit/>
          </a:bodyPr>
          <a:lstStyle/>
          <a:p>
            <a:pPr algn="l"/>
            <a:r>
              <a:rPr lang="zh-CN" sz="165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历史功率、气象预报与云观测共同支撑多时距预测。</a:t>
            </a:r>
          </a:p>
        </p:txBody>
      </p:sp>
      <p:sp>
        <p:nvSpPr>
          <p:cNvPr id="32" name="淘宝-想搞设计PPT(倒卖必究)-32"/>
          <p:cNvSpPr/>
          <p:nvPr/>
        </p:nvSpPr>
        <p:spPr>
          <a:xfrm>
            <a:off x="4315873" y="5198936"/>
            <a:ext cx="5715000" cy="400145"/>
          </a:xfrm>
          <a:prstGeom prst="rect">
            <a:avLst/>
          </a:prstGeom>
          <a:noFill/>
          <a:ln>
            <a:noFill/>
          </a:ln>
        </p:spPr>
        <p:txBody>
          <a:bodyPr wrap="none" lIns="91440" tIns="45698" rIns="0" bIns="0" anchor="t" anchorCtr="0">
            <a:noAutofit/>
          </a:bodyPr>
          <a:lstStyle/>
          <a:p>
            <a:pPr algn="l"/>
            <a:r>
              <a:rPr lang="zh-CN" sz="2020" b="1" dirty="0">
                <a:solidFill>
                  <a:srgbClr val="113884"/>
                </a:solidFill>
                <a:latin typeface="Arial"/>
                <a:ea typeface="Microsoft YaHei"/>
                <a:cs typeface="Arial"/>
              </a:rPr>
              <a:t>站点条件限制</a:t>
            </a:r>
          </a:p>
        </p:txBody>
      </p:sp>
      <p:sp>
        <p:nvSpPr>
          <p:cNvPr id="33" name="淘宝-想搞设计PPT(倒卖必究)-33"/>
          <p:cNvSpPr/>
          <p:nvPr/>
        </p:nvSpPr>
        <p:spPr>
          <a:xfrm>
            <a:off x="4315873" y="5577173"/>
            <a:ext cx="7289864" cy="362807"/>
          </a:xfrm>
          <a:prstGeom prst="rect">
            <a:avLst/>
          </a:prstGeom>
          <a:noFill/>
          <a:ln>
            <a:noFill/>
          </a:ln>
        </p:spPr>
        <p:txBody>
          <a:bodyPr wrap="none" lIns="91440" tIns="58467" rIns="0" bIns="0" anchor="t" anchorCtr="0">
            <a:noAutofit/>
          </a:bodyPr>
          <a:lstStyle/>
          <a:p>
            <a:pPr algn="l"/>
            <a:r>
              <a:rPr lang="zh-CN" sz="165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预报产品、站点与模型差异会改变长时距效果。</a:t>
            </a:r>
          </a:p>
        </p:txBody>
      </p:sp>
      <p:sp>
        <p:nvSpPr>
          <p:cNvPr id="35" name="淘宝-想搞设计PPT(倒卖必究)-35"/>
          <p:cNvSpPr/>
          <p:nvPr/>
        </p:nvSpPr>
        <p:spPr>
          <a:xfrm>
            <a:off x="4315873" y="3550825"/>
            <a:ext cx="6577489" cy="41814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60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6" name="淘宝-想搞设计PPT(倒卖必究)-36"/>
          <p:cNvSpPr/>
          <p:nvPr/>
        </p:nvSpPr>
        <p:spPr>
          <a:xfrm>
            <a:off x="4315873" y="3526441"/>
            <a:ext cx="5715000" cy="400145"/>
          </a:xfrm>
          <a:prstGeom prst="rect">
            <a:avLst/>
          </a:prstGeom>
          <a:noFill/>
          <a:ln>
            <a:noFill/>
          </a:ln>
        </p:spPr>
        <p:txBody>
          <a:bodyPr wrap="none" lIns="91440" tIns="45680" rIns="0" bIns="0" anchor="t" anchorCtr="0">
            <a:noAutofit/>
          </a:bodyPr>
          <a:lstStyle/>
          <a:p>
            <a:pPr algn="l"/>
            <a:r>
              <a:rPr lang="zh-CN" sz="2020" b="1" dirty="0">
                <a:solidFill>
                  <a:srgbClr val="113884"/>
                </a:solidFill>
                <a:latin typeface="Arial"/>
                <a:ea typeface="Microsoft YaHei"/>
                <a:cs typeface="Arial"/>
              </a:rPr>
              <a:t>部署信息边界</a:t>
            </a:r>
          </a:p>
        </p:txBody>
      </p:sp>
      <p:sp>
        <p:nvSpPr>
          <p:cNvPr id="37" name="淘宝-想搞设计PPT(倒卖必究)-37"/>
          <p:cNvSpPr/>
          <p:nvPr/>
        </p:nvSpPr>
        <p:spPr>
          <a:xfrm>
            <a:off x="4315873" y="3882295"/>
            <a:ext cx="7289864" cy="658273"/>
          </a:xfrm>
          <a:prstGeom prst="rect">
            <a:avLst/>
          </a:prstGeom>
          <a:noFill/>
          <a:ln>
            <a:noFill/>
          </a:ln>
        </p:spPr>
        <p:txBody>
          <a:bodyPr wrap="none" lIns="91440" tIns="58414" rIns="0" bIns="0" anchor="t" anchorCtr="0">
            <a:no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按真实发布时间取天气预报；未来实测仅用于理论上界。</a:t>
            </a:r>
          </a:p>
        </p:txBody>
      </p:sp>
      <p:cxnSp>
        <p:nvCxnSpPr>
          <p:cNvPr id="39" name="淘宝-想搞设计PPT(倒卖必究)-39"/>
          <p:cNvCxnSpPr/>
          <p:nvPr/>
        </p:nvCxnSpPr>
        <p:spPr>
          <a:xfrm>
            <a:off x="4409408" y="3190208"/>
            <a:ext cx="7092029" cy="0"/>
          </a:xfrm>
          <a:prstGeom prst="line">
            <a:avLst/>
          </a:prstGeom>
          <a:noFill/>
          <a:ln w="9525">
            <a:solidFill>
              <a:srgbClr val="D9D9D9"/>
            </a:solidFill>
          </a:ln>
        </p:spPr>
      </p:cxnSp>
      <p:cxnSp>
        <p:nvCxnSpPr>
          <p:cNvPr id="40" name="淘宝-想搞设计PPT(倒卖必究)-40"/>
          <p:cNvCxnSpPr/>
          <p:nvPr/>
        </p:nvCxnSpPr>
        <p:spPr>
          <a:xfrm>
            <a:off x="4409408" y="4876800"/>
            <a:ext cx="7092029" cy="0"/>
          </a:xfrm>
          <a:prstGeom prst="line">
            <a:avLst/>
          </a:prstGeom>
          <a:noFill/>
          <a:ln w="9525">
            <a:solidFill>
              <a:srgbClr val="D9D9D9"/>
            </a:solidFill>
          </a:ln>
        </p:spPr>
      </p:cxnSp>
      <p:grpSp>
        <p:nvGrpSpPr>
          <p:cNvPr id="28" name="Picture 40"/>
          <p:cNvGrpSpPr/>
          <p:nvPr/>
        </p:nvGrpSpPr>
        <p:grpSpPr>
          <a:xfrm>
            <a:off x="356044" y="158210"/>
            <a:ext cx="2011870" cy="617220"/>
            <a:chOff x="356044" y="158210"/>
            <a:chExt cx="2011870" cy="617220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6044" y="158210"/>
              <a:ext cx="2011870" cy="617220"/>
            </a:xfrm>
            <a:prstGeom prst="rect">
              <a:avLst/>
            </a:prstGeom>
          </p:spPr>
        </p:pic>
      </p:grpSp>
      <p:grpSp>
        <p:nvGrpSpPr>
          <p:cNvPr id="34" name="core-title"/>
          <p:cNvGrpSpPr/>
          <p:nvPr/>
        </p:nvGrpSpPr>
        <p:grpSpPr>
          <a:xfrm>
            <a:off x="416433" y="1069975"/>
            <a:ext cx="5193792" cy="469392"/>
            <a:chOff x="416433" y="1069975"/>
            <a:chExt cx="5193792" cy="469392"/>
          </a:xfrm>
        </p:grpSpPr>
        <p:sp>
          <p:nvSpPr>
            <p:cNvPr id="31" name="TextBox 31"/>
            <p:cNvSpPr txBox="1"/>
            <p:nvPr/>
          </p:nvSpPr>
          <p:spPr>
            <a:xfrm>
              <a:off x="416433" y="1069975"/>
              <a:ext cx="51937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13884"/>
                  </a:solidFill>
                  <a:latin typeface="Arial"/>
                  <a:ea typeface="Microsoft YaHei"/>
                  <a:cs typeface="Arial"/>
                </a:rPr>
                <a:t>长时距预测需要真实可用的天气信息</a:t>
              </a:r>
            </a:p>
          </p:txBody>
        </p:sp>
      </p:grpSp>
      <p:grpSp>
        <p:nvGrpSpPr>
          <p:cNvPr id="42" name="source-citation"/>
          <p:cNvGrpSpPr/>
          <p:nvPr/>
        </p:nvGrpSpPr>
        <p:grpSpPr>
          <a:xfrm>
            <a:off x="422529" y="6315075"/>
            <a:ext cx="3660496" cy="234696"/>
            <a:chOff x="422529" y="6315075"/>
            <a:chExt cx="3660496" cy="234696"/>
          </a:xfrm>
        </p:grpSpPr>
        <p:sp>
          <p:nvSpPr>
            <p:cNvPr id="38" name="TextBox 38"/>
            <p:cNvSpPr txBox="1"/>
            <p:nvPr/>
          </p:nvSpPr>
          <p:spPr>
            <a:xfrm>
              <a:off x="422529" y="6315075"/>
              <a:ext cx="3660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依据原文 [6–8,10,18,22] · 文献编号与Word一致</a:t>
              </a:r>
            </a:p>
          </p:txBody>
        </p:sp>
      </p:grpSp>
    </p:spTree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淘宝-想搞设计PPT(倒卖必究)-29"/>
          <p:cNvSpPr/>
          <p:nvPr/>
        </p:nvSpPr>
        <p:spPr>
          <a:xfrm>
            <a:off x="0" y="0"/>
            <a:ext cx="12192000" cy="79200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55600" dist="190500" dir="5400000" algn="ctr" rotWithShape="0">
              <a:srgbClr val="000000">
                <a:alpha val="825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淘宝-想搞设计PPT(倒卖必究)-19"/>
          <p:cNvSpPr/>
          <p:nvPr>
            <p:ph type="dt" idx="4294967295" sz="half"/>
          </p:nvPr>
        </p:nvSpPr>
        <p:spPr>
          <a:xfrm>
            <a:off x="838200" y="6464332"/>
            <a:ext cx="2743200" cy="3650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淘宝-想搞设计PPT(倒卖必究)-17"/>
          <p:cNvSpPr/>
          <p:nvPr>
            <p:ph type="ftr" idx="4294967295" sz="quarter"/>
          </p:nvPr>
        </p:nvSpPr>
        <p:spPr>
          <a:xfrm>
            <a:off x="4038600" y="6464332"/>
            <a:ext cx="4114800" cy="3650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淘宝-想搞设计PPT(倒卖必究)-15"/>
          <p:cNvSpPr/>
          <p:nvPr>
            <p:ph type="sldNum" idx="4294967295" sz="quarter"/>
          </p:nvPr>
        </p:nvSpPr>
        <p:spPr>
          <a:xfrm>
            <a:off x="9366218" y="6464332"/>
            <a:ext cx="27432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106331" rIns="91440" bIns="0" anchor="t" anchorCtr="0">
            <a:noAutofit/>
          </a:bodyPr>
          <a:lstStyle/>
          <a:p>
            <a:pPr algn="r"/>
            <a:r>
              <a:rPr lang="zh-CN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3" name="淘宝-想搞设计PPT(倒卖必究)-13"/>
          <p:cNvSpPr/>
          <p:nvPr/>
        </p:nvSpPr>
        <p:spPr>
          <a:xfrm>
            <a:off x="344519" y="1046893"/>
            <a:ext cx="11144250" cy="514350"/>
          </a:xfrm>
          <a:prstGeom prst="rect">
            <a:avLst/>
          </a:prstGeom>
          <a:noFill/>
          <a:ln>
            <a:noFill/>
          </a:ln>
        </p:spPr>
        <p:txBody>
          <a:bodyPr wrap="none" lIns="91440" tIns="42653" rIns="0" bIns="0" anchor="t" anchorCtr="0">
            <a:no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平均误差不足以判断预测是否可用</a:t>
            </a:r>
          </a:p>
        </p:txBody>
      </p:sp>
      <p:cxnSp>
        <p:nvCxnSpPr>
          <p:cNvPr id="12" name="淘宝-想搞设计PPT(倒卖必究)-12"/>
          <p:cNvCxnSpPr/>
          <p:nvPr/>
        </p:nvCxnSpPr>
        <p:spPr>
          <a:xfrm>
            <a:off x="425768" y="1508474"/>
            <a:ext cx="1836039" cy="0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36" name="淘宝-想搞设计PPT(倒卖必究)-36"/>
          <p:cNvSpPr/>
          <p:nvPr/>
        </p:nvSpPr>
        <p:spPr>
          <a:xfrm flipH="1">
            <a:off x="442912" y="1803368"/>
            <a:ext cx="11306175" cy="450542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4799999" algn="tl" rotWithShape="0">
              <a:srgbClr val="000000">
                <a:alpha val="8250"/>
              </a:srgbClr>
            </a:outerShdw>
          </a:effectLst>
        </p:spPr>
        <p:txBody>
          <a:bodyPr rtlCol="0" anchor="ctr"/>
          <a:lstStyle/>
          <a:p>
            <a:pPr algn="ctr"/>
            <a:endParaRPr lang="en-US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淘宝-想搞设计PPT(倒卖必究)-21"/>
          <p:cNvSpPr/>
          <p:nvPr/>
        </p:nvSpPr>
        <p:spPr>
          <a:xfrm flipH="1">
            <a:off x="516065" y="1803368"/>
            <a:ext cx="11233118" cy="4505420"/>
          </a:xfrm>
          <a:prstGeom prst="roundRect">
            <a:avLst>
              <a:gd name="adj" fmla="val 3552"/>
            </a:avLst>
          </a:prstGeom>
          <a:noFill/>
          <a:ln>
            <a:noFill/>
          </a:ln>
          <a:effectLst>
            <a:outerShdw blurRad="355600" dist="190500" dir="5400000" algn="ctr" rotWithShape="0">
              <a:srgbClr val="000000">
                <a:alpha val="8250"/>
              </a:srgbClr>
            </a:outerShdw>
          </a:effectLst>
        </p:spPr>
        <p:txBody>
          <a:bodyPr rtlCol="0" anchor="ctr"/>
          <a:lstStyle/>
          <a:p>
            <a:pPr algn="ctr"/>
            <a:endParaRPr lang="en-US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" name="淘宝-想搞设计PPT(倒卖必究)-3"/>
          <p:cNvSpPr/>
          <p:nvPr/>
        </p:nvSpPr>
        <p:spPr>
          <a:xfrm>
            <a:off x="6370415" y="0"/>
            <a:ext cx="1656017" cy="792004"/>
          </a:xfrm>
          <a:prstGeom prst="rect">
            <a:avLst/>
          </a:prstGeom>
          <a:solidFill>
            <a:srgbClr val="113884"/>
          </a:solidFill>
          <a:ln>
            <a:noFill/>
          </a:ln>
        </p:spPr>
      </p:sp>
      <p:cxnSp>
        <p:nvCxnSpPr>
          <p:cNvPr id="4" name="淘宝-想搞设计PPT(倒卖必究)-4"/>
          <p:cNvCxnSpPr/>
          <p:nvPr/>
        </p:nvCxnSpPr>
        <p:spPr>
          <a:xfrm>
            <a:off x="6330506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5" name="淘宝-想搞设计PPT(倒卖必究)-5"/>
          <p:cNvCxnSpPr/>
          <p:nvPr/>
        </p:nvCxnSpPr>
        <p:spPr>
          <a:xfrm>
            <a:off x="8066246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6" name="淘宝-想搞设计PPT(倒卖必究)-6"/>
          <p:cNvCxnSpPr/>
          <p:nvPr/>
        </p:nvCxnSpPr>
        <p:spPr>
          <a:xfrm>
            <a:off x="9802082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7" name="淘宝-想搞设计PPT(倒卖必究)-7"/>
          <p:cNvSpPr/>
          <p:nvPr/>
        </p:nvSpPr>
        <p:spPr>
          <a:xfrm>
            <a:off x="3147155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需求边界</a:t>
            </a:r>
          </a:p>
        </p:txBody>
      </p:sp>
      <p:sp>
        <p:nvSpPr>
          <p:cNvPr id="8" name="淘宝-想搞设计PPT(倒卖必究)-8"/>
          <p:cNvSpPr/>
          <p:nvPr/>
        </p:nvSpPr>
        <p:spPr>
          <a:xfrm>
            <a:off x="4882896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研究现状</a:t>
            </a:r>
          </a:p>
        </p:txBody>
      </p:sp>
      <p:sp>
        <p:nvSpPr>
          <p:cNvPr id="9" name="淘宝-想搞设计PPT(倒卖必究)-9"/>
          <p:cNvSpPr/>
          <p:nvPr/>
        </p:nvSpPr>
        <p:spPr>
          <a:xfrm>
            <a:off x="6375082" y="211360"/>
            <a:ext cx="1646587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评价方法</a:t>
            </a:r>
          </a:p>
        </p:txBody>
      </p:sp>
      <p:sp>
        <p:nvSpPr>
          <p:cNvPr id="10" name="淘宝-想搞设计PPT(倒卖必究)-10"/>
          <p:cNvSpPr/>
          <p:nvPr/>
        </p:nvSpPr>
        <p:spPr>
          <a:xfrm>
            <a:off x="8354473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研究空白</a:t>
            </a:r>
          </a:p>
        </p:txBody>
      </p:sp>
      <p:sp>
        <p:nvSpPr>
          <p:cNvPr id="11" name="淘宝-想搞设计PPT(倒卖必究)-11"/>
          <p:cNvSpPr/>
          <p:nvPr/>
        </p:nvSpPr>
        <p:spPr>
          <a:xfrm>
            <a:off x="10090309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研究主线</a:t>
            </a:r>
          </a:p>
        </p:txBody>
      </p:sp>
      <p:sp>
        <p:nvSpPr>
          <p:cNvPr id="14" name="淘宝-想搞设计PPT(倒卖必究)-14"/>
          <p:cNvSpPr/>
          <p:nvPr/>
        </p:nvSpPr>
        <p:spPr>
          <a:xfrm>
            <a:off x="983837" y="2219516"/>
            <a:ext cx="444246" cy="444246"/>
          </a:xfrm>
          <a:prstGeom prst="rect">
            <a:avLst/>
          </a:prstGeom>
          <a:solidFill>
            <a:srgbClr val="113884"/>
          </a:solidFill>
          <a:ln>
            <a:noFill/>
          </a:ln>
        </p:spPr>
        <p:txBody>
          <a:bodyPr wrap="none" lIns="0" tIns="112843" rIns="0" bIns="0" anchor="t" anchorCtr="0">
            <a:noAutofit/>
          </a:bodyPr>
          <a:lstStyle/>
          <a:p>
            <a:pPr algn="ctr"/>
            <a:r>
              <a:rPr lang="zh-CN" sz="15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6" name="淘宝-想搞设计PPT(倒卖必究)-16"/>
          <p:cNvSpPr/>
          <p:nvPr/>
        </p:nvSpPr>
        <p:spPr>
          <a:xfrm>
            <a:off x="983837" y="3184208"/>
            <a:ext cx="444246" cy="444246"/>
          </a:xfrm>
          <a:prstGeom prst="rect">
            <a:avLst/>
          </a:prstGeom>
          <a:solidFill>
            <a:srgbClr val="113884"/>
          </a:solidFill>
          <a:ln>
            <a:noFill/>
          </a:ln>
        </p:spPr>
        <p:txBody>
          <a:bodyPr wrap="none" lIns="0" tIns="112884" rIns="0" bIns="0" anchor="t" anchorCtr="0">
            <a:noAutofit/>
          </a:bodyPr>
          <a:lstStyle/>
          <a:p>
            <a:pPr algn="ctr"/>
            <a:r>
              <a:rPr lang="zh-CN" sz="15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淘宝-想搞设计PPT(倒卖必究)-18"/>
          <p:cNvSpPr/>
          <p:nvPr/>
        </p:nvSpPr>
        <p:spPr>
          <a:xfrm>
            <a:off x="983837" y="4148900"/>
            <a:ext cx="444246" cy="444246"/>
          </a:xfrm>
          <a:prstGeom prst="rect">
            <a:avLst/>
          </a:prstGeom>
          <a:solidFill>
            <a:srgbClr val="113884"/>
          </a:solidFill>
          <a:ln>
            <a:noFill/>
          </a:ln>
        </p:spPr>
        <p:txBody>
          <a:bodyPr wrap="none" lIns="0" tIns="112923" rIns="0" bIns="0" anchor="t" anchorCtr="0">
            <a:noAutofit/>
          </a:bodyPr>
          <a:lstStyle/>
          <a:p>
            <a:pPr algn="ctr"/>
            <a:r>
              <a:rPr lang="zh-CN" sz="15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淘宝-想搞设计PPT(倒卖必究)-20"/>
          <p:cNvSpPr/>
          <p:nvPr/>
        </p:nvSpPr>
        <p:spPr>
          <a:xfrm>
            <a:off x="983837" y="5113687"/>
            <a:ext cx="444246" cy="444246"/>
          </a:xfrm>
          <a:prstGeom prst="rect">
            <a:avLst/>
          </a:prstGeom>
          <a:solidFill>
            <a:srgbClr val="113884"/>
          </a:solidFill>
          <a:ln>
            <a:noFill/>
          </a:ln>
        </p:spPr>
        <p:txBody>
          <a:bodyPr wrap="none" lIns="0" tIns="112869" rIns="0" bIns="0" anchor="t" anchorCtr="0">
            <a:noAutofit/>
          </a:bodyPr>
          <a:lstStyle/>
          <a:p>
            <a:pPr algn="ctr"/>
            <a:r>
              <a:rPr lang="zh-CN" sz="15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淘宝-想搞设计PPT(倒卖必究)-22"/>
          <p:cNvSpPr/>
          <p:nvPr/>
        </p:nvSpPr>
        <p:spPr>
          <a:xfrm>
            <a:off x="1602581" y="2303050"/>
            <a:ext cx="9720453" cy="276987"/>
          </a:xfrm>
          <a:prstGeom prst="rect">
            <a:avLst/>
          </a:prstGeom>
          <a:noFill/>
          <a:ln>
            <a:noFill/>
          </a:ln>
        </p:spPr>
        <p:txBody>
          <a:bodyPr wrap="none" lIns="0" tIns="-12670" rIns="0" bIns="0" anchor="t" anchorCtr="0">
            <a:noAutofit/>
          </a:bodyPr>
          <a:lstStyle/>
          <a:p>
            <a:pPr algn="l"/>
            <a:r>
              <a:rPr lang="zh-CN" sz="1950" b="1" dirty="0">
                <a:solidFill>
                  <a:srgbClr val="404040"/>
                </a:solidFill>
                <a:latin typeface="Arial"/>
                <a:ea typeface="Microsoft YaHei"/>
                <a:cs typeface="Arial"/>
              </a:rPr>
              <a:t>数值偏差：MAE、RMSE、容量归一化误差与偏差方向。</a:t>
            </a:r>
          </a:p>
        </p:txBody>
      </p:sp>
      <p:sp>
        <p:nvSpPr>
          <p:cNvPr id="23" name="淘宝-想搞设计PPT(倒卖必究)-23"/>
          <p:cNvSpPr/>
          <p:nvPr/>
        </p:nvSpPr>
        <p:spPr>
          <a:xfrm>
            <a:off x="1602581" y="3267837"/>
            <a:ext cx="9720453" cy="276987"/>
          </a:xfrm>
          <a:prstGeom prst="rect">
            <a:avLst/>
          </a:prstGeom>
          <a:noFill/>
          <a:ln>
            <a:noFill/>
          </a:ln>
        </p:spPr>
        <p:txBody>
          <a:bodyPr wrap="none" lIns="0" tIns="-12725" rIns="0" bIns="0" anchor="t" anchorCtr="0">
            <a:noAutofit/>
          </a:bodyPr>
          <a:lstStyle/>
          <a:p>
            <a:pPr algn="l"/>
            <a:r>
              <a:rPr lang="zh-CN" sz="1950" b="1" dirty="0">
                <a:solidFill>
                  <a:srgbClr val="404040"/>
                </a:solidFill>
                <a:latin typeface="Arial"/>
                <a:ea typeface="Microsoft YaHei"/>
                <a:cs typeface="Arial"/>
              </a:rPr>
              <a:t>基准技能：同一测试集上对比持续性等简单预测。</a:t>
            </a:r>
          </a:p>
        </p:txBody>
      </p:sp>
      <p:sp>
        <p:nvSpPr>
          <p:cNvPr id="24" name="淘宝-想搞设计PPT(倒卖必究)-24"/>
          <p:cNvSpPr/>
          <p:nvPr/>
        </p:nvSpPr>
        <p:spPr>
          <a:xfrm>
            <a:off x="1602581" y="4232529"/>
            <a:ext cx="9720453" cy="276987"/>
          </a:xfrm>
          <a:prstGeom prst="rect">
            <a:avLst/>
          </a:prstGeom>
          <a:noFill/>
          <a:ln>
            <a:noFill/>
          </a:ln>
        </p:spPr>
        <p:txBody>
          <a:bodyPr wrap="none" lIns="0" tIns="-12685" rIns="0" bIns="0" anchor="t" anchorCtr="0">
            <a:noAutofit/>
          </a:bodyPr>
          <a:lstStyle/>
          <a:p>
            <a:pPr algn="l"/>
            <a:r>
              <a:rPr lang="zh-CN" sz="1950" b="1" dirty="0">
                <a:solidFill>
                  <a:srgbClr val="404040"/>
                </a:solidFill>
                <a:latin typeface="Arial"/>
                <a:ea typeface="Microsoft YaHei"/>
                <a:cs typeface="Arial"/>
              </a:rPr>
              <a:t>窗口电量：同时评价累计 kWh 偏差与关键突降事件。</a:t>
            </a:r>
          </a:p>
        </p:txBody>
      </p:sp>
      <p:sp>
        <p:nvSpPr>
          <p:cNvPr id="25" name="淘宝-想搞设计PPT(倒卖必究)-25"/>
          <p:cNvSpPr/>
          <p:nvPr/>
        </p:nvSpPr>
        <p:spPr>
          <a:xfrm>
            <a:off x="1602581" y="5197316"/>
            <a:ext cx="9720453" cy="276987"/>
          </a:xfrm>
          <a:prstGeom prst="rect">
            <a:avLst/>
          </a:prstGeom>
          <a:noFill/>
          <a:ln>
            <a:noFill/>
          </a:ln>
        </p:spPr>
        <p:txBody>
          <a:bodyPr wrap="none" lIns="0" tIns="-12740" rIns="0" bIns="0" anchor="t" anchorCtr="0">
            <a:noAutofit/>
          </a:bodyPr>
          <a:lstStyle/>
          <a:p>
            <a:pPr algn="l"/>
            <a:r>
              <a:rPr lang="zh-CN" sz="1950" b="1" dirty="0">
                <a:solidFill>
                  <a:srgbClr val="404040"/>
                </a:solidFill>
                <a:latin typeface="Arial"/>
                <a:ea typeface="Microsoft YaHei"/>
                <a:cs typeface="Arial"/>
              </a:rPr>
              <a:t>风险与价值：区间校准、购电费用、弃光与SOC约束。</a:t>
            </a:r>
          </a:p>
        </p:txBody>
      </p:sp>
      <p:grpSp>
        <p:nvGrpSpPr>
          <p:cNvPr id="44" name="Picture 36"/>
          <p:cNvGrpSpPr/>
          <p:nvPr/>
        </p:nvGrpSpPr>
        <p:grpSpPr>
          <a:xfrm>
            <a:off x="356044" y="158210"/>
            <a:ext cx="2011870" cy="617220"/>
            <a:chOff x="356044" y="158210"/>
            <a:chExt cx="2011870" cy="617220"/>
          </a:xfrm>
        </p:grpSpPr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6044" y="158210"/>
              <a:ext cx="2011870" cy="617220"/>
            </a:xfrm>
            <a:prstGeom prst="rect">
              <a:avLst/>
            </a:prstGeom>
          </p:spPr>
        </p:pic>
      </p:grpSp>
      <p:grpSp>
        <p:nvGrpSpPr>
          <p:cNvPr id="46" name="source-citation"/>
          <p:cNvGrpSpPr/>
          <p:nvPr/>
        </p:nvGrpSpPr>
        <p:grpSpPr>
          <a:xfrm>
            <a:off x="422529" y="6315075"/>
            <a:ext cx="3749345" cy="234696"/>
            <a:chOff x="422529" y="6315075"/>
            <a:chExt cx="3749345" cy="234696"/>
          </a:xfrm>
        </p:grpSpPr>
        <p:sp>
          <p:nvSpPr>
            <p:cNvPr id="45" name="TextBox 45"/>
            <p:cNvSpPr txBox="1"/>
            <p:nvPr/>
          </p:nvSpPr>
          <p:spPr>
            <a:xfrm>
              <a:off x="422529" y="6315075"/>
              <a:ext cx="37493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依据原文 [4,15,16,19,20] · 文献编号与Word一致</a:t>
              </a:r>
            </a:p>
          </p:txBody>
        </p:sp>
      </p:grpSp>
    </p:spTree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淘宝-想搞设计PPT(倒卖必究)-26"/>
          <p:cNvSpPr/>
          <p:nvPr/>
        </p:nvSpPr>
        <p:spPr>
          <a:xfrm>
            <a:off x="695325" y="2680240"/>
            <a:ext cx="10801350" cy="3780949"/>
          </a:xfrm>
          <a:prstGeom prst="rect">
            <a:avLst/>
          </a:prstGeom>
          <a:gradFill>
            <a:gsLst>
              <a:gs pos="0">
                <a:srgbClr val="12469E">
                  <a:lumMod val="23000"/>
                  <a:lumOff val="77000"/>
                  <a:alpha val="42000"/>
                </a:srgbClr>
              </a:gs>
              <a:gs pos="100000">
                <a:srgbClr val="12469E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 rot="0" spcFirstLastPara="0" vert="horz" wrap="square" lIns="90000" tIns="46800" rIns="90000" bIns="46800" numCol="1" spcCol="0" rtlCol="0" fromWordArt="0" anchor="t" anchorCtr="0" forceAA="0" compatLnSpc="1">
            <a:normAutofit/>
          </a:bodyPr>
          <a:lstStyle/>
          <a:p>
            <a:pPr marL="171450" marR="0" lvl="0" indent="-1714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27965" algn="l"/>
              </a:tabLst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淘宝-想搞设计PPT(倒卖必究)-23"/>
          <p:cNvSpPr/>
          <p:nvPr/>
        </p:nvSpPr>
        <p:spPr>
          <a:xfrm>
            <a:off x="0" y="0"/>
            <a:ext cx="12192000" cy="79200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55600" dist="190500" dir="5400000" algn="ctr" rotWithShape="0">
              <a:srgbClr val="000000">
                <a:alpha val="825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淘宝-想搞设计PPT(倒卖必究)-19"/>
          <p:cNvSpPr/>
          <p:nvPr>
            <p:ph type="dt" idx="4294967295" sz="half"/>
          </p:nvPr>
        </p:nvSpPr>
        <p:spPr>
          <a:xfrm>
            <a:off x="838200" y="6464332"/>
            <a:ext cx="2743200" cy="3650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淘宝-想搞设计PPT(倒卖必究)-18"/>
          <p:cNvSpPr/>
          <p:nvPr>
            <p:ph type="ftr" idx="4294967295" sz="quarter"/>
          </p:nvPr>
        </p:nvSpPr>
        <p:spPr>
          <a:xfrm>
            <a:off x="4038600" y="6464332"/>
            <a:ext cx="4114800" cy="3650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淘宝-想搞设计PPT(倒卖必究)-14"/>
          <p:cNvSpPr/>
          <p:nvPr>
            <p:ph type="sldNum" idx="4294967295" sz="quarter"/>
          </p:nvPr>
        </p:nvSpPr>
        <p:spPr>
          <a:xfrm>
            <a:off x="9366218" y="6464332"/>
            <a:ext cx="27432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106331" rIns="91440" bIns="0" anchor="t" anchorCtr="0">
            <a:noAutofit/>
          </a:bodyPr>
          <a:lstStyle/>
          <a:p>
            <a:pPr algn="r"/>
            <a:r>
              <a:rPr lang="zh-CN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3" name="淘宝-想搞设计PPT(倒卖必究)-13"/>
          <p:cNvSpPr/>
          <p:nvPr/>
        </p:nvSpPr>
        <p:spPr>
          <a:xfrm>
            <a:off x="344519" y="1046893"/>
            <a:ext cx="11144250" cy="514350"/>
          </a:xfrm>
          <a:prstGeom prst="rect">
            <a:avLst/>
          </a:prstGeom>
          <a:noFill/>
          <a:ln>
            <a:noFill/>
          </a:ln>
        </p:spPr>
        <p:txBody>
          <a:bodyPr wrap="none" lIns="91440" tIns="42653" rIns="0" bIns="0" anchor="t" anchorCtr="0">
            <a:no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SHAP解释范围由输出目标决定</a:t>
            </a:r>
          </a:p>
        </p:txBody>
      </p:sp>
      <p:cxnSp>
        <p:nvCxnSpPr>
          <p:cNvPr id="12" name="淘宝-想搞设计PPT(倒卖必究)-12"/>
          <p:cNvCxnSpPr/>
          <p:nvPr/>
        </p:nvCxnSpPr>
        <p:spPr>
          <a:xfrm>
            <a:off x="425768" y="1508474"/>
            <a:ext cx="1836039" cy="0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3" name="淘宝-想搞设计PPT(倒卖必究)-3"/>
          <p:cNvSpPr/>
          <p:nvPr/>
        </p:nvSpPr>
        <p:spPr>
          <a:xfrm>
            <a:off x="6370415" y="0"/>
            <a:ext cx="1656017" cy="792004"/>
          </a:xfrm>
          <a:prstGeom prst="rect">
            <a:avLst/>
          </a:prstGeom>
          <a:solidFill>
            <a:srgbClr val="113884"/>
          </a:solidFill>
          <a:ln>
            <a:noFill/>
          </a:ln>
        </p:spPr>
      </p:sp>
      <p:cxnSp>
        <p:nvCxnSpPr>
          <p:cNvPr id="4" name="淘宝-想搞设计PPT(倒卖必究)-4"/>
          <p:cNvCxnSpPr/>
          <p:nvPr/>
        </p:nvCxnSpPr>
        <p:spPr>
          <a:xfrm>
            <a:off x="6330506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5" name="淘宝-想搞设计PPT(倒卖必究)-5"/>
          <p:cNvCxnSpPr/>
          <p:nvPr/>
        </p:nvCxnSpPr>
        <p:spPr>
          <a:xfrm>
            <a:off x="8066246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6" name="淘宝-想搞设计PPT(倒卖必究)-6"/>
          <p:cNvCxnSpPr/>
          <p:nvPr/>
        </p:nvCxnSpPr>
        <p:spPr>
          <a:xfrm>
            <a:off x="9802082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7" name="淘宝-想搞设计PPT(倒卖必究)-7"/>
          <p:cNvSpPr/>
          <p:nvPr/>
        </p:nvSpPr>
        <p:spPr>
          <a:xfrm>
            <a:off x="3147155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需求边界</a:t>
            </a:r>
          </a:p>
        </p:txBody>
      </p:sp>
      <p:sp>
        <p:nvSpPr>
          <p:cNvPr id="8" name="淘宝-想搞设计PPT(倒卖必究)-8"/>
          <p:cNvSpPr/>
          <p:nvPr/>
        </p:nvSpPr>
        <p:spPr>
          <a:xfrm>
            <a:off x="4882896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研究现状</a:t>
            </a:r>
          </a:p>
        </p:txBody>
      </p:sp>
      <p:sp>
        <p:nvSpPr>
          <p:cNvPr id="9" name="淘宝-想搞设计PPT(倒卖必究)-9"/>
          <p:cNvSpPr/>
          <p:nvPr/>
        </p:nvSpPr>
        <p:spPr>
          <a:xfrm>
            <a:off x="6375082" y="211360"/>
            <a:ext cx="1646587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评价方法</a:t>
            </a:r>
          </a:p>
        </p:txBody>
      </p:sp>
      <p:sp>
        <p:nvSpPr>
          <p:cNvPr id="10" name="淘宝-想搞设计PPT(倒卖必究)-10"/>
          <p:cNvSpPr/>
          <p:nvPr/>
        </p:nvSpPr>
        <p:spPr>
          <a:xfrm>
            <a:off x="8354473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研究空白</a:t>
            </a:r>
          </a:p>
        </p:txBody>
      </p:sp>
      <p:sp>
        <p:nvSpPr>
          <p:cNvPr id="11" name="淘宝-想搞设计PPT(倒卖必究)-11"/>
          <p:cNvSpPr/>
          <p:nvPr/>
        </p:nvSpPr>
        <p:spPr>
          <a:xfrm>
            <a:off x="10090309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研究主线</a:t>
            </a:r>
          </a:p>
        </p:txBody>
      </p:sp>
      <p:sp>
        <p:nvSpPr>
          <p:cNvPr id="16" name="淘宝-想搞设计PPT(倒卖必究)-16"/>
          <p:cNvSpPr/>
          <p:nvPr/>
        </p:nvSpPr>
        <p:spPr>
          <a:xfrm>
            <a:off x="695325" y="1965579"/>
            <a:ext cx="10801350" cy="719995"/>
          </a:xfrm>
          <a:prstGeom prst="rect">
            <a:avLst/>
          </a:prstGeom>
          <a:solidFill>
            <a:srgbClr val="113884"/>
          </a:solidFill>
          <a:ln w="12700" cap="flat">
            <a:solidFill>
              <a:srgbClr val="113884"/>
            </a:solidFill>
          </a:ln>
        </p:spPr>
        <p:txBody>
          <a:bodyPr wrap="none" lIns="0" tIns="197457" rIns="0" bIns="0" anchor="t" anchorCtr="0">
            <a:no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16步平均输出，只解释4小时平均预测</a:t>
            </a:r>
          </a:p>
        </p:txBody>
      </p:sp>
      <p:sp>
        <p:nvSpPr>
          <p:cNvPr id="17" name="淘宝-想搞设计PPT(倒卖必究)-17"/>
          <p:cNvSpPr/>
          <p:nvPr/>
        </p:nvSpPr>
        <p:spPr>
          <a:xfrm>
            <a:off x="1043369" y="2955036"/>
            <a:ext cx="10105263" cy="2118550"/>
          </a:xfrm>
          <a:prstGeom prst="rect">
            <a:avLst/>
          </a:prstGeom>
          <a:noFill/>
          <a:ln>
            <a:noFill/>
          </a:ln>
        </p:spPr>
        <p:txBody>
          <a:bodyPr wrap="none" lIns="91440" tIns="58439" rIns="0" bIns="0" anchor="t" anchorCtr="0">
            <a:noAutofit/>
          </a:bodyPr>
          <a:lstStyle/>
          <a:p>
            <a:pPr algn="l">
              <a:lnSpc>
                <a:spcPts val="3120"/>
              </a:lnSpc>
            </a:pPr>
            <a: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15分钟间隔 × 16个未来点 = 4小时。</a:t>
            </a:r>
            <a:b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</a:br>
            <a: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解释该平均值，不能代表每个未来步或18小时预测全程。</a:t>
            </a:r>
            <a:b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</a:br>
            <a: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全局排序依赖模型、样本与目标；相关变量可能共享贡献。</a:t>
            </a:r>
            <a:b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</a:br>
            <a: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应按预测步、时距和天气分层解释。</a:t>
            </a:r>
          </a:p>
        </p:txBody>
      </p:sp>
      <p:grpSp>
        <p:nvGrpSpPr>
          <p:cNvPr id="31" name="Picture 26"/>
          <p:cNvGrpSpPr/>
          <p:nvPr/>
        </p:nvGrpSpPr>
        <p:grpSpPr>
          <a:xfrm>
            <a:off x="356044" y="158210"/>
            <a:ext cx="2011870" cy="617220"/>
            <a:chOff x="356044" y="158210"/>
            <a:chExt cx="2011870" cy="617220"/>
          </a:xfrm>
        </p:grpSpPr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6044" y="158210"/>
              <a:ext cx="2011870" cy="617220"/>
            </a:xfrm>
            <a:prstGeom prst="rect">
              <a:avLst/>
            </a:prstGeom>
          </p:spPr>
        </p:pic>
      </p:grpSp>
      <p:grpSp>
        <p:nvGrpSpPr>
          <p:cNvPr id="33" name="source-citation"/>
          <p:cNvGrpSpPr/>
          <p:nvPr/>
        </p:nvGrpSpPr>
        <p:grpSpPr>
          <a:xfrm>
            <a:off x="422529" y="6315075"/>
            <a:ext cx="3038551" cy="234696"/>
            <a:chOff x="422529" y="6315075"/>
            <a:chExt cx="3038551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422529" y="6315075"/>
              <a:ext cx="30385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依据原文 [12–14] · 文献编号与Word一致</a:t>
              </a:r>
            </a:p>
          </p:txBody>
        </p:sp>
      </p:grpSp>
    </p:spTree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淘宝-想搞设计PPT(倒卖必究)-17"/>
          <p:cNvSpPr/>
          <p:nvPr/>
        </p:nvSpPr>
        <p:spPr>
          <a:xfrm>
            <a:off x="0" y="0"/>
            <a:ext cx="12192000" cy="79200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55600" dist="190500" dir="5400000" algn="ctr" rotWithShape="0">
              <a:srgbClr val="000000">
                <a:alpha val="825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cxnSp>
        <p:nvCxnSpPr>
          <p:cNvPr id="3" name="淘宝-想搞设计PPT(倒卖必究)-3"/>
          <p:cNvCxnSpPr/>
          <p:nvPr/>
        </p:nvCxnSpPr>
        <p:spPr>
          <a:xfrm>
            <a:off x="2858929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4" name="淘宝-想搞设计PPT(倒卖必究)-4"/>
          <p:cNvCxnSpPr/>
          <p:nvPr/>
        </p:nvCxnSpPr>
        <p:spPr>
          <a:xfrm>
            <a:off x="8066246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5" name="淘宝-想搞设计PPT(倒卖必究)-5"/>
          <p:cNvCxnSpPr/>
          <p:nvPr/>
        </p:nvCxnSpPr>
        <p:spPr>
          <a:xfrm>
            <a:off x="9802082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6" name="淘宝-想搞设计PPT(倒卖必究)-6"/>
          <p:cNvSpPr/>
          <p:nvPr/>
        </p:nvSpPr>
        <p:spPr>
          <a:xfrm>
            <a:off x="3147155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需求边界</a:t>
            </a:r>
          </a:p>
        </p:txBody>
      </p:sp>
      <p:sp>
        <p:nvSpPr>
          <p:cNvPr id="7" name="淘宝-想搞设计PPT(倒卖必究)-7"/>
          <p:cNvSpPr/>
          <p:nvPr/>
        </p:nvSpPr>
        <p:spPr>
          <a:xfrm>
            <a:off x="6375082" y="211360"/>
            <a:ext cx="1646587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评价方法</a:t>
            </a:r>
          </a:p>
        </p:txBody>
      </p:sp>
      <p:sp>
        <p:nvSpPr>
          <p:cNvPr id="8" name="淘宝-想搞设计PPT(倒卖必究)-8"/>
          <p:cNvSpPr/>
          <p:nvPr/>
        </p:nvSpPr>
        <p:spPr>
          <a:xfrm>
            <a:off x="8354473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研究空白</a:t>
            </a:r>
          </a:p>
        </p:txBody>
      </p:sp>
      <p:sp>
        <p:nvSpPr>
          <p:cNvPr id="9" name="淘宝-想搞设计PPT(倒卖必究)-9"/>
          <p:cNvSpPr/>
          <p:nvPr/>
        </p:nvSpPr>
        <p:spPr>
          <a:xfrm>
            <a:off x="10090309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研究主线</a:t>
            </a:r>
          </a:p>
        </p:txBody>
      </p:sp>
      <p:sp>
        <p:nvSpPr>
          <p:cNvPr id="10" name="淘宝-想搞设计PPT(倒卖必究)-10"/>
          <p:cNvSpPr/>
          <p:nvPr/>
        </p:nvSpPr>
        <p:spPr>
          <a:xfrm>
            <a:off x="6370415" y="0"/>
            <a:ext cx="1656017" cy="792004"/>
          </a:xfrm>
          <a:prstGeom prst="rect">
            <a:avLst/>
          </a:prstGeom>
          <a:solidFill>
            <a:srgbClr val="113884"/>
          </a:solidFill>
          <a:ln>
            <a:noFill/>
          </a:ln>
        </p:spPr>
      </p:sp>
      <p:sp>
        <p:nvSpPr>
          <p:cNvPr id="11" name="淘宝-想搞设计PPT(倒卖必究)-11"/>
          <p:cNvSpPr/>
          <p:nvPr/>
        </p:nvSpPr>
        <p:spPr>
          <a:xfrm>
            <a:off x="4882896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研究现状</a:t>
            </a:r>
          </a:p>
        </p:txBody>
      </p:sp>
      <p:sp>
        <p:nvSpPr>
          <p:cNvPr id="25" name="淘宝-想搞设计PPT(倒卖必究)-25"/>
          <p:cNvSpPr/>
          <p:nvPr/>
        </p:nvSpPr>
        <p:spPr>
          <a:xfrm>
            <a:off x="421862" y="2480596"/>
            <a:ext cx="2841974" cy="2841974"/>
          </a:xfrm>
          <a:prstGeom prst="ellipse">
            <a:avLst/>
          </a:prstGeom>
          <a:solidFill>
            <a:srgbClr val="113884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6" name="淘宝-想搞设计PPT(倒卖必究)-26"/>
          <p:cNvSpPr/>
          <p:nvPr/>
        </p:nvSpPr>
        <p:spPr>
          <a:xfrm>
            <a:off x="555784" y="2614517"/>
            <a:ext cx="2574131" cy="2574131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wrap="none" lIns="95" tIns="1068659" rIns="0" bIns="0" anchor="t" anchorCtr="0">
            <a:noAutofit/>
          </a:bodyPr>
          <a:lstStyle/>
          <a:p>
            <a:pPr algn="ctr">
              <a:lnSpc>
                <a:spcPts val="3840"/>
              </a:lnSpc>
            </a:pPr>
            <a:r>
              <a:rPr lang="zh-CN" sz="2400" b="1" dirty="0">
                <a:solidFill>
                  <a:srgbClr val="113884"/>
                </a:solidFill>
                <a:latin typeface="Arial"/>
                <a:ea typeface="Microsoft YaHei"/>
                <a:cs typeface="Arial"/>
              </a:rPr>
              <a:t>归因提出假设</a:t>
            </a:r>
            <a:br>
              <a:rPr lang="zh-CN" sz="2400" b="1" dirty="0">
                <a:solidFill>
                  <a:srgbClr val="113884"/>
                </a:solidFill>
                <a:latin typeface="Arial"/>
                <a:ea typeface="Microsoft YaHei"/>
                <a:cs typeface="Arial"/>
              </a:rPr>
            </a:br>
            <a:r>
              <a:rPr lang="zh-CN" sz="2400" b="1" dirty="0">
                <a:solidFill>
                  <a:srgbClr val="113884"/>
                </a:solidFill>
                <a:latin typeface="Arial"/>
                <a:ea typeface="Microsoft YaHei"/>
                <a:cs typeface="Arial"/>
              </a:rPr>
              <a:t>消融检验增益</a:t>
            </a:r>
          </a:p>
        </p:txBody>
      </p:sp>
      <p:sp>
        <p:nvSpPr>
          <p:cNvPr id="27" name="淘宝-想搞设计PPT(倒卖必究)-27"/>
          <p:cNvSpPr/>
          <p:nvPr/>
        </p:nvSpPr>
        <p:spPr>
          <a:xfrm>
            <a:off x="3540919" y="1842897"/>
            <a:ext cx="538544" cy="4117467"/>
          </a:xfrm>
          <a:custGeom>
            <a:avLst/>
            <a:gdLst/>
            <a:ahLst/>
            <a:cxnLst/>
            <a:rect l="l" t="t" r="r" b="b"/>
            <a:pathLst>
              <a:path w="538544" h="4117467">
                <a:moveTo>
                  <a:pt x="538544" y="56198"/>
                </a:moveTo>
                <a:lnTo>
                  <a:pt x="538544" y="0"/>
                </a:lnTo>
                <a:cubicBezTo>
                  <a:pt x="497396" y="16478"/>
                  <a:pt x="461486" y="32195"/>
                  <a:pt x="430625" y="48673"/>
                </a:cubicBezTo>
                <a:cubicBezTo>
                  <a:pt x="399669" y="65056"/>
                  <a:pt x="369951" y="90488"/>
                  <a:pt x="340995" y="124682"/>
                </a:cubicBezTo>
                <a:cubicBezTo>
                  <a:pt x="312039" y="158306"/>
                  <a:pt x="286036" y="200787"/>
                  <a:pt x="262795" y="251460"/>
                </a:cubicBezTo>
                <a:cubicBezTo>
                  <a:pt x="239554" y="303562"/>
                  <a:pt x="222028" y="355664"/>
                  <a:pt x="209360" y="409099"/>
                </a:cubicBezTo>
                <a:cubicBezTo>
                  <a:pt x="197549" y="462534"/>
                  <a:pt x="188785" y="520065"/>
                  <a:pt x="181928" y="581025"/>
                </a:cubicBezTo>
                <a:cubicBezTo>
                  <a:pt x="175451" y="642080"/>
                  <a:pt x="171260" y="709898"/>
                  <a:pt x="170117" y="781812"/>
                </a:cubicBezTo>
                <a:cubicBezTo>
                  <a:pt x="168593" y="855154"/>
                  <a:pt x="172784" y="937355"/>
                  <a:pt x="183452" y="1027843"/>
                </a:cubicBezTo>
                <a:lnTo>
                  <a:pt x="212027" y="1254633"/>
                </a:lnTo>
                <a:cubicBezTo>
                  <a:pt x="220504" y="1329976"/>
                  <a:pt x="223552" y="1408081"/>
                  <a:pt x="222790" y="1491044"/>
                </a:cubicBezTo>
                <a:cubicBezTo>
                  <a:pt x="222790" y="1581436"/>
                  <a:pt x="217742" y="1656112"/>
                  <a:pt x="207074" y="1714405"/>
                </a:cubicBezTo>
                <a:cubicBezTo>
                  <a:pt x="196787" y="1772602"/>
                  <a:pt x="185357" y="1815084"/>
                  <a:pt x="172022" y="1841182"/>
                </a:cubicBezTo>
                <a:cubicBezTo>
                  <a:pt x="159449" y="1866519"/>
                  <a:pt x="140399" y="1895951"/>
                  <a:pt x="115157" y="1928908"/>
                </a:cubicBezTo>
                <a:cubicBezTo>
                  <a:pt x="90011" y="1961102"/>
                  <a:pt x="72866" y="1978247"/>
                  <a:pt x="64103" y="1979581"/>
                </a:cubicBezTo>
                <a:lnTo>
                  <a:pt x="0" y="2000822"/>
                </a:lnTo>
                <a:lnTo>
                  <a:pt x="0" y="2109788"/>
                </a:lnTo>
                <a:cubicBezTo>
                  <a:pt x="43529" y="2128266"/>
                  <a:pt x="75914" y="2147411"/>
                  <a:pt x="97631" y="2167985"/>
                </a:cubicBezTo>
                <a:cubicBezTo>
                  <a:pt x="119348" y="2187892"/>
                  <a:pt x="139256" y="2217325"/>
                  <a:pt x="157544" y="2255044"/>
                </a:cubicBezTo>
                <a:cubicBezTo>
                  <a:pt x="175451" y="2293430"/>
                  <a:pt x="190691" y="2342769"/>
                  <a:pt x="202883" y="2403729"/>
                </a:cubicBezTo>
                <a:cubicBezTo>
                  <a:pt x="215456" y="2464022"/>
                  <a:pt x="222409" y="2531840"/>
                  <a:pt x="223552" y="2606516"/>
                </a:cubicBezTo>
                <a:cubicBezTo>
                  <a:pt x="224695" y="2681954"/>
                  <a:pt x="222028" y="2770346"/>
                  <a:pt x="214312" y="2873121"/>
                </a:cubicBezTo>
                <a:cubicBezTo>
                  <a:pt x="210503" y="2943701"/>
                  <a:pt x="205931" y="3003328"/>
                  <a:pt x="201359" y="3050572"/>
                </a:cubicBezTo>
                <a:lnTo>
                  <a:pt x="181928" y="3256121"/>
                </a:lnTo>
                <a:cubicBezTo>
                  <a:pt x="176975" y="3326702"/>
                  <a:pt x="175832" y="3393853"/>
                  <a:pt x="178499" y="3457575"/>
                </a:cubicBezTo>
                <a:cubicBezTo>
                  <a:pt x="181547" y="3528822"/>
                  <a:pt x="188024" y="3594640"/>
                  <a:pt x="197930" y="3652838"/>
                </a:cubicBezTo>
                <a:cubicBezTo>
                  <a:pt x="208217" y="3711130"/>
                  <a:pt x="221266" y="3762470"/>
                  <a:pt x="236506" y="3804952"/>
                </a:cubicBezTo>
                <a:cubicBezTo>
                  <a:pt x="251365" y="3848862"/>
                  <a:pt x="270796" y="3890677"/>
                  <a:pt x="294799" y="3931063"/>
                </a:cubicBezTo>
                <a:cubicBezTo>
                  <a:pt x="318135" y="3971449"/>
                  <a:pt x="341376" y="4003643"/>
                  <a:pt x="363855" y="4028313"/>
                </a:cubicBezTo>
                <a:lnTo>
                  <a:pt x="420338" y="4088702"/>
                </a:lnTo>
                <a:cubicBezTo>
                  <a:pt x="436340" y="4109180"/>
                  <a:pt x="448913" y="4117467"/>
                  <a:pt x="457676" y="4114705"/>
                </a:cubicBezTo>
                <a:cubicBezTo>
                  <a:pt x="466439" y="4111942"/>
                  <a:pt x="471773" y="4104418"/>
                  <a:pt x="473297" y="4092797"/>
                </a:cubicBezTo>
                <a:cubicBezTo>
                  <a:pt x="475202" y="4079748"/>
                  <a:pt x="470249" y="4064698"/>
                  <a:pt x="459200" y="4046220"/>
                </a:cubicBezTo>
                <a:cubicBezTo>
                  <a:pt x="455009" y="4040029"/>
                  <a:pt x="443579" y="4024884"/>
                  <a:pt x="424148" y="4001643"/>
                </a:cubicBezTo>
                <a:cubicBezTo>
                  <a:pt x="404717" y="3976973"/>
                  <a:pt x="386334" y="3946779"/>
                  <a:pt x="368808" y="3909155"/>
                </a:cubicBezTo>
                <a:cubicBezTo>
                  <a:pt x="350901" y="3871436"/>
                  <a:pt x="335661" y="3828288"/>
                  <a:pt x="323469" y="3776853"/>
                </a:cubicBezTo>
                <a:cubicBezTo>
                  <a:pt x="311277" y="3726847"/>
                  <a:pt x="303181" y="3681603"/>
                  <a:pt x="300133" y="3641884"/>
                </a:cubicBezTo>
                <a:cubicBezTo>
                  <a:pt x="296704" y="3602831"/>
                  <a:pt x="295180" y="3557588"/>
                  <a:pt x="295180" y="3509010"/>
                </a:cubicBezTo>
                <a:cubicBezTo>
                  <a:pt x="295942" y="3465766"/>
                  <a:pt x="298609" y="3398615"/>
                  <a:pt x="302800" y="3306128"/>
                </a:cubicBezTo>
                <a:cubicBezTo>
                  <a:pt x="307372" y="3213640"/>
                  <a:pt x="311658" y="3119723"/>
                  <a:pt x="315849" y="3025235"/>
                </a:cubicBezTo>
                <a:cubicBezTo>
                  <a:pt x="319659" y="2930652"/>
                  <a:pt x="320421" y="2847784"/>
                  <a:pt x="318135" y="2773775"/>
                </a:cubicBezTo>
                <a:cubicBezTo>
                  <a:pt x="315849" y="2677097"/>
                  <a:pt x="308515" y="2598325"/>
                  <a:pt x="297466" y="2538032"/>
                </a:cubicBezTo>
                <a:cubicBezTo>
                  <a:pt x="286417" y="2477738"/>
                  <a:pt x="268510" y="2410587"/>
                  <a:pt x="244126" y="2337911"/>
                </a:cubicBezTo>
                <a:cubicBezTo>
                  <a:pt x="219361" y="2264664"/>
                  <a:pt x="197930" y="2219420"/>
                  <a:pt x="179642" y="2202942"/>
                </a:cubicBezTo>
                <a:lnTo>
                  <a:pt x="53054" y="2063877"/>
                </a:lnTo>
                <a:cubicBezTo>
                  <a:pt x="90773" y="2027587"/>
                  <a:pt x="121253" y="1997393"/>
                  <a:pt x="144209" y="1973390"/>
                </a:cubicBezTo>
                <a:cubicBezTo>
                  <a:pt x="166688" y="1948720"/>
                  <a:pt x="186119" y="1922716"/>
                  <a:pt x="201359" y="1895951"/>
                </a:cubicBezTo>
                <a:cubicBezTo>
                  <a:pt x="216599" y="1869948"/>
                  <a:pt x="234982" y="1823371"/>
                  <a:pt x="256699" y="1756886"/>
                </a:cubicBezTo>
                <a:cubicBezTo>
                  <a:pt x="278035" y="1690402"/>
                  <a:pt x="294799" y="1625346"/>
                  <a:pt x="305467" y="1561624"/>
                </a:cubicBezTo>
                <a:cubicBezTo>
                  <a:pt x="316611" y="1498568"/>
                  <a:pt x="323088" y="1428655"/>
                  <a:pt x="325755" y="1351883"/>
                </a:cubicBezTo>
                <a:cubicBezTo>
                  <a:pt x="328803" y="1275874"/>
                  <a:pt x="328041" y="1201198"/>
                  <a:pt x="324231" y="1129189"/>
                </a:cubicBezTo>
                <a:cubicBezTo>
                  <a:pt x="322707" y="1090898"/>
                  <a:pt x="317373" y="1012698"/>
                  <a:pt x="307753" y="896302"/>
                </a:cubicBezTo>
                <a:cubicBezTo>
                  <a:pt x="298609" y="780479"/>
                  <a:pt x="293275" y="687991"/>
                  <a:pt x="292132" y="619411"/>
                </a:cubicBezTo>
                <a:cubicBezTo>
                  <a:pt x="290989" y="551593"/>
                  <a:pt x="294037" y="491966"/>
                  <a:pt x="302419" y="441293"/>
                </a:cubicBezTo>
                <a:cubicBezTo>
                  <a:pt x="308515" y="403574"/>
                  <a:pt x="321564" y="357664"/>
                  <a:pt x="340233" y="302228"/>
                </a:cubicBezTo>
                <a:cubicBezTo>
                  <a:pt x="359283" y="246698"/>
                  <a:pt x="381762" y="200787"/>
                  <a:pt x="408527" y="164497"/>
                </a:cubicBezTo>
                <a:cubicBezTo>
                  <a:pt x="434816" y="128111"/>
                  <a:pt x="459200" y="104108"/>
                  <a:pt x="480536" y="90488"/>
                </a:cubicBezTo>
                <a:lnTo>
                  <a:pt x="538544" y="56198"/>
                </a:lnTo>
                <a:close/>
              </a:path>
            </a:pathLst>
          </a:custGeom>
          <a:solidFill>
            <a:srgbClr val="11388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9" name="淘宝-想搞设计PPT(倒卖必究)-29"/>
          <p:cNvSpPr/>
          <p:nvPr/>
        </p:nvSpPr>
        <p:spPr>
          <a:xfrm>
            <a:off x="4315873" y="1842897"/>
            <a:ext cx="5715000" cy="400145"/>
          </a:xfrm>
          <a:prstGeom prst="rect">
            <a:avLst/>
          </a:prstGeom>
          <a:noFill/>
          <a:ln>
            <a:noFill/>
          </a:ln>
        </p:spPr>
        <p:txBody>
          <a:bodyPr wrap="none" lIns="91440" tIns="45723" rIns="0" bIns="0" anchor="t" anchorCtr="0">
            <a:noAutofit/>
          </a:bodyPr>
          <a:lstStyle/>
          <a:p>
            <a:pPr algn="l"/>
            <a:r>
              <a:rPr lang="zh-CN" sz="2020" b="1" dirty="0">
                <a:solidFill>
                  <a:srgbClr val="113884"/>
                </a:solidFill>
                <a:latin typeface="Arial"/>
                <a:ea typeface="Microsoft YaHei"/>
                <a:cs typeface="Arial"/>
              </a:rPr>
              <a:t>分层解释</a:t>
            </a:r>
          </a:p>
        </p:txBody>
      </p:sp>
      <p:sp>
        <p:nvSpPr>
          <p:cNvPr id="30" name="淘宝-想搞设计PPT(倒卖必究)-30"/>
          <p:cNvSpPr/>
          <p:nvPr/>
        </p:nvSpPr>
        <p:spPr>
          <a:xfrm>
            <a:off x="4315873" y="2209800"/>
            <a:ext cx="7289864" cy="656082"/>
          </a:xfrm>
          <a:prstGeom prst="rect">
            <a:avLst/>
          </a:prstGeom>
          <a:noFill/>
          <a:ln>
            <a:noFill/>
          </a:ln>
        </p:spPr>
        <p:txBody>
          <a:bodyPr wrap="none" lIns="91440" tIns="58396" rIns="0" bIns="0" anchor="t" anchorCtr="0">
            <a:noAutofit/>
          </a:bodyPr>
          <a:lstStyle/>
          <a:p>
            <a:pPr algn="l"/>
            <a:r>
              <a:rPr lang="zh-CN" sz="165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按未来步、天气和季节计算SHAP，观察依赖变化。</a:t>
            </a:r>
          </a:p>
        </p:txBody>
      </p:sp>
      <p:sp>
        <p:nvSpPr>
          <p:cNvPr id="32" name="淘宝-想搞设计PPT(倒卖必究)-32"/>
          <p:cNvSpPr/>
          <p:nvPr/>
        </p:nvSpPr>
        <p:spPr>
          <a:xfrm>
            <a:off x="4315873" y="5198936"/>
            <a:ext cx="5715000" cy="400145"/>
          </a:xfrm>
          <a:prstGeom prst="rect">
            <a:avLst/>
          </a:prstGeom>
          <a:noFill/>
          <a:ln>
            <a:noFill/>
          </a:ln>
        </p:spPr>
        <p:txBody>
          <a:bodyPr wrap="none" lIns="91440" tIns="45698" rIns="0" bIns="0" anchor="t" anchorCtr="0">
            <a:noAutofit/>
          </a:bodyPr>
          <a:lstStyle/>
          <a:p>
            <a:pPr algn="l"/>
            <a:r>
              <a:rPr lang="zh-CN" sz="2020" b="1" dirty="0">
                <a:solidFill>
                  <a:srgbClr val="113884"/>
                </a:solidFill>
                <a:latin typeface="Arial"/>
                <a:ea typeface="Microsoft YaHei"/>
                <a:cs typeface="Arial"/>
              </a:rPr>
              <a:t>固定测试条件</a:t>
            </a:r>
          </a:p>
        </p:txBody>
      </p:sp>
      <p:sp>
        <p:nvSpPr>
          <p:cNvPr id="33" name="淘宝-想搞设计PPT(倒卖必究)-33"/>
          <p:cNvSpPr/>
          <p:nvPr/>
        </p:nvSpPr>
        <p:spPr>
          <a:xfrm>
            <a:off x="4315873" y="5577173"/>
            <a:ext cx="7289864" cy="362807"/>
          </a:xfrm>
          <a:prstGeom prst="rect">
            <a:avLst/>
          </a:prstGeom>
          <a:noFill/>
          <a:ln>
            <a:noFill/>
          </a:ln>
        </p:spPr>
        <p:txBody>
          <a:bodyPr wrap="none" lIns="91440" tIns="58467" rIns="0" bIns="0" anchor="t" anchorCtr="0">
            <a:noAutofit/>
          </a:bodyPr>
          <a:lstStyle/>
          <a:p>
            <a:pPr algn="l"/>
            <a:r>
              <a:rPr lang="zh-CN" sz="165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保持测试期与发布信息一致，判断实际增益是否稳定。</a:t>
            </a:r>
          </a:p>
        </p:txBody>
      </p:sp>
      <p:sp>
        <p:nvSpPr>
          <p:cNvPr id="35" name="淘宝-想搞设计PPT(倒卖必究)-35"/>
          <p:cNvSpPr/>
          <p:nvPr/>
        </p:nvSpPr>
        <p:spPr>
          <a:xfrm>
            <a:off x="4315873" y="3550825"/>
            <a:ext cx="6577489" cy="41814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60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6" name="淘宝-想搞设计PPT(倒卖必究)-36"/>
          <p:cNvSpPr/>
          <p:nvPr/>
        </p:nvSpPr>
        <p:spPr>
          <a:xfrm>
            <a:off x="4315873" y="3526441"/>
            <a:ext cx="5715000" cy="400145"/>
          </a:xfrm>
          <a:prstGeom prst="rect">
            <a:avLst/>
          </a:prstGeom>
          <a:noFill/>
          <a:ln>
            <a:noFill/>
          </a:ln>
        </p:spPr>
        <p:txBody>
          <a:bodyPr wrap="none" lIns="91440" tIns="45680" rIns="0" bIns="0" anchor="t" anchorCtr="0">
            <a:noAutofit/>
          </a:bodyPr>
          <a:lstStyle/>
          <a:p>
            <a:pPr algn="l"/>
            <a:r>
              <a:rPr lang="zh-CN" sz="2020" b="1" dirty="0">
                <a:solidFill>
                  <a:srgbClr val="113884"/>
                </a:solidFill>
                <a:latin typeface="Arial"/>
                <a:ea typeface="Microsoft YaHei"/>
                <a:cs typeface="Arial"/>
              </a:rPr>
              <a:t>输入组消融</a:t>
            </a:r>
          </a:p>
        </p:txBody>
      </p:sp>
      <p:sp>
        <p:nvSpPr>
          <p:cNvPr id="37" name="淘宝-想搞设计PPT(倒卖必究)-37"/>
          <p:cNvSpPr/>
          <p:nvPr/>
        </p:nvSpPr>
        <p:spPr>
          <a:xfrm>
            <a:off x="4315873" y="3882295"/>
            <a:ext cx="7289864" cy="658273"/>
          </a:xfrm>
          <a:prstGeom prst="rect">
            <a:avLst/>
          </a:prstGeom>
          <a:noFill/>
          <a:ln>
            <a:noFill/>
          </a:ln>
        </p:spPr>
        <p:txBody>
          <a:bodyPr wrap="none" lIns="91440" tIns="58414" rIns="0" bIns="0" anchor="t" anchorCtr="0">
            <a:no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分别去除历史功率或气象组，重新训练并比较技能。</a:t>
            </a:r>
          </a:p>
        </p:txBody>
      </p:sp>
      <p:cxnSp>
        <p:nvCxnSpPr>
          <p:cNvPr id="39" name="淘宝-想搞设计PPT(倒卖必究)-39"/>
          <p:cNvCxnSpPr/>
          <p:nvPr/>
        </p:nvCxnSpPr>
        <p:spPr>
          <a:xfrm>
            <a:off x="4409408" y="3190208"/>
            <a:ext cx="7092029" cy="0"/>
          </a:xfrm>
          <a:prstGeom prst="line">
            <a:avLst/>
          </a:prstGeom>
          <a:noFill/>
          <a:ln w="9525">
            <a:solidFill>
              <a:srgbClr val="D9D9D9"/>
            </a:solidFill>
          </a:ln>
        </p:spPr>
      </p:cxnSp>
      <p:cxnSp>
        <p:nvCxnSpPr>
          <p:cNvPr id="40" name="淘宝-想搞设计PPT(倒卖必究)-40"/>
          <p:cNvCxnSpPr/>
          <p:nvPr/>
        </p:nvCxnSpPr>
        <p:spPr>
          <a:xfrm>
            <a:off x="4409408" y="4876800"/>
            <a:ext cx="7092029" cy="0"/>
          </a:xfrm>
          <a:prstGeom prst="line">
            <a:avLst/>
          </a:prstGeom>
          <a:noFill/>
          <a:ln w="9525">
            <a:solidFill>
              <a:srgbClr val="D9D9D9"/>
            </a:solidFill>
          </a:ln>
        </p:spPr>
      </p:cxnSp>
      <p:grpSp>
        <p:nvGrpSpPr>
          <p:cNvPr id="28" name="Picture 40"/>
          <p:cNvGrpSpPr/>
          <p:nvPr/>
        </p:nvGrpSpPr>
        <p:grpSpPr>
          <a:xfrm>
            <a:off x="356044" y="158210"/>
            <a:ext cx="2011870" cy="617220"/>
            <a:chOff x="356044" y="158210"/>
            <a:chExt cx="2011870" cy="617220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6044" y="158210"/>
              <a:ext cx="2011870" cy="617220"/>
            </a:xfrm>
            <a:prstGeom prst="rect">
              <a:avLst/>
            </a:prstGeom>
          </p:spPr>
        </p:pic>
      </p:grpSp>
      <p:grpSp>
        <p:nvGrpSpPr>
          <p:cNvPr id="34" name="core-title"/>
          <p:cNvGrpSpPr/>
          <p:nvPr/>
        </p:nvGrpSpPr>
        <p:grpSpPr>
          <a:xfrm>
            <a:off x="416433" y="1069975"/>
            <a:ext cx="4224528" cy="469392"/>
            <a:chOff x="416433" y="1069975"/>
            <a:chExt cx="4224528" cy="469392"/>
          </a:xfrm>
        </p:grpSpPr>
        <p:sp>
          <p:nvSpPr>
            <p:cNvPr id="31" name="TextBox 31"/>
            <p:cNvSpPr txBox="1"/>
            <p:nvPr/>
          </p:nvSpPr>
          <p:spPr>
            <a:xfrm>
              <a:off x="416433" y="1069975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13884"/>
                  </a:solidFill>
                  <a:latin typeface="Arial"/>
                  <a:ea typeface="Microsoft YaHei"/>
                  <a:cs typeface="Arial"/>
                </a:rPr>
                <a:t>变量增益需要重训练消融验证</a:t>
              </a:r>
            </a:p>
          </p:txBody>
        </p:sp>
      </p:grpSp>
      <p:grpSp>
        <p:nvGrpSpPr>
          <p:cNvPr id="42" name="source-citation"/>
          <p:cNvGrpSpPr/>
          <p:nvPr/>
        </p:nvGrpSpPr>
        <p:grpSpPr>
          <a:xfrm>
            <a:off x="422529" y="6315075"/>
            <a:ext cx="3749345" cy="234696"/>
            <a:chOff x="422529" y="6315075"/>
            <a:chExt cx="3749345" cy="234696"/>
          </a:xfrm>
        </p:grpSpPr>
        <p:sp>
          <p:nvSpPr>
            <p:cNvPr id="38" name="TextBox 38"/>
            <p:cNvSpPr txBox="1"/>
            <p:nvPr/>
          </p:nvSpPr>
          <p:spPr>
            <a:xfrm>
              <a:off x="422529" y="6315075"/>
              <a:ext cx="37493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依据原文 [7,12–14,18,22] · 文献编号与Word一致</a:t>
              </a:r>
            </a:p>
          </p:txBody>
        </p:sp>
      </p:grpSp>
    </p:spTree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淘宝-想搞设计PPT(倒卖必究)-13"/>
          <p:cNvSpPr/>
          <p:nvPr/>
        </p:nvSpPr>
        <p:spPr>
          <a:xfrm>
            <a:off x="0" y="0"/>
            <a:ext cx="12192000" cy="79200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55600" dist="190500" dir="5400000" algn="ctr" rotWithShape="0">
              <a:srgbClr val="000000">
                <a:alpha val="825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cxnSp>
        <p:nvCxnSpPr>
          <p:cNvPr id="12" name="淘宝-想搞设计PPT(倒卖必究)-12"/>
          <p:cNvCxnSpPr/>
          <p:nvPr/>
        </p:nvCxnSpPr>
        <p:spPr>
          <a:xfrm>
            <a:off x="6521768" y="4937474"/>
            <a:ext cx="1836039" cy="0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3" name="淘宝-想搞设计PPT(倒卖必究)-3"/>
          <p:cNvCxnSpPr/>
          <p:nvPr/>
        </p:nvCxnSpPr>
        <p:spPr>
          <a:xfrm>
            <a:off x="4594670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4" name="淘宝-想搞设计PPT(倒卖必究)-4"/>
          <p:cNvCxnSpPr/>
          <p:nvPr/>
        </p:nvCxnSpPr>
        <p:spPr>
          <a:xfrm>
            <a:off x="9802082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5" name="淘宝-想搞设计PPT(倒卖必究)-5"/>
          <p:cNvSpPr/>
          <p:nvPr/>
        </p:nvSpPr>
        <p:spPr>
          <a:xfrm>
            <a:off x="3147155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需求边界</a:t>
            </a:r>
          </a:p>
        </p:txBody>
      </p:sp>
      <p:sp>
        <p:nvSpPr>
          <p:cNvPr id="6" name="淘宝-想搞设计PPT(倒卖必究)-6"/>
          <p:cNvSpPr/>
          <p:nvPr/>
        </p:nvSpPr>
        <p:spPr>
          <a:xfrm>
            <a:off x="8354473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研究空白</a:t>
            </a:r>
          </a:p>
        </p:txBody>
      </p:sp>
      <p:sp>
        <p:nvSpPr>
          <p:cNvPr id="7" name="淘宝-想搞设计PPT(倒卖必究)-7"/>
          <p:cNvSpPr/>
          <p:nvPr/>
        </p:nvSpPr>
        <p:spPr>
          <a:xfrm>
            <a:off x="10090309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研究主线</a:t>
            </a:r>
          </a:p>
        </p:txBody>
      </p:sp>
      <p:sp>
        <p:nvSpPr>
          <p:cNvPr id="8" name="淘宝-想搞设计PPT(倒卖必究)-8"/>
          <p:cNvSpPr/>
          <p:nvPr/>
        </p:nvSpPr>
        <p:spPr>
          <a:xfrm>
            <a:off x="6370415" y="0"/>
            <a:ext cx="1656017" cy="792004"/>
          </a:xfrm>
          <a:prstGeom prst="rect">
            <a:avLst/>
          </a:prstGeom>
          <a:solidFill>
            <a:srgbClr val="113884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淘宝-想搞设计PPT(倒卖必究)-9"/>
          <p:cNvSpPr/>
          <p:nvPr/>
        </p:nvSpPr>
        <p:spPr>
          <a:xfrm>
            <a:off x="4882896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研究现状</a:t>
            </a:r>
          </a:p>
        </p:txBody>
      </p:sp>
      <p:cxnSp>
        <p:nvCxnSpPr>
          <p:cNvPr id="10" name="淘宝-想搞设计PPT(倒卖必究)-10"/>
          <p:cNvCxnSpPr/>
          <p:nvPr/>
        </p:nvCxnSpPr>
        <p:spPr>
          <a:xfrm>
            <a:off x="2858929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11" name="淘宝-想搞设计PPT(倒卖必究)-11"/>
          <p:cNvSpPr/>
          <p:nvPr/>
        </p:nvSpPr>
        <p:spPr>
          <a:xfrm>
            <a:off x="6375082" y="211360"/>
            <a:ext cx="1646587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评价方法</a:t>
            </a:r>
          </a:p>
        </p:txBody>
      </p:sp>
      <p:sp>
        <p:nvSpPr>
          <p:cNvPr id="39" name="淘宝-想搞设计PPT(倒卖必究)-39"/>
          <p:cNvSpPr/>
          <p:nvPr/>
        </p:nvSpPr>
        <p:spPr>
          <a:xfrm>
            <a:off x="2730722" y="2060067"/>
            <a:ext cx="8765953" cy="971931"/>
          </a:xfrm>
          <a:custGeom>
            <a:avLst/>
            <a:gdLst/>
            <a:ahLst/>
            <a:cxnLst/>
            <a:rect l="l" t="t" r="r" b="b"/>
            <a:pathLst>
              <a:path w="8765953" h="971931">
                <a:moveTo>
                  <a:pt x="269653" y="0"/>
                </a:moveTo>
                <a:lnTo>
                  <a:pt x="2704528" y="0"/>
                </a:lnTo>
                <a:lnTo>
                  <a:pt x="8623840" y="0"/>
                </a:lnTo>
                <a:lnTo>
                  <a:pt x="8765953" y="0"/>
                </a:lnTo>
                <a:lnTo>
                  <a:pt x="8765953" y="971931"/>
                </a:lnTo>
                <a:lnTo>
                  <a:pt x="8354187" y="971931"/>
                </a:lnTo>
                <a:lnTo>
                  <a:pt x="2704528" y="971931"/>
                </a:lnTo>
                <a:lnTo>
                  <a:pt x="0" y="971931"/>
                </a:lnTo>
                <a:close/>
              </a:path>
            </a:pathLst>
          </a:custGeom>
          <a:noFill/>
          <a:ln w="9525">
            <a:solidFill>
              <a:srgbClr val="BFBFBF"/>
            </a:solidFill>
          </a:ln>
        </p:spPr>
        <p:txBody>
          <a:bodyPr wrap="none" lIns="548640" tIns="346774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预测区间是否包含真实值，需与标称概率对应。</a:t>
            </a:r>
          </a:p>
        </p:txBody>
      </p:sp>
      <p:sp>
        <p:nvSpPr>
          <p:cNvPr id="40" name="淘宝-想搞设计PPT(倒卖必究)-40"/>
          <p:cNvSpPr/>
          <p:nvPr/>
        </p:nvSpPr>
        <p:spPr>
          <a:xfrm>
            <a:off x="403765" y="2060067"/>
            <a:ext cx="2369248" cy="971931"/>
          </a:xfrm>
          <a:custGeom>
            <a:avLst/>
            <a:gdLst/>
            <a:ahLst/>
            <a:cxnLst/>
            <a:rect l="l" t="t" r="r" b="b"/>
            <a:pathLst>
              <a:path w="2369248" h="971931">
                <a:moveTo>
                  <a:pt x="0" y="0"/>
                </a:moveTo>
                <a:lnTo>
                  <a:pt x="650272" y="0"/>
                </a:lnTo>
                <a:lnTo>
                  <a:pt x="1967579" y="0"/>
                </a:lnTo>
                <a:lnTo>
                  <a:pt x="2369248" y="0"/>
                </a:lnTo>
                <a:lnTo>
                  <a:pt x="2120741" y="971931"/>
                </a:lnTo>
                <a:lnTo>
                  <a:pt x="1967579" y="971931"/>
                </a:lnTo>
                <a:lnTo>
                  <a:pt x="401669" y="971931"/>
                </a:lnTo>
                <a:lnTo>
                  <a:pt x="0" y="971931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wrap="none" lIns="0" tIns="348806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覆盖率</a:t>
            </a:r>
          </a:p>
        </p:txBody>
      </p:sp>
      <p:sp>
        <p:nvSpPr>
          <p:cNvPr id="41" name="淘宝-想搞设计PPT(倒卖必究)-41"/>
          <p:cNvSpPr/>
          <p:nvPr/>
        </p:nvSpPr>
        <p:spPr>
          <a:xfrm>
            <a:off x="2433352" y="3250692"/>
            <a:ext cx="9063323" cy="971931"/>
          </a:xfrm>
          <a:custGeom>
            <a:avLst/>
            <a:gdLst/>
            <a:ahLst/>
            <a:cxnLst/>
            <a:rect l="l" t="t" r="r" b="b"/>
            <a:pathLst>
              <a:path w="9063323" h="971931">
                <a:moveTo>
                  <a:pt x="278797" y="0"/>
                </a:moveTo>
                <a:lnTo>
                  <a:pt x="2796254" y="0"/>
                </a:lnTo>
                <a:lnTo>
                  <a:pt x="8916352" y="0"/>
                </a:lnTo>
                <a:lnTo>
                  <a:pt x="9063323" y="0"/>
                </a:lnTo>
                <a:lnTo>
                  <a:pt x="9063323" y="971931"/>
                </a:lnTo>
                <a:lnTo>
                  <a:pt x="8637556" y="971931"/>
                </a:lnTo>
                <a:lnTo>
                  <a:pt x="2796254" y="971931"/>
                </a:lnTo>
                <a:lnTo>
                  <a:pt x="0" y="971931"/>
                </a:lnTo>
                <a:close/>
              </a:path>
            </a:pathLst>
          </a:custGeom>
          <a:noFill/>
          <a:ln w="9525">
            <a:solidFill>
              <a:srgbClr val="113884"/>
            </a:solidFill>
          </a:ln>
        </p:spPr>
        <p:txBody>
          <a:bodyPr wrap="none" lIns="548640" tIns="346774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防止单纯扩大区间换取覆盖；配合Pinball loss或CRPS。</a:t>
            </a:r>
          </a:p>
        </p:txBody>
      </p:sp>
      <p:sp>
        <p:nvSpPr>
          <p:cNvPr id="42" name="淘宝-想搞设计PPT(倒卖必究)-42"/>
          <p:cNvSpPr/>
          <p:nvPr/>
        </p:nvSpPr>
        <p:spPr>
          <a:xfrm>
            <a:off x="403765" y="3250692"/>
            <a:ext cx="2058829" cy="971931"/>
          </a:xfrm>
          <a:custGeom>
            <a:avLst/>
            <a:gdLst/>
            <a:ahLst/>
            <a:cxnLst/>
            <a:rect l="l" t="t" r="r" b="b"/>
            <a:pathLst>
              <a:path w="2058829" h="971931">
                <a:moveTo>
                  <a:pt x="0" y="0"/>
                </a:moveTo>
                <a:lnTo>
                  <a:pt x="565023" y="0"/>
                </a:lnTo>
                <a:lnTo>
                  <a:pt x="1709833" y="0"/>
                </a:lnTo>
                <a:lnTo>
                  <a:pt x="2058829" y="0"/>
                </a:lnTo>
                <a:lnTo>
                  <a:pt x="1842897" y="971931"/>
                </a:lnTo>
                <a:lnTo>
                  <a:pt x="1709833" y="971931"/>
                </a:lnTo>
                <a:lnTo>
                  <a:pt x="349091" y="971931"/>
                </a:lnTo>
                <a:lnTo>
                  <a:pt x="0" y="971931"/>
                </a:lnTo>
                <a:close/>
              </a:path>
            </a:pathLst>
          </a:custGeom>
          <a:solidFill>
            <a:srgbClr val="113884">
              <a:alpha val="90000"/>
            </a:srgbClr>
          </a:solidFill>
          <a:ln>
            <a:noFill/>
          </a:ln>
        </p:spPr>
        <p:txBody>
          <a:bodyPr wrap="none" lIns="95" tIns="348806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区间宽度</a:t>
            </a:r>
          </a:p>
        </p:txBody>
      </p:sp>
      <p:sp>
        <p:nvSpPr>
          <p:cNvPr id="43" name="淘宝-想搞设计PPT(倒卖必究)-43"/>
          <p:cNvSpPr/>
          <p:nvPr/>
        </p:nvSpPr>
        <p:spPr>
          <a:xfrm>
            <a:off x="2111883" y="4441317"/>
            <a:ext cx="9384792" cy="971931"/>
          </a:xfrm>
          <a:custGeom>
            <a:avLst/>
            <a:gdLst/>
            <a:ahLst/>
            <a:cxnLst/>
            <a:rect l="l" t="t" r="r" b="b"/>
            <a:pathLst>
              <a:path w="9384792" h="971931">
                <a:moveTo>
                  <a:pt x="288703" y="0"/>
                </a:moveTo>
                <a:lnTo>
                  <a:pt x="2895410" y="0"/>
                </a:lnTo>
                <a:lnTo>
                  <a:pt x="9232678" y="0"/>
                </a:lnTo>
                <a:lnTo>
                  <a:pt x="9384792" y="0"/>
                </a:lnTo>
                <a:lnTo>
                  <a:pt x="9384792" y="971931"/>
                </a:lnTo>
                <a:lnTo>
                  <a:pt x="8943975" y="971931"/>
                </a:lnTo>
                <a:lnTo>
                  <a:pt x="2895410" y="971931"/>
                </a:lnTo>
                <a:lnTo>
                  <a:pt x="0" y="971931"/>
                </a:lnTo>
                <a:close/>
              </a:path>
            </a:pathLst>
          </a:custGeom>
          <a:noFill/>
          <a:ln w="9525">
            <a:solidFill>
              <a:srgbClr val="BFBFBF"/>
            </a:solidFill>
          </a:ln>
        </p:spPr>
        <p:txBody>
          <a:bodyPr wrap="none" lIns="548640" tIns="346774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逐点覆盖不等于整段轨迹可靠，还需检验SOC越限等风险。</a:t>
            </a:r>
          </a:p>
        </p:txBody>
      </p:sp>
      <p:sp>
        <p:nvSpPr>
          <p:cNvPr id="44" name="淘宝-想搞设计PPT(倒卖必究)-44"/>
          <p:cNvSpPr/>
          <p:nvPr/>
        </p:nvSpPr>
        <p:spPr>
          <a:xfrm>
            <a:off x="403765" y="4441317"/>
            <a:ext cx="1786033" cy="971931"/>
          </a:xfrm>
          <a:custGeom>
            <a:avLst/>
            <a:gdLst/>
            <a:ahLst/>
            <a:cxnLst/>
            <a:rect l="l" t="t" r="r" b="b"/>
            <a:pathLst>
              <a:path w="1786033" h="971931">
                <a:moveTo>
                  <a:pt x="0" y="0"/>
                </a:moveTo>
                <a:lnTo>
                  <a:pt x="490156" y="0"/>
                </a:lnTo>
                <a:lnTo>
                  <a:pt x="1483233" y="0"/>
                </a:lnTo>
                <a:lnTo>
                  <a:pt x="1786033" y="0"/>
                </a:lnTo>
                <a:lnTo>
                  <a:pt x="1598676" y="971931"/>
                </a:lnTo>
                <a:lnTo>
                  <a:pt x="1483233" y="971931"/>
                </a:lnTo>
                <a:lnTo>
                  <a:pt x="302800" y="971931"/>
                </a:lnTo>
                <a:lnTo>
                  <a:pt x="0" y="971931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wrap="none" lIns="95" tIns="348806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轨迹风险</a:t>
            </a:r>
          </a:p>
        </p:txBody>
      </p:sp>
      <p:grpSp>
        <p:nvGrpSpPr>
          <p:cNvPr id="25" name="Picture 44"/>
          <p:cNvGrpSpPr/>
          <p:nvPr/>
        </p:nvGrpSpPr>
        <p:grpSpPr>
          <a:xfrm>
            <a:off x="356044" y="158210"/>
            <a:ext cx="2011870" cy="617220"/>
            <a:chOff x="356044" y="158210"/>
            <a:chExt cx="2011870" cy="617220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6044" y="158210"/>
              <a:ext cx="2011870" cy="617220"/>
            </a:xfrm>
            <a:prstGeom prst="rect">
              <a:avLst/>
            </a:prstGeom>
          </p:spPr>
        </p:pic>
      </p:grpSp>
      <p:grpSp>
        <p:nvGrpSpPr>
          <p:cNvPr id="27" name="core-title"/>
          <p:cNvGrpSpPr/>
          <p:nvPr/>
        </p:nvGrpSpPr>
        <p:grpSpPr>
          <a:xfrm>
            <a:off x="416433" y="1098550"/>
            <a:ext cx="4870704" cy="469392"/>
            <a:chOff x="416433" y="1098550"/>
            <a:chExt cx="4870704" cy="469392"/>
          </a:xfrm>
        </p:grpSpPr>
        <p:sp>
          <p:nvSpPr>
            <p:cNvPr id="26" name="TextBox 26"/>
            <p:cNvSpPr txBox="1"/>
            <p:nvPr/>
          </p:nvSpPr>
          <p:spPr>
            <a:xfrm>
              <a:off x="416433" y="1098550"/>
              <a:ext cx="487070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13884"/>
                  </a:solidFill>
                  <a:latin typeface="Arial"/>
                  <a:ea typeface="Microsoft YaHei"/>
                  <a:cs typeface="Arial"/>
                </a:rPr>
                <a:t>概率预测应同时评价覆盖率与宽度</a:t>
              </a:r>
            </a:p>
          </p:txBody>
        </p:sp>
      </p:grpSp>
      <p:grpSp>
        <p:nvGrpSpPr>
          <p:cNvPr id="29" name="source-citation"/>
          <p:cNvGrpSpPr/>
          <p:nvPr/>
        </p:nvGrpSpPr>
        <p:grpSpPr>
          <a:xfrm>
            <a:off x="422529" y="6315075"/>
            <a:ext cx="3749345" cy="234696"/>
            <a:chOff x="422529" y="6315075"/>
            <a:chExt cx="3749345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422529" y="6315075"/>
              <a:ext cx="37493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依据原文 [4,17,21,23,24] · 文献编号与Word一致</a:t>
              </a:r>
            </a:p>
          </p:txBody>
        </p:sp>
      </p:grpSp>
    </p:spTree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淘宝-想搞设计PPT(倒卖必究)-26"/>
          <p:cNvSpPr/>
          <p:nvPr/>
        </p:nvSpPr>
        <p:spPr>
          <a:xfrm>
            <a:off x="695325" y="2680240"/>
            <a:ext cx="10801350" cy="3780949"/>
          </a:xfrm>
          <a:prstGeom prst="rect">
            <a:avLst/>
          </a:prstGeom>
          <a:gradFill>
            <a:gsLst>
              <a:gs pos="0">
                <a:srgbClr val="12469E">
                  <a:lumMod val="23000"/>
                  <a:lumOff val="77000"/>
                  <a:alpha val="42000"/>
                </a:srgbClr>
              </a:gs>
              <a:gs pos="100000">
                <a:srgbClr val="12469E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 rot="0" spcFirstLastPara="0" vert="horz" wrap="square" lIns="90000" tIns="46800" rIns="90000" bIns="46800" numCol="1" spcCol="0" rtlCol="0" fromWordArt="0" anchor="t" anchorCtr="0" forceAA="0" compatLnSpc="1">
            <a:normAutofit/>
          </a:bodyPr>
          <a:lstStyle/>
          <a:p>
            <a:pPr marL="171450" marR="0" lvl="0" indent="-1714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27965" algn="l"/>
              </a:tabLst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淘宝-想搞设计PPT(倒卖必究)-23"/>
          <p:cNvSpPr/>
          <p:nvPr/>
        </p:nvSpPr>
        <p:spPr>
          <a:xfrm>
            <a:off x="0" y="0"/>
            <a:ext cx="12192000" cy="79200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55600" dist="190500" dir="5400000" algn="ctr" rotWithShape="0">
              <a:srgbClr val="000000">
                <a:alpha val="825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淘宝-想搞设计PPT(倒卖必究)-19"/>
          <p:cNvSpPr/>
          <p:nvPr>
            <p:ph type="dt" idx="4294967295" sz="half"/>
          </p:nvPr>
        </p:nvSpPr>
        <p:spPr>
          <a:xfrm>
            <a:off x="838200" y="6464332"/>
            <a:ext cx="2743200" cy="3650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淘宝-想搞设计PPT(倒卖必究)-18"/>
          <p:cNvSpPr/>
          <p:nvPr>
            <p:ph type="ftr" idx="4294967295" sz="quarter"/>
          </p:nvPr>
        </p:nvSpPr>
        <p:spPr>
          <a:xfrm>
            <a:off x="4038600" y="6464332"/>
            <a:ext cx="4114800" cy="3650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淘宝-想搞设计PPT(倒卖必究)-14"/>
          <p:cNvSpPr/>
          <p:nvPr>
            <p:ph type="sldNum" idx="4294967295" sz="quarter"/>
          </p:nvPr>
        </p:nvSpPr>
        <p:spPr>
          <a:xfrm>
            <a:off x="9366218" y="6464332"/>
            <a:ext cx="27432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106331" rIns="91440" bIns="0" anchor="t" anchorCtr="0">
            <a:noAutofit/>
          </a:bodyPr>
          <a:lstStyle/>
          <a:p>
            <a:pPr algn="r"/>
            <a:r>
              <a:rPr lang="zh-CN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3" name="淘宝-想搞设计PPT(倒卖必究)-13"/>
          <p:cNvSpPr/>
          <p:nvPr/>
        </p:nvSpPr>
        <p:spPr>
          <a:xfrm>
            <a:off x="344519" y="1046893"/>
            <a:ext cx="11144250" cy="514350"/>
          </a:xfrm>
          <a:prstGeom prst="rect">
            <a:avLst/>
          </a:prstGeom>
          <a:noFill/>
          <a:ln>
            <a:noFill/>
          </a:ln>
        </p:spPr>
        <p:txBody>
          <a:bodyPr wrap="none" lIns="91440" tIns="42653" rIns="0" bIns="0" anchor="t" anchorCtr="0">
            <a:no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总体RMSE可能掩盖关键突降漏报</a:t>
            </a:r>
          </a:p>
        </p:txBody>
      </p:sp>
      <p:cxnSp>
        <p:nvCxnSpPr>
          <p:cNvPr id="12" name="淘宝-想搞设计PPT(倒卖必究)-12"/>
          <p:cNvCxnSpPr/>
          <p:nvPr/>
        </p:nvCxnSpPr>
        <p:spPr>
          <a:xfrm>
            <a:off x="425768" y="1508474"/>
            <a:ext cx="1836039" cy="0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3" name="淘宝-想搞设计PPT(倒卖必究)-3"/>
          <p:cNvSpPr/>
          <p:nvPr/>
        </p:nvSpPr>
        <p:spPr>
          <a:xfrm>
            <a:off x="6370415" y="0"/>
            <a:ext cx="1656017" cy="792004"/>
          </a:xfrm>
          <a:prstGeom prst="rect">
            <a:avLst/>
          </a:prstGeom>
          <a:solidFill>
            <a:srgbClr val="113884"/>
          </a:solidFill>
          <a:ln>
            <a:noFill/>
          </a:ln>
        </p:spPr>
      </p:sp>
      <p:cxnSp>
        <p:nvCxnSpPr>
          <p:cNvPr id="4" name="淘宝-想搞设计PPT(倒卖必究)-4"/>
          <p:cNvCxnSpPr/>
          <p:nvPr/>
        </p:nvCxnSpPr>
        <p:spPr>
          <a:xfrm>
            <a:off x="6330506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5" name="淘宝-想搞设计PPT(倒卖必究)-5"/>
          <p:cNvCxnSpPr/>
          <p:nvPr/>
        </p:nvCxnSpPr>
        <p:spPr>
          <a:xfrm>
            <a:off x="8066246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6" name="淘宝-想搞设计PPT(倒卖必究)-6"/>
          <p:cNvCxnSpPr/>
          <p:nvPr/>
        </p:nvCxnSpPr>
        <p:spPr>
          <a:xfrm>
            <a:off x="9802082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7" name="淘宝-想搞设计PPT(倒卖必究)-7"/>
          <p:cNvSpPr/>
          <p:nvPr/>
        </p:nvSpPr>
        <p:spPr>
          <a:xfrm>
            <a:off x="3147155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需求边界</a:t>
            </a:r>
          </a:p>
        </p:txBody>
      </p:sp>
      <p:sp>
        <p:nvSpPr>
          <p:cNvPr id="8" name="淘宝-想搞设计PPT(倒卖必究)-8"/>
          <p:cNvSpPr/>
          <p:nvPr/>
        </p:nvSpPr>
        <p:spPr>
          <a:xfrm>
            <a:off x="4882896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研究现状</a:t>
            </a:r>
          </a:p>
        </p:txBody>
      </p:sp>
      <p:sp>
        <p:nvSpPr>
          <p:cNvPr id="9" name="淘宝-想搞设计PPT(倒卖必究)-9"/>
          <p:cNvSpPr/>
          <p:nvPr/>
        </p:nvSpPr>
        <p:spPr>
          <a:xfrm>
            <a:off x="6375082" y="211360"/>
            <a:ext cx="1646587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评价方法</a:t>
            </a:r>
          </a:p>
        </p:txBody>
      </p:sp>
      <p:sp>
        <p:nvSpPr>
          <p:cNvPr id="10" name="淘宝-想搞设计PPT(倒卖必究)-10"/>
          <p:cNvSpPr/>
          <p:nvPr/>
        </p:nvSpPr>
        <p:spPr>
          <a:xfrm>
            <a:off x="8354473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研究空白</a:t>
            </a:r>
          </a:p>
        </p:txBody>
      </p:sp>
      <p:sp>
        <p:nvSpPr>
          <p:cNvPr id="11" name="淘宝-想搞设计PPT(倒卖必究)-11"/>
          <p:cNvSpPr/>
          <p:nvPr/>
        </p:nvSpPr>
        <p:spPr>
          <a:xfrm>
            <a:off x="10090309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研究主线</a:t>
            </a:r>
          </a:p>
        </p:txBody>
      </p:sp>
      <p:sp>
        <p:nvSpPr>
          <p:cNvPr id="16" name="淘宝-想搞设计PPT(倒卖必究)-16"/>
          <p:cNvSpPr/>
          <p:nvPr/>
        </p:nvSpPr>
        <p:spPr>
          <a:xfrm>
            <a:off x="695325" y="1965579"/>
            <a:ext cx="10801350" cy="719995"/>
          </a:xfrm>
          <a:prstGeom prst="rect">
            <a:avLst/>
          </a:prstGeom>
          <a:solidFill>
            <a:srgbClr val="113884"/>
          </a:solidFill>
          <a:ln w="12700" cap="flat">
            <a:solidFill>
              <a:srgbClr val="113884"/>
            </a:solidFill>
          </a:ln>
        </p:spPr>
        <p:txBody>
          <a:bodyPr wrap="none" lIns="0" tIns="197457" rIns="0" bIns="0" anchor="t" anchorCtr="0">
            <a:no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关键事件必须单独评价</a:t>
            </a:r>
          </a:p>
        </p:txBody>
      </p:sp>
      <p:sp>
        <p:nvSpPr>
          <p:cNvPr id="17" name="淘宝-想搞设计PPT(倒卖必究)-17"/>
          <p:cNvSpPr/>
          <p:nvPr/>
        </p:nvSpPr>
        <p:spPr>
          <a:xfrm>
            <a:off x="1043369" y="2955036"/>
            <a:ext cx="10105263" cy="2118550"/>
          </a:xfrm>
          <a:prstGeom prst="rect">
            <a:avLst/>
          </a:prstGeom>
          <a:noFill/>
          <a:ln>
            <a:noFill/>
          </a:ln>
        </p:spPr>
        <p:txBody>
          <a:bodyPr wrap="none" lIns="91440" tIns="58439" rIns="0" bIns="0" anchor="t" anchorCtr="0">
            <a:noAutofit/>
          </a:bodyPr>
          <a:lstStyle/>
          <a:p>
            <a:pPr algn="l">
              <a:lnSpc>
                <a:spcPts val="3120"/>
              </a:lnSpc>
            </a:pPr>
            <a: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按本地可调功率与运行风险预先设定事件阈值。</a:t>
            </a:r>
            <a:b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</a:br>
            <a: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评价下降幅度、开始时刻与可用预警提前量。</a:t>
            </a:r>
            <a:b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</a:br>
            <a: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同时报告漏报、误报及Precision / Recall / F1。</a:t>
            </a:r>
            <a:b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</a:br>
            <a: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平均误差较低，不保证备用与储能能及时响应。</a:t>
            </a:r>
          </a:p>
        </p:txBody>
      </p:sp>
      <p:grpSp>
        <p:nvGrpSpPr>
          <p:cNvPr id="31" name="Picture 26"/>
          <p:cNvGrpSpPr/>
          <p:nvPr/>
        </p:nvGrpSpPr>
        <p:grpSpPr>
          <a:xfrm>
            <a:off x="356044" y="158210"/>
            <a:ext cx="2011870" cy="617220"/>
            <a:chOff x="356044" y="158210"/>
            <a:chExt cx="2011870" cy="617220"/>
          </a:xfrm>
        </p:grpSpPr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6044" y="158210"/>
              <a:ext cx="2011870" cy="617220"/>
            </a:xfrm>
            <a:prstGeom prst="rect">
              <a:avLst/>
            </a:prstGeom>
          </p:spPr>
        </p:pic>
      </p:grpSp>
      <p:grpSp>
        <p:nvGrpSpPr>
          <p:cNvPr id="33" name="source-citation"/>
          <p:cNvGrpSpPr/>
          <p:nvPr/>
        </p:nvGrpSpPr>
        <p:grpSpPr>
          <a:xfrm>
            <a:off x="422529" y="6315075"/>
            <a:ext cx="2949702" cy="234696"/>
            <a:chOff x="422529" y="6315075"/>
            <a:chExt cx="2949702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422529" y="6315075"/>
              <a:ext cx="29497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依据原文 [6,19] · 文献编号与Word一致</a:t>
              </a:r>
            </a:p>
          </p:txBody>
        </p:sp>
      </p:grpSp>
    </p:spTree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淘宝-想搞设计PPT(倒卖必究)-26"/>
          <p:cNvSpPr/>
          <p:nvPr/>
        </p:nvSpPr>
        <p:spPr>
          <a:xfrm>
            <a:off x="695325" y="2680240"/>
            <a:ext cx="10801350" cy="3780949"/>
          </a:xfrm>
          <a:prstGeom prst="rect">
            <a:avLst/>
          </a:prstGeom>
          <a:gradFill>
            <a:gsLst>
              <a:gs pos="0">
                <a:srgbClr val="12469E">
                  <a:lumMod val="23000"/>
                  <a:lumOff val="77000"/>
                  <a:alpha val="42000"/>
                </a:srgbClr>
              </a:gs>
              <a:gs pos="100000">
                <a:srgbClr val="12469E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 rot="0" spcFirstLastPara="0" vert="horz" wrap="square" lIns="90000" tIns="46800" rIns="90000" bIns="46800" numCol="1" spcCol="0" rtlCol="0" fromWordArt="0" anchor="t" anchorCtr="0" forceAA="0" compatLnSpc="1">
            <a:normAutofit/>
          </a:bodyPr>
          <a:lstStyle/>
          <a:p>
            <a:pPr marL="171450" marR="0" lvl="0" indent="-1714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27965" algn="l"/>
              </a:tabLst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淘宝-想搞设计PPT(倒卖必究)-23"/>
          <p:cNvSpPr/>
          <p:nvPr/>
        </p:nvSpPr>
        <p:spPr>
          <a:xfrm>
            <a:off x="0" y="0"/>
            <a:ext cx="12192000" cy="79200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55600" dist="190500" dir="5400000" algn="ctr" rotWithShape="0">
              <a:srgbClr val="000000">
                <a:alpha val="825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淘宝-想搞设计PPT(倒卖必究)-19"/>
          <p:cNvSpPr/>
          <p:nvPr>
            <p:ph type="dt" idx="4294967295" sz="half"/>
          </p:nvPr>
        </p:nvSpPr>
        <p:spPr>
          <a:xfrm>
            <a:off x="838200" y="6464332"/>
            <a:ext cx="2743200" cy="3650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淘宝-想搞设计PPT(倒卖必究)-18"/>
          <p:cNvSpPr/>
          <p:nvPr>
            <p:ph type="ftr" idx="4294967295" sz="quarter"/>
          </p:nvPr>
        </p:nvSpPr>
        <p:spPr>
          <a:xfrm>
            <a:off x="4038600" y="6464332"/>
            <a:ext cx="4114800" cy="3650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淘宝-想搞设计PPT(倒卖必究)-14"/>
          <p:cNvSpPr/>
          <p:nvPr>
            <p:ph type="sldNum" idx="4294967295" sz="quarter"/>
          </p:nvPr>
        </p:nvSpPr>
        <p:spPr>
          <a:xfrm>
            <a:off x="9366218" y="6464332"/>
            <a:ext cx="27432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106331" rIns="91440" bIns="0" anchor="t" anchorCtr="0">
            <a:noAutofit/>
          </a:bodyPr>
          <a:lstStyle/>
          <a:p>
            <a:pPr algn="r"/>
            <a:r>
              <a:rPr lang="zh-CN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3" name="淘宝-想搞设计PPT(倒卖必究)-13"/>
          <p:cNvSpPr/>
          <p:nvPr/>
        </p:nvSpPr>
        <p:spPr>
          <a:xfrm>
            <a:off x="344519" y="1046893"/>
            <a:ext cx="11144250" cy="514350"/>
          </a:xfrm>
          <a:prstGeom prst="rect">
            <a:avLst/>
          </a:prstGeom>
          <a:noFill/>
          <a:ln>
            <a:noFill/>
          </a:ln>
        </p:spPr>
        <p:txBody>
          <a:bodyPr wrap="none" lIns="91440" tIns="42653" rIns="0" bIns="0" anchor="t" anchorCtr="0">
            <a:no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精度提升不自动转化为经济收益</a:t>
            </a:r>
          </a:p>
        </p:txBody>
      </p:sp>
      <p:cxnSp>
        <p:nvCxnSpPr>
          <p:cNvPr id="12" name="淘宝-想搞设计PPT(倒卖必究)-12"/>
          <p:cNvCxnSpPr/>
          <p:nvPr/>
        </p:nvCxnSpPr>
        <p:spPr>
          <a:xfrm>
            <a:off x="425768" y="1508474"/>
            <a:ext cx="1836039" cy="0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3" name="淘宝-想搞设计PPT(倒卖必究)-3"/>
          <p:cNvSpPr/>
          <p:nvPr/>
        </p:nvSpPr>
        <p:spPr>
          <a:xfrm>
            <a:off x="6370415" y="0"/>
            <a:ext cx="1656017" cy="792004"/>
          </a:xfrm>
          <a:prstGeom prst="rect">
            <a:avLst/>
          </a:prstGeom>
          <a:solidFill>
            <a:srgbClr val="113884"/>
          </a:solidFill>
          <a:ln>
            <a:noFill/>
          </a:ln>
        </p:spPr>
      </p:sp>
      <p:cxnSp>
        <p:nvCxnSpPr>
          <p:cNvPr id="4" name="淘宝-想搞设计PPT(倒卖必究)-4"/>
          <p:cNvCxnSpPr/>
          <p:nvPr/>
        </p:nvCxnSpPr>
        <p:spPr>
          <a:xfrm>
            <a:off x="6330506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5" name="淘宝-想搞设计PPT(倒卖必究)-5"/>
          <p:cNvCxnSpPr/>
          <p:nvPr/>
        </p:nvCxnSpPr>
        <p:spPr>
          <a:xfrm>
            <a:off x="8066246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6" name="淘宝-想搞设计PPT(倒卖必究)-6"/>
          <p:cNvCxnSpPr/>
          <p:nvPr/>
        </p:nvCxnSpPr>
        <p:spPr>
          <a:xfrm>
            <a:off x="9802082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7" name="淘宝-想搞设计PPT(倒卖必究)-7"/>
          <p:cNvSpPr/>
          <p:nvPr/>
        </p:nvSpPr>
        <p:spPr>
          <a:xfrm>
            <a:off x="3147155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需求边界</a:t>
            </a:r>
          </a:p>
        </p:txBody>
      </p:sp>
      <p:sp>
        <p:nvSpPr>
          <p:cNvPr id="8" name="淘宝-想搞设计PPT(倒卖必究)-8"/>
          <p:cNvSpPr/>
          <p:nvPr/>
        </p:nvSpPr>
        <p:spPr>
          <a:xfrm>
            <a:off x="4882896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研究现状</a:t>
            </a:r>
          </a:p>
        </p:txBody>
      </p:sp>
      <p:sp>
        <p:nvSpPr>
          <p:cNvPr id="9" name="淘宝-想搞设计PPT(倒卖必究)-9"/>
          <p:cNvSpPr/>
          <p:nvPr/>
        </p:nvSpPr>
        <p:spPr>
          <a:xfrm>
            <a:off x="6375082" y="211360"/>
            <a:ext cx="1646587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评价方法</a:t>
            </a:r>
          </a:p>
        </p:txBody>
      </p:sp>
      <p:sp>
        <p:nvSpPr>
          <p:cNvPr id="10" name="淘宝-想搞设计PPT(倒卖必究)-10"/>
          <p:cNvSpPr/>
          <p:nvPr/>
        </p:nvSpPr>
        <p:spPr>
          <a:xfrm>
            <a:off x="8354473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研究空白</a:t>
            </a:r>
          </a:p>
        </p:txBody>
      </p:sp>
      <p:sp>
        <p:nvSpPr>
          <p:cNvPr id="11" name="淘宝-想搞设计PPT(倒卖必究)-11"/>
          <p:cNvSpPr/>
          <p:nvPr/>
        </p:nvSpPr>
        <p:spPr>
          <a:xfrm>
            <a:off x="10090309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研究主线</a:t>
            </a:r>
          </a:p>
        </p:txBody>
      </p:sp>
      <p:sp>
        <p:nvSpPr>
          <p:cNvPr id="16" name="淘宝-想搞设计PPT(倒卖必究)-16"/>
          <p:cNvSpPr/>
          <p:nvPr/>
        </p:nvSpPr>
        <p:spPr>
          <a:xfrm>
            <a:off x="695325" y="1965579"/>
            <a:ext cx="10801350" cy="719995"/>
          </a:xfrm>
          <a:prstGeom prst="rect">
            <a:avLst/>
          </a:prstGeom>
          <a:solidFill>
            <a:srgbClr val="113884"/>
          </a:solidFill>
          <a:ln w="12700" cap="flat">
            <a:solidFill>
              <a:srgbClr val="113884"/>
            </a:solidFill>
          </a:ln>
        </p:spPr>
        <p:txBody>
          <a:bodyPr wrap="none" lIns="0" tIns="197457" rIns="0" bIns="0" anchor="t" anchorCtr="0">
            <a:no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预测价值需要进入运行闭环</a:t>
            </a:r>
          </a:p>
        </p:txBody>
      </p:sp>
      <p:sp>
        <p:nvSpPr>
          <p:cNvPr id="17" name="淘宝-想搞设计PPT(倒卖必究)-17"/>
          <p:cNvSpPr/>
          <p:nvPr/>
        </p:nvSpPr>
        <p:spPr>
          <a:xfrm>
            <a:off x="1043369" y="2955036"/>
            <a:ext cx="10105263" cy="2118550"/>
          </a:xfrm>
          <a:prstGeom prst="rect">
            <a:avLst/>
          </a:prstGeom>
          <a:noFill/>
          <a:ln>
            <a:noFill/>
          </a:ln>
        </p:spPr>
        <p:txBody>
          <a:bodyPr wrap="none" lIns="91440" tIns="58439" rIns="0" bIns="0" anchor="t" anchorCtr="0">
            <a:noAutofit/>
          </a:bodyPr>
          <a:lstStyle/>
          <a:p>
            <a:pPr algn="l">
              <a:lnSpc>
                <a:spcPts val="3120"/>
              </a:lnSpc>
            </a:pPr>
            <a: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收益受电价、结算机制、储能和设备约束共同影响。</a:t>
            </a:r>
            <a:b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</a:br>
            <a: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在相同负荷、电价、储能与调度规则下回放候选预测。</a:t>
            </a:r>
            <a:b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</a:br>
            <a: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比较购电费、需量费、弃光、峰值购电与SOC风险。</a:t>
            </a:r>
            <a:b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</a:br>
            <a: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园区或微电网仿真结果，仍需实际运行证据检验。</a:t>
            </a:r>
          </a:p>
        </p:txBody>
      </p:sp>
      <p:grpSp>
        <p:nvGrpSpPr>
          <p:cNvPr id="31" name="Picture 26"/>
          <p:cNvGrpSpPr/>
          <p:nvPr/>
        </p:nvGrpSpPr>
        <p:grpSpPr>
          <a:xfrm>
            <a:off x="356044" y="158210"/>
            <a:ext cx="2011870" cy="617220"/>
            <a:chOff x="356044" y="158210"/>
            <a:chExt cx="2011870" cy="617220"/>
          </a:xfrm>
        </p:grpSpPr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6044" y="158210"/>
              <a:ext cx="2011870" cy="617220"/>
            </a:xfrm>
            <a:prstGeom prst="rect">
              <a:avLst/>
            </a:prstGeom>
          </p:spPr>
        </p:pic>
      </p:grpSp>
      <p:grpSp>
        <p:nvGrpSpPr>
          <p:cNvPr id="33" name="source-citation"/>
          <p:cNvGrpSpPr/>
          <p:nvPr/>
        </p:nvGrpSpPr>
        <p:grpSpPr>
          <a:xfrm>
            <a:off x="422529" y="6315075"/>
            <a:ext cx="3216250" cy="234696"/>
            <a:chOff x="422529" y="6315075"/>
            <a:chExt cx="3216250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422529" y="6315075"/>
              <a:ext cx="32162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依据原文 [9,20,21] · 文献编号与Word一致</a:t>
              </a:r>
            </a:p>
          </p:txBody>
        </p:sp>
      </p:grpSp>
    </p:spTree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淘宝-想搞设计PPT(倒卖必究)-17"/>
          <p:cNvSpPr/>
          <p:nvPr/>
        </p:nvSpPr>
        <p:spPr>
          <a:xfrm>
            <a:off x="0" y="0"/>
            <a:ext cx="12192000" cy="79200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55600" dist="190500" dir="5400000" algn="ctr" rotWithShape="0">
              <a:srgbClr val="000000">
                <a:alpha val="825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cxnSp>
        <p:nvCxnSpPr>
          <p:cNvPr id="3" name="淘宝-想搞设计PPT(倒卖必究)-3"/>
          <p:cNvCxnSpPr/>
          <p:nvPr/>
        </p:nvCxnSpPr>
        <p:spPr>
          <a:xfrm>
            <a:off x="2858929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4" name="淘宝-想搞设计PPT(倒卖必究)-4"/>
          <p:cNvCxnSpPr/>
          <p:nvPr/>
        </p:nvCxnSpPr>
        <p:spPr>
          <a:xfrm>
            <a:off x="8066246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5" name="淘宝-想搞设计PPT(倒卖必究)-5"/>
          <p:cNvCxnSpPr/>
          <p:nvPr/>
        </p:nvCxnSpPr>
        <p:spPr>
          <a:xfrm>
            <a:off x="9802082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6" name="淘宝-想搞设计PPT(倒卖必究)-6"/>
          <p:cNvSpPr/>
          <p:nvPr/>
        </p:nvSpPr>
        <p:spPr>
          <a:xfrm>
            <a:off x="3147155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需求边界</a:t>
            </a:r>
          </a:p>
        </p:txBody>
      </p:sp>
      <p:sp>
        <p:nvSpPr>
          <p:cNvPr id="7" name="淘宝-想搞设计PPT(倒卖必究)-7"/>
          <p:cNvSpPr/>
          <p:nvPr/>
        </p:nvSpPr>
        <p:spPr>
          <a:xfrm>
            <a:off x="6375082" y="211360"/>
            <a:ext cx="1646587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评价方法</a:t>
            </a:r>
          </a:p>
        </p:txBody>
      </p:sp>
      <p:sp>
        <p:nvSpPr>
          <p:cNvPr id="8" name="淘宝-想搞设计PPT(倒卖必究)-8"/>
          <p:cNvSpPr/>
          <p:nvPr/>
        </p:nvSpPr>
        <p:spPr>
          <a:xfrm>
            <a:off x="8354473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研究空白</a:t>
            </a:r>
          </a:p>
        </p:txBody>
      </p:sp>
      <p:sp>
        <p:nvSpPr>
          <p:cNvPr id="9" name="淘宝-想搞设计PPT(倒卖必究)-9"/>
          <p:cNvSpPr/>
          <p:nvPr/>
        </p:nvSpPr>
        <p:spPr>
          <a:xfrm>
            <a:off x="10090309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研究主线</a:t>
            </a:r>
          </a:p>
        </p:txBody>
      </p:sp>
      <p:sp>
        <p:nvSpPr>
          <p:cNvPr id="10" name="淘宝-想搞设计PPT(倒卖必究)-10"/>
          <p:cNvSpPr/>
          <p:nvPr/>
        </p:nvSpPr>
        <p:spPr>
          <a:xfrm>
            <a:off x="6370415" y="0"/>
            <a:ext cx="1656017" cy="792004"/>
          </a:xfrm>
          <a:prstGeom prst="rect">
            <a:avLst/>
          </a:prstGeom>
          <a:solidFill>
            <a:srgbClr val="113884"/>
          </a:solidFill>
          <a:ln>
            <a:noFill/>
          </a:ln>
        </p:spPr>
      </p:sp>
      <p:sp>
        <p:nvSpPr>
          <p:cNvPr id="11" name="淘宝-想搞设计PPT(倒卖必究)-11"/>
          <p:cNvSpPr/>
          <p:nvPr/>
        </p:nvSpPr>
        <p:spPr>
          <a:xfrm>
            <a:off x="4882896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研究现状</a:t>
            </a:r>
          </a:p>
        </p:txBody>
      </p:sp>
      <p:sp>
        <p:nvSpPr>
          <p:cNvPr id="25" name="淘宝-想搞设计PPT(倒卖必究)-25"/>
          <p:cNvSpPr/>
          <p:nvPr/>
        </p:nvSpPr>
        <p:spPr>
          <a:xfrm>
            <a:off x="421862" y="2480596"/>
            <a:ext cx="2841974" cy="2841974"/>
          </a:xfrm>
          <a:prstGeom prst="ellipse">
            <a:avLst/>
          </a:prstGeom>
          <a:solidFill>
            <a:srgbClr val="113884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6" name="淘宝-想搞设计PPT(倒卖必究)-26"/>
          <p:cNvSpPr/>
          <p:nvPr/>
        </p:nvSpPr>
        <p:spPr>
          <a:xfrm>
            <a:off x="555784" y="2614517"/>
            <a:ext cx="2574131" cy="2574131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wrap="none" lIns="95" tIns="1068659" rIns="0" bIns="0" anchor="t" anchorCtr="0">
            <a:noAutofit/>
          </a:bodyPr>
          <a:lstStyle/>
          <a:p>
            <a:pPr algn="ctr">
              <a:lnSpc>
                <a:spcPts val="3840"/>
              </a:lnSpc>
            </a:pPr>
            <a:r>
              <a:rPr lang="zh-CN" sz="2400" b="1" dirty="0">
                <a:solidFill>
                  <a:srgbClr val="113884"/>
                </a:solidFill>
                <a:latin typeface="Arial"/>
                <a:ea typeface="Microsoft YaHei"/>
                <a:cs typeface="Arial"/>
              </a:rPr>
              <a:t>预测技能</a:t>
            </a:r>
            <a:br>
              <a:rPr lang="zh-CN" sz="2400" b="1" dirty="0">
                <a:solidFill>
                  <a:srgbClr val="113884"/>
                </a:solidFill>
                <a:latin typeface="Arial"/>
                <a:ea typeface="Microsoft YaHei"/>
                <a:cs typeface="Arial"/>
              </a:rPr>
            </a:br>
            <a:r>
              <a:rPr lang="zh-CN" sz="2400" b="1" dirty="0">
                <a:solidFill>
                  <a:srgbClr val="113884"/>
                </a:solidFill>
                <a:latin typeface="Arial"/>
                <a:ea typeface="Microsoft YaHei"/>
                <a:cs typeface="Arial"/>
              </a:rPr>
              <a:t>＋运行收益</a:t>
            </a:r>
          </a:p>
        </p:txBody>
      </p:sp>
      <p:sp>
        <p:nvSpPr>
          <p:cNvPr id="27" name="淘宝-想搞设计PPT(倒卖必究)-27"/>
          <p:cNvSpPr/>
          <p:nvPr/>
        </p:nvSpPr>
        <p:spPr>
          <a:xfrm>
            <a:off x="3540919" y="1842897"/>
            <a:ext cx="538544" cy="4117467"/>
          </a:xfrm>
          <a:custGeom>
            <a:avLst/>
            <a:gdLst/>
            <a:ahLst/>
            <a:cxnLst/>
            <a:rect l="l" t="t" r="r" b="b"/>
            <a:pathLst>
              <a:path w="538544" h="4117467">
                <a:moveTo>
                  <a:pt x="538544" y="56198"/>
                </a:moveTo>
                <a:lnTo>
                  <a:pt x="538544" y="0"/>
                </a:lnTo>
                <a:cubicBezTo>
                  <a:pt x="497396" y="16478"/>
                  <a:pt x="461486" y="32195"/>
                  <a:pt x="430625" y="48673"/>
                </a:cubicBezTo>
                <a:cubicBezTo>
                  <a:pt x="399669" y="65056"/>
                  <a:pt x="369951" y="90488"/>
                  <a:pt x="340995" y="124682"/>
                </a:cubicBezTo>
                <a:cubicBezTo>
                  <a:pt x="312039" y="158306"/>
                  <a:pt x="286036" y="200787"/>
                  <a:pt x="262795" y="251460"/>
                </a:cubicBezTo>
                <a:cubicBezTo>
                  <a:pt x="239554" y="303562"/>
                  <a:pt x="222028" y="355664"/>
                  <a:pt x="209360" y="409099"/>
                </a:cubicBezTo>
                <a:cubicBezTo>
                  <a:pt x="197549" y="462534"/>
                  <a:pt x="188785" y="520065"/>
                  <a:pt x="181928" y="581025"/>
                </a:cubicBezTo>
                <a:cubicBezTo>
                  <a:pt x="175451" y="642080"/>
                  <a:pt x="171260" y="709898"/>
                  <a:pt x="170117" y="781812"/>
                </a:cubicBezTo>
                <a:cubicBezTo>
                  <a:pt x="168593" y="855154"/>
                  <a:pt x="172784" y="937355"/>
                  <a:pt x="183452" y="1027843"/>
                </a:cubicBezTo>
                <a:lnTo>
                  <a:pt x="212027" y="1254633"/>
                </a:lnTo>
                <a:cubicBezTo>
                  <a:pt x="220504" y="1329976"/>
                  <a:pt x="223552" y="1408081"/>
                  <a:pt x="222790" y="1491044"/>
                </a:cubicBezTo>
                <a:cubicBezTo>
                  <a:pt x="222790" y="1581436"/>
                  <a:pt x="217742" y="1656112"/>
                  <a:pt x="207074" y="1714405"/>
                </a:cubicBezTo>
                <a:cubicBezTo>
                  <a:pt x="196787" y="1772602"/>
                  <a:pt x="185357" y="1815084"/>
                  <a:pt x="172022" y="1841182"/>
                </a:cubicBezTo>
                <a:cubicBezTo>
                  <a:pt x="159449" y="1866519"/>
                  <a:pt x="140399" y="1895951"/>
                  <a:pt x="115157" y="1928908"/>
                </a:cubicBezTo>
                <a:cubicBezTo>
                  <a:pt x="90011" y="1961102"/>
                  <a:pt x="72866" y="1978247"/>
                  <a:pt x="64103" y="1979581"/>
                </a:cubicBezTo>
                <a:lnTo>
                  <a:pt x="0" y="2000822"/>
                </a:lnTo>
                <a:lnTo>
                  <a:pt x="0" y="2109788"/>
                </a:lnTo>
                <a:cubicBezTo>
                  <a:pt x="43529" y="2128266"/>
                  <a:pt x="75914" y="2147411"/>
                  <a:pt x="97631" y="2167985"/>
                </a:cubicBezTo>
                <a:cubicBezTo>
                  <a:pt x="119348" y="2187892"/>
                  <a:pt x="139256" y="2217325"/>
                  <a:pt x="157544" y="2255044"/>
                </a:cubicBezTo>
                <a:cubicBezTo>
                  <a:pt x="175451" y="2293430"/>
                  <a:pt x="190691" y="2342769"/>
                  <a:pt x="202883" y="2403729"/>
                </a:cubicBezTo>
                <a:cubicBezTo>
                  <a:pt x="215456" y="2464022"/>
                  <a:pt x="222409" y="2531840"/>
                  <a:pt x="223552" y="2606516"/>
                </a:cubicBezTo>
                <a:cubicBezTo>
                  <a:pt x="224695" y="2681954"/>
                  <a:pt x="222028" y="2770346"/>
                  <a:pt x="214312" y="2873121"/>
                </a:cubicBezTo>
                <a:cubicBezTo>
                  <a:pt x="210503" y="2943701"/>
                  <a:pt x="205931" y="3003328"/>
                  <a:pt x="201359" y="3050572"/>
                </a:cubicBezTo>
                <a:lnTo>
                  <a:pt x="181928" y="3256121"/>
                </a:lnTo>
                <a:cubicBezTo>
                  <a:pt x="176975" y="3326702"/>
                  <a:pt x="175832" y="3393853"/>
                  <a:pt x="178499" y="3457575"/>
                </a:cubicBezTo>
                <a:cubicBezTo>
                  <a:pt x="181547" y="3528822"/>
                  <a:pt x="188024" y="3594640"/>
                  <a:pt x="197930" y="3652838"/>
                </a:cubicBezTo>
                <a:cubicBezTo>
                  <a:pt x="208217" y="3711130"/>
                  <a:pt x="221266" y="3762470"/>
                  <a:pt x="236506" y="3804952"/>
                </a:cubicBezTo>
                <a:cubicBezTo>
                  <a:pt x="251365" y="3848862"/>
                  <a:pt x="270796" y="3890677"/>
                  <a:pt x="294799" y="3931063"/>
                </a:cubicBezTo>
                <a:cubicBezTo>
                  <a:pt x="318135" y="3971449"/>
                  <a:pt x="341376" y="4003643"/>
                  <a:pt x="363855" y="4028313"/>
                </a:cubicBezTo>
                <a:lnTo>
                  <a:pt x="420338" y="4088702"/>
                </a:lnTo>
                <a:cubicBezTo>
                  <a:pt x="436340" y="4109180"/>
                  <a:pt x="448913" y="4117467"/>
                  <a:pt x="457676" y="4114705"/>
                </a:cubicBezTo>
                <a:cubicBezTo>
                  <a:pt x="466439" y="4111942"/>
                  <a:pt x="471773" y="4104418"/>
                  <a:pt x="473297" y="4092797"/>
                </a:cubicBezTo>
                <a:cubicBezTo>
                  <a:pt x="475202" y="4079748"/>
                  <a:pt x="470249" y="4064698"/>
                  <a:pt x="459200" y="4046220"/>
                </a:cubicBezTo>
                <a:cubicBezTo>
                  <a:pt x="455009" y="4040029"/>
                  <a:pt x="443579" y="4024884"/>
                  <a:pt x="424148" y="4001643"/>
                </a:cubicBezTo>
                <a:cubicBezTo>
                  <a:pt x="404717" y="3976973"/>
                  <a:pt x="386334" y="3946779"/>
                  <a:pt x="368808" y="3909155"/>
                </a:cubicBezTo>
                <a:cubicBezTo>
                  <a:pt x="350901" y="3871436"/>
                  <a:pt x="335661" y="3828288"/>
                  <a:pt x="323469" y="3776853"/>
                </a:cubicBezTo>
                <a:cubicBezTo>
                  <a:pt x="311277" y="3726847"/>
                  <a:pt x="303181" y="3681603"/>
                  <a:pt x="300133" y="3641884"/>
                </a:cubicBezTo>
                <a:cubicBezTo>
                  <a:pt x="296704" y="3602831"/>
                  <a:pt x="295180" y="3557588"/>
                  <a:pt x="295180" y="3509010"/>
                </a:cubicBezTo>
                <a:cubicBezTo>
                  <a:pt x="295942" y="3465766"/>
                  <a:pt x="298609" y="3398615"/>
                  <a:pt x="302800" y="3306128"/>
                </a:cubicBezTo>
                <a:cubicBezTo>
                  <a:pt x="307372" y="3213640"/>
                  <a:pt x="311658" y="3119723"/>
                  <a:pt x="315849" y="3025235"/>
                </a:cubicBezTo>
                <a:cubicBezTo>
                  <a:pt x="319659" y="2930652"/>
                  <a:pt x="320421" y="2847784"/>
                  <a:pt x="318135" y="2773775"/>
                </a:cubicBezTo>
                <a:cubicBezTo>
                  <a:pt x="315849" y="2677097"/>
                  <a:pt x="308515" y="2598325"/>
                  <a:pt x="297466" y="2538032"/>
                </a:cubicBezTo>
                <a:cubicBezTo>
                  <a:pt x="286417" y="2477738"/>
                  <a:pt x="268510" y="2410587"/>
                  <a:pt x="244126" y="2337911"/>
                </a:cubicBezTo>
                <a:cubicBezTo>
                  <a:pt x="219361" y="2264664"/>
                  <a:pt x="197930" y="2219420"/>
                  <a:pt x="179642" y="2202942"/>
                </a:cubicBezTo>
                <a:lnTo>
                  <a:pt x="53054" y="2063877"/>
                </a:lnTo>
                <a:cubicBezTo>
                  <a:pt x="90773" y="2027587"/>
                  <a:pt x="121253" y="1997393"/>
                  <a:pt x="144209" y="1973390"/>
                </a:cubicBezTo>
                <a:cubicBezTo>
                  <a:pt x="166688" y="1948720"/>
                  <a:pt x="186119" y="1922716"/>
                  <a:pt x="201359" y="1895951"/>
                </a:cubicBezTo>
                <a:cubicBezTo>
                  <a:pt x="216599" y="1869948"/>
                  <a:pt x="234982" y="1823371"/>
                  <a:pt x="256699" y="1756886"/>
                </a:cubicBezTo>
                <a:cubicBezTo>
                  <a:pt x="278035" y="1690402"/>
                  <a:pt x="294799" y="1625346"/>
                  <a:pt x="305467" y="1561624"/>
                </a:cubicBezTo>
                <a:cubicBezTo>
                  <a:pt x="316611" y="1498568"/>
                  <a:pt x="323088" y="1428655"/>
                  <a:pt x="325755" y="1351883"/>
                </a:cubicBezTo>
                <a:cubicBezTo>
                  <a:pt x="328803" y="1275874"/>
                  <a:pt x="328041" y="1201198"/>
                  <a:pt x="324231" y="1129189"/>
                </a:cubicBezTo>
                <a:cubicBezTo>
                  <a:pt x="322707" y="1090898"/>
                  <a:pt x="317373" y="1012698"/>
                  <a:pt x="307753" y="896302"/>
                </a:cubicBezTo>
                <a:cubicBezTo>
                  <a:pt x="298609" y="780479"/>
                  <a:pt x="293275" y="687991"/>
                  <a:pt x="292132" y="619411"/>
                </a:cubicBezTo>
                <a:cubicBezTo>
                  <a:pt x="290989" y="551593"/>
                  <a:pt x="294037" y="491966"/>
                  <a:pt x="302419" y="441293"/>
                </a:cubicBezTo>
                <a:cubicBezTo>
                  <a:pt x="308515" y="403574"/>
                  <a:pt x="321564" y="357664"/>
                  <a:pt x="340233" y="302228"/>
                </a:cubicBezTo>
                <a:cubicBezTo>
                  <a:pt x="359283" y="246698"/>
                  <a:pt x="381762" y="200787"/>
                  <a:pt x="408527" y="164497"/>
                </a:cubicBezTo>
                <a:cubicBezTo>
                  <a:pt x="434816" y="128111"/>
                  <a:pt x="459200" y="104108"/>
                  <a:pt x="480536" y="90488"/>
                </a:cubicBezTo>
                <a:lnTo>
                  <a:pt x="538544" y="56198"/>
                </a:lnTo>
                <a:close/>
              </a:path>
            </a:pathLst>
          </a:custGeom>
          <a:solidFill>
            <a:srgbClr val="11388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9" name="淘宝-想搞设计PPT(倒卖必究)-29"/>
          <p:cNvSpPr/>
          <p:nvPr/>
        </p:nvSpPr>
        <p:spPr>
          <a:xfrm>
            <a:off x="4315873" y="1842897"/>
            <a:ext cx="5715000" cy="400145"/>
          </a:xfrm>
          <a:prstGeom prst="rect">
            <a:avLst/>
          </a:prstGeom>
          <a:noFill/>
          <a:ln>
            <a:noFill/>
          </a:ln>
        </p:spPr>
        <p:txBody>
          <a:bodyPr wrap="none" lIns="91440" tIns="45723" rIns="0" bIns="0" anchor="t" anchorCtr="0">
            <a:noAutofit/>
          </a:bodyPr>
          <a:lstStyle/>
          <a:p>
            <a:pPr algn="l"/>
            <a:r>
              <a:rPr lang="zh-CN" sz="2020" b="1" dirty="0">
                <a:solidFill>
                  <a:srgbClr val="113884"/>
                </a:solidFill>
                <a:latin typeface="Arial"/>
                <a:ea typeface="Microsoft YaHei"/>
                <a:cs typeface="Arial"/>
              </a:rPr>
              <a:t>统一候选时距</a:t>
            </a:r>
          </a:p>
        </p:txBody>
      </p:sp>
      <p:sp>
        <p:nvSpPr>
          <p:cNvPr id="30" name="淘宝-想搞设计PPT(倒卖必究)-30"/>
          <p:cNvSpPr/>
          <p:nvPr/>
        </p:nvSpPr>
        <p:spPr>
          <a:xfrm>
            <a:off x="4315873" y="2209800"/>
            <a:ext cx="7289864" cy="656082"/>
          </a:xfrm>
          <a:prstGeom prst="rect">
            <a:avLst/>
          </a:prstGeom>
          <a:noFill/>
          <a:ln>
            <a:noFill/>
          </a:ln>
        </p:spPr>
        <p:txBody>
          <a:bodyPr wrap="none" lIns="91440" tIns="58396" rIns="0" bIns="0" anchor="t" anchorCtr="0">
            <a:noAutofit/>
          </a:bodyPr>
          <a:lstStyle/>
          <a:p>
            <a:pPr algn="l"/>
            <a:r>
              <a:rPr lang="zh-CN" sz="165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15分钟粒度下对照1、2、4、8、12、18和24小时。</a:t>
            </a:r>
          </a:p>
        </p:txBody>
      </p:sp>
      <p:sp>
        <p:nvSpPr>
          <p:cNvPr id="32" name="淘宝-想搞设计PPT(倒卖必究)-32"/>
          <p:cNvSpPr/>
          <p:nvPr/>
        </p:nvSpPr>
        <p:spPr>
          <a:xfrm>
            <a:off x="4315873" y="5198936"/>
            <a:ext cx="5715000" cy="400145"/>
          </a:xfrm>
          <a:prstGeom prst="rect">
            <a:avLst/>
          </a:prstGeom>
          <a:noFill/>
          <a:ln>
            <a:noFill/>
          </a:ln>
        </p:spPr>
        <p:txBody>
          <a:bodyPr wrap="none" lIns="91440" tIns="45698" rIns="0" bIns="0" anchor="t" anchorCtr="0">
            <a:noAutofit/>
          </a:bodyPr>
          <a:lstStyle/>
          <a:p>
            <a:pPr algn="l"/>
            <a:r>
              <a:rPr lang="zh-CN" sz="2020" b="1" dirty="0">
                <a:solidFill>
                  <a:srgbClr val="113884"/>
                </a:solidFill>
                <a:latin typeface="Arial"/>
                <a:ea typeface="Microsoft YaHei"/>
                <a:cs typeface="Arial"/>
              </a:rPr>
              <a:t>比较边际收益</a:t>
            </a:r>
          </a:p>
        </p:txBody>
      </p:sp>
      <p:sp>
        <p:nvSpPr>
          <p:cNvPr id="33" name="淘宝-想搞设计PPT(倒卖必究)-33"/>
          <p:cNvSpPr/>
          <p:nvPr/>
        </p:nvSpPr>
        <p:spPr>
          <a:xfrm>
            <a:off x="4315873" y="5577173"/>
            <a:ext cx="7289864" cy="362807"/>
          </a:xfrm>
          <a:prstGeom prst="rect">
            <a:avLst/>
          </a:prstGeom>
          <a:noFill/>
          <a:ln>
            <a:noFill/>
          </a:ln>
        </p:spPr>
        <p:txBody>
          <a:bodyPr wrap="none" lIns="91440" tIns="58467" rIns="0" bIns="0" anchor="t" anchorCtr="0">
            <a:noAutofit/>
          </a:bodyPr>
          <a:lstStyle/>
          <a:p>
            <a:pPr algn="l"/>
            <a:r>
              <a:rPr lang="zh-CN" sz="165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观察新增远期信息收益何时饱和，同时计入预报与服务成本。</a:t>
            </a:r>
          </a:p>
        </p:txBody>
      </p:sp>
      <p:sp>
        <p:nvSpPr>
          <p:cNvPr id="35" name="淘宝-想搞设计PPT(倒卖必究)-35"/>
          <p:cNvSpPr/>
          <p:nvPr/>
        </p:nvSpPr>
        <p:spPr>
          <a:xfrm>
            <a:off x="4315873" y="3550825"/>
            <a:ext cx="6577489" cy="41814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60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6" name="淘宝-想搞设计PPT(倒卖必究)-36"/>
          <p:cNvSpPr/>
          <p:nvPr/>
        </p:nvSpPr>
        <p:spPr>
          <a:xfrm>
            <a:off x="4315873" y="3526441"/>
            <a:ext cx="5715000" cy="400145"/>
          </a:xfrm>
          <a:prstGeom prst="rect">
            <a:avLst/>
          </a:prstGeom>
          <a:noFill/>
          <a:ln>
            <a:noFill/>
          </a:ln>
        </p:spPr>
        <p:txBody>
          <a:bodyPr wrap="none" lIns="91440" tIns="45680" rIns="0" bIns="0" anchor="t" anchorCtr="0">
            <a:noAutofit/>
          </a:bodyPr>
          <a:lstStyle/>
          <a:p>
            <a:pPr algn="l"/>
            <a:r>
              <a:rPr lang="zh-CN" sz="2020" b="1" dirty="0">
                <a:solidFill>
                  <a:srgbClr val="113884"/>
                </a:solidFill>
                <a:latin typeface="Arial"/>
                <a:ea typeface="Microsoft YaHei"/>
                <a:cs typeface="Arial"/>
              </a:rPr>
              <a:t>检验远期技能</a:t>
            </a:r>
          </a:p>
        </p:txBody>
      </p:sp>
      <p:sp>
        <p:nvSpPr>
          <p:cNvPr id="37" name="淘宝-想搞设计PPT(倒卖必究)-37"/>
          <p:cNvSpPr/>
          <p:nvPr/>
        </p:nvSpPr>
        <p:spPr>
          <a:xfrm>
            <a:off x="4315873" y="3882295"/>
            <a:ext cx="7289864" cy="658273"/>
          </a:xfrm>
          <a:prstGeom prst="rect">
            <a:avLst/>
          </a:prstGeom>
          <a:noFill/>
          <a:ln>
            <a:noFill/>
          </a:ln>
        </p:spPr>
        <p:txBody>
          <a:bodyPr wrap="none" lIns="91440" tIns="58414" rIns="0" bIns="0" anchor="t" anchorCtr="0">
            <a:no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逐提前量评价误差与基准技能，固定测试期和天气版本。</a:t>
            </a:r>
          </a:p>
        </p:txBody>
      </p:sp>
      <p:cxnSp>
        <p:nvCxnSpPr>
          <p:cNvPr id="39" name="淘宝-想搞设计PPT(倒卖必究)-39"/>
          <p:cNvCxnSpPr/>
          <p:nvPr/>
        </p:nvCxnSpPr>
        <p:spPr>
          <a:xfrm>
            <a:off x="4409408" y="3190208"/>
            <a:ext cx="7092029" cy="0"/>
          </a:xfrm>
          <a:prstGeom prst="line">
            <a:avLst/>
          </a:prstGeom>
          <a:noFill/>
          <a:ln w="9525">
            <a:solidFill>
              <a:srgbClr val="D9D9D9"/>
            </a:solidFill>
          </a:ln>
        </p:spPr>
      </p:cxnSp>
      <p:cxnSp>
        <p:nvCxnSpPr>
          <p:cNvPr id="40" name="淘宝-想搞设计PPT(倒卖必究)-40"/>
          <p:cNvCxnSpPr/>
          <p:nvPr/>
        </p:nvCxnSpPr>
        <p:spPr>
          <a:xfrm>
            <a:off x="4409408" y="4876800"/>
            <a:ext cx="7092029" cy="0"/>
          </a:xfrm>
          <a:prstGeom prst="line">
            <a:avLst/>
          </a:prstGeom>
          <a:noFill/>
          <a:ln w="9525">
            <a:solidFill>
              <a:srgbClr val="D9D9D9"/>
            </a:solidFill>
          </a:ln>
        </p:spPr>
      </p:cxnSp>
      <p:grpSp>
        <p:nvGrpSpPr>
          <p:cNvPr id="28" name="Picture 40"/>
          <p:cNvGrpSpPr/>
          <p:nvPr/>
        </p:nvGrpSpPr>
        <p:grpSpPr>
          <a:xfrm>
            <a:off x="356044" y="158210"/>
            <a:ext cx="2011870" cy="617220"/>
            <a:chOff x="356044" y="158210"/>
            <a:chExt cx="2011870" cy="617220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6044" y="158210"/>
              <a:ext cx="2011870" cy="617220"/>
            </a:xfrm>
            <a:prstGeom prst="rect">
              <a:avLst/>
            </a:prstGeom>
          </p:spPr>
        </p:pic>
      </p:grpSp>
      <p:grpSp>
        <p:nvGrpSpPr>
          <p:cNvPr id="34" name="core-title"/>
          <p:cNvGrpSpPr/>
          <p:nvPr/>
        </p:nvGrpSpPr>
        <p:grpSpPr>
          <a:xfrm>
            <a:off x="416433" y="1069975"/>
            <a:ext cx="5516880" cy="469392"/>
            <a:chOff x="416433" y="1069975"/>
            <a:chExt cx="5516880" cy="469392"/>
          </a:xfrm>
        </p:grpSpPr>
        <p:sp>
          <p:nvSpPr>
            <p:cNvPr id="31" name="TextBox 31"/>
            <p:cNvSpPr txBox="1"/>
            <p:nvPr/>
          </p:nvSpPr>
          <p:spPr>
            <a:xfrm>
              <a:off x="416433" y="1069975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13884"/>
                  </a:solidFill>
                  <a:latin typeface="Arial"/>
                  <a:ea typeface="Microsoft YaHei"/>
                  <a:cs typeface="Arial"/>
                </a:rPr>
                <a:t>有用时距应由技能与调度回测共同确定</a:t>
              </a:r>
            </a:p>
          </p:txBody>
        </p:sp>
      </p:grpSp>
      <p:grpSp>
        <p:nvGrpSpPr>
          <p:cNvPr id="42" name="source-citation"/>
          <p:cNvGrpSpPr/>
          <p:nvPr/>
        </p:nvGrpSpPr>
        <p:grpSpPr>
          <a:xfrm>
            <a:off x="422529" y="6315075"/>
            <a:ext cx="3482797" cy="234696"/>
            <a:chOff x="422529" y="6315075"/>
            <a:chExt cx="3482797" cy="234696"/>
          </a:xfrm>
        </p:grpSpPr>
        <p:sp>
          <p:nvSpPr>
            <p:cNvPr id="38" name="TextBox 38"/>
            <p:cNvSpPr txBox="1"/>
            <p:nvPr/>
          </p:nvSpPr>
          <p:spPr>
            <a:xfrm>
              <a:off x="422529" y="6315075"/>
              <a:ext cx="34827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依据原文 [9,14–16,20] · 文献编号与Word一致</a:t>
              </a:r>
            </a:p>
          </p:txBody>
        </p:sp>
      </p:grpSp>
    </p:spTree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淘宝-想搞设计PPT(倒卖必究)-13"/>
          <p:cNvSpPr/>
          <p:nvPr/>
        </p:nvSpPr>
        <p:spPr>
          <a:xfrm>
            <a:off x="0" y="0"/>
            <a:ext cx="12192000" cy="79200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55600" dist="190500" dir="5400000" algn="ctr" rotWithShape="0">
              <a:srgbClr val="000000">
                <a:alpha val="825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cxnSp>
        <p:nvCxnSpPr>
          <p:cNvPr id="12" name="淘宝-想搞设计PPT(倒卖必究)-12"/>
          <p:cNvCxnSpPr/>
          <p:nvPr/>
        </p:nvCxnSpPr>
        <p:spPr>
          <a:xfrm>
            <a:off x="6521768" y="4937474"/>
            <a:ext cx="1836039" cy="0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3" name="淘宝-想搞设计PPT(倒卖必究)-3"/>
          <p:cNvCxnSpPr/>
          <p:nvPr/>
        </p:nvCxnSpPr>
        <p:spPr>
          <a:xfrm>
            <a:off x="4594670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4" name="淘宝-想搞设计PPT(倒卖必究)-4"/>
          <p:cNvCxnSpPr/>
          <p:nvPr/>
        </p:nvCxnSpPr>
        <p:spPr>
          <a:xfrm>
            <a:off x="9802082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5" name="淘宝-想搞设计PPT(倒卖必究)-5"/>
          <p:cNvSpPr/>
          <p:nvPr/>
        </p:nvSpPr>
        <p:spPr>
          <a:xfrm>
            <a:off x="3147155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需求边界</a:t>
            </a:r>
          </a:p>
        </p:txBody>
      </p:sp>
      <p:sp>
        <p:nvSpPr>
          <p:cNvPr id="6" name="淘宝-想搞设计PPT(倒卖必究)-6"/>
          <p:cNvSpPr/>
          <p:nvPr/>
        </p:nvSpPr>
        <p:spPr>
          <a:xfrm>
            <a:off x="8354473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研究空白</a:t>
            </a:r>
          </a:p>
        </p:txBody>
      </p:sp>
      <p:sp>
        <p:nvSpPr>
          <p:cNvPr id="7" name="淘宝-想搞设计PPT(倒卖必究)-7"/>
          <p:cNvSpPr/>
          <p:nvPr/>
        </p:nvSpPr>
        <p:spPr>
          <a:xfrm>
            <a:off x="10090309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研究主线</a:t>
            </a:r>
          </a:p>
        </p:txBody>
      </p:sp>
      <p:sp>
        <p:nvSpPr>
          <p:cNvPr id="8" name="淘宝-想搞设计PPT(倒卖必究)-8"/>
          <p:cNvSpPr/>
          <p:nvPr/>
        </p:nvSpPr>
        <p:spPr>
          <a:xfrm>
            <a:off x="8106251" y="0"/>
            <a:ext cx="1656017" cy="792004"/>
          </a:xfrm>
          <a:prstGeom prst="rect">
            <a:avLst/>
          </a:prstGeom>
          <a:solidFill>
            <a:srgbClr val="113884"/>
          </a:solidFill>
          <a:ln>
            <a:noFill/>
          </a:ln>
        </p:spPr>
      </p:sp>
      <p:sp>
        <p:nvSpPr>
          <p:cNvPr id="9" name="淘宝-想搞设计PPT(倒卖必究)-9"/>
          <p:cNvSpPr/>
          <p:nvPr/>
        </p:nvSpPr>
        <p:spPr>
          <a:xfrm>
            <a:off x="4882896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研究现状</a:t>
            </a:r>
          </a:p>
        </p:txBody>
      </p:sp>
      <p:cxnSp>
        <p:nvCxnSpPr>
          <p:cNvPr id="10" name="淘宝-想搞设计PPT(倒卖必究)-10"/>
          <p:cNvCxnSpPr/>
          <p:nvPr/>
        </p:nvCxnSpPr>
        <p:spPr>
          <a:xfrm>
            <a:off x="2858929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11" name="淘宝-想搞设计PPT(倒卖必究)-11"/>
          <p:cNvSpPr/>
          <p:nvPr/>
        </p:nvSpPr>
        <p:spPr>
          <a:xfrm>
            <a:off x="6375082" y="211360"/>
            <a:ext cx="1646587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评价方法</a:t>
            </a:r>
          </a:p>
        </p:txBody>
      </p:sp>
      <p:sp>
        <p:nvSpPr>
          <p:cNvPr id="39" name="淘宝-想搞设计PPT(倒卖必究)-39"/>
          <p:cNvSpPr/>
          <p:nvPr/>
        </p:nvSpPr>
        <p:spPr>
          <a:xfrm>
            <a:off x="2730722" y="2060067"/>
            <a:ext cx="8765953" cy="971931"/>
          </a:xfrm>
          <a:custGeom>
            <a:avLst/>
            <a:gdLst/>
            <a:ahLst/>
            <a:cxnLst/>
            <a:rect l="l" t="t" r="r" b="b"/>
            <a:pathLst>
              <a:path w="8765953" h="971931">
                <a:moveTo>
                  <a:pt x="269653" y="0"/>
                </a:moveTo>
                <a:lnTo>
                  <a:pt x="2704528" y="0"/>
                </a:lnTo>
                <a:lnTo>
                  <a:pt x="8623840" y="0"/>
                </a:lnTo>
                <a:lnTo>
                  <a:pt x="8765953" y="0"/>
                </a:lnTo>
                <a:lnTo>
                  <a:pt x="8765953" y="971931"/>
                </a:lnTo>
                <a:lnTo>
                  <a:pt x="8354187" y="971931"/>
                </a:lnTo>
                <a:lnTo>
                  <a:pt x="2704528" y="971931"/>
                </a:lnTo>
                <a:lnTo>
                  <a:pt x="0" y="971931"/>
                </a:lnTo>
                <a:close/>
              </a:path>
            </a:pathLst>
          </a:custGeom>
          <a:noFill/>
          <a:ln w="9525">
            <a:solidFill>
              <a:srgbClr val="BFBFBF"/>
            </a:solidFill>
          </a:ln>
        </p:spPr>
        <p:txBody>
          <a:bodyPr wrap="none" lIns="548640" tIns="346774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按真实传感器或预报误差扰动辐照度、云量与温度。</a:t>
            </a:r>
          </a:p>
        </p:txBody>
      </p:sp>
      <p:sp>
        <p:nvSpPr>
          <p:cNvPr id="40" name="淘宝-想搞设计PPT(倒卖必究)-40"/>
          <p:cNvSpPr/>
          <p:nvPr/>
        </p:nvSpPr>
        <p:spPr>
          <a:xfrm>
            <a:off x="403765" y="2060067"/>
            <a:ext cx="2369248" cy="971931"/>
          </a:xfrm>
          <a:custGeom>
            <a:avLst/>
            <a:gdLst/>
            <a:ahLst/>
            <a:cxnLst/>
            <a:rect l="l" t="t" r="r" b="b"/>
            <a:pathLst>
              <a:path w="2369248" h="971931">
                <a:moveTo>
                  <a:pt x="0" y="0"/>
                </a:moveTo>
                <a:lnTo>
                  <a:pt x="650272" y="0"/>
                </a:lnTo>
                <a:lnTo>
                  <a:pt x="1967579" y="0"/>
                </a:lnTo>
                <a:lnTo>
                  <a:pt x="2369248" y="0"/>
                </a:lnTo>
                <a:lnTo>
                  <a:pt x="2120741" y="971931"/>
                </a:lnTo>
                <a:lnTo>
                  <a:pt x="1967579" y="971931"/>
                </a:lnTo>
                <a:lnTo>
                  <a:pt x="401669" y="971931"/>
                </a:lnTo>
                <a:lnTo>
                  <a:pt x="0" y="971931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wrap="none" lIns="0" tIns="348806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真实误差</a:t>
            </a:r>
          </a:p>
        </p:txBody>
      </p:sp>
      <p:sp>
        <p:nvSpPr>
          <p:cNvPr id="41" name="淘宝-想搞设计PPT(倒卖必究)-41"/>
          <p:cNvSpPr/>
          <p:nvPr/>
        </p:nvSpPr>
        <p:spPr>
          <a:xfrm>
            <a:off x="2433352" y="3250692"/>
            <a:ext cx="9063323" cy="971931"/>
          </a:xfrm>
          <a:custGeom>
            <a:avLst/>
            <a:gdLst/>
            <a:ahLst/>
            <a:cxnLst/>
            <a:rect l="l" t="t" r="r" b="b"/>
            <a:pathLst>
              <a:path w="9063323" h="971931">
                <a:moveTo>
                  <a:pt x="278797" y="0"/>
                </a:moveTo>
                <a:lnTo>
                  <a:pt x="2796254" y="0"/>
                </a:lnTo>
                <a:lnTo>
                  <a:pt x="8916352" y="0"/>
                </a:lnTo>
                <a:lnTo>
                  <a:pt x="9063323" y="0"/>
                </a:lnTo>
                <a:lnTo>
                  <a:pt x="9063323" y="971931"/>
                </a:lnTo>
                <a:lnTo>
                  <a:pt x="8637556" y="971931"/>
                </a:lnTo>
                <a:lnTo>
                  <a:pt x="2796254" y="971931"/>
                </a:lnTo>
                <a:lnTo>
                  <a:pt x="0" y="971931"/>
                </a:lnTo>
                <a:close/>
              </a:path>
            </a:pathLst>
          </a:custGeom>
          <a:noFill/>
          <a:ln w="9525">
            <a:solidFill>
              <a:srgbClr val="113884"/>
            </a:solidFill>
          </a:ln>
        </p:spPr>
        <p:txBody>
          <a:bodyPr wrap="none" lIns="548640" tIns="346774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分别测试延迟、降采样与缺测，明确可接受输入质量。</a:t>
            </a:r>
          </a:p>
        </p:txBody>
      </p:sp>
      <p:sp>
        <p:nvSpPr>
          <p:cNvPr id="42" name="淘宝-想搞设计PPT(倒卖必究)-42"/>
          <p:cNvSpPr/>
          <p:nvPr/>
        </p:nvSpPr>
        <p:spPr>
          <a:xfrm>
            <a:off x="403765" y="3250692"/>
            <a:ext cx="2058829" cy="971931"/>
          </a:xfrm>
          <a:custGeom>
            <a:avLst/>
            <a:gdLst/>
            <a:ahLst/>
            <a:cxnLst/>
            <a:rect l="l" t="t" r="r" b="b"/>
            <a:pathLst>
              <a:path w="2058829" h="971931">
                <a:moveTo>
                  <a:pt x="0" y="0"/>
                </a:moveTo>
                <a:lnTo>
                  <a:pt x="565023" y="0"/>
                </a:lnTo>
                <a:lnTo>
                  <a:pt x="1709833" y="0"/>
                </a:lnTo>
                <a:lnTo>
                  <a:pt x="2058829" y="0"/>
                </a:lnTo>
                <a:lnTo>
                  <a:pt x="1842897" y="971931"/>
                </a:lnTo>
                <a:lnTo>
                  <a:pt x="1709833" y="971931"/>
                </a:lnTo>
                <a:lnTo>
                  <a:pt x="349091" y="971931"/>
                </a:lnTo>
                <a:lnTo>
                  <a:pt x="0" y="971931"/>
                </a:lnTo>
                <a:close/>
              </a:path>
            </a:pathLst>
          </a:custGeom>
          <a:solidFill>
            <a:srgbClr val="113884">
              <a:alpha val="90000"/>
            </a:srgbClr>
          </a:solidFill>
          <a:ln>
            <a:noFill/>
          </a:ln>
        </p:spPr>
        <p:txBody>
          <a:bodyPr wrap="none" lIns="95" tIns="348806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服务质量</a:t>
            </a:r>
          </a:p>
        </p:txBody>
      </p:sp>
      <p:sp>
        <p:nvSpPr>
          <p:cNvPr id="43" name="淘宝-想搞设计PPT(倒卖必究)-43"/>
          <p:cNvSpPr/>
          <p:nvPr/>
        </p:nvSpPr>
        <p:spPr>
          <a:xfrm>
            <a:off x="2111883" y="4441317"/>
            <a:ext cx="9384792" cy="971931"/>
          </a:xfrm>
          <a:custGeom>
            <a:avLst/>
            <a:gdLst/>
            <a:ahLst/>
            <a:cxnLst/>
            <a:rect l="l" t="t" r="r" b="b"/>
            <a:pathLst>
              <a:path w="9384792" h="971931">
                <a:moveTo>
                  <a:pt x="288703" y="0"/>
                </a:moveTo>
                <a:lnTo>
                  <a:pt x="2895410" y="0"/>
                </a:lnTo>
                <a:lnTo>
                  <a:pt x="9232678" y="0"/>
                </a:lnTo>
                <a:lnTo>
                  <a:pt x="9384792" y="0"/>
                </a:lnTo>
                <a:lnTo>
                  <a:pt x="9384792" y="971931"/>
                </a:lnTo>
                <a:lnTo>
                  <a:pt x="8943975" y="971931"/>
                </a:lnTo>
                <a:lnTo>
                  <a:pt x="2895410" y="971931"/>
                </a:lnTo>
                <a:lnTo>
                  <a:pt x="0" y="971931"/>
                </a:lnTo>
                <a:close/>
              </a:path>
            </a:pathLst>
          </a:custGeom>
          <a:noFill/>
          <a:ln w="9525">
            <a:solidFill>
              <a:srgbClr val="BFBFBF"/>
            </a:solidFill>
          </a:ln>
        </p:spPr>
        <p:txBody>
          <a:bodyPr wrap="none" lIns="548640" tIns="346774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观察功率误差与运行后果；变量重要不等于数据足够准。</a:t>
            </a:r>
          </a:p>
        </p:txBody>
      </p:sp>
      <p:sp>
        <p:nvSpPr>
          <p:cNvPr id="44" name="淘宝-想搞设计PPT(倒卖必究)-44"/>
          <p:cNvSpPr/>
          <p:nvPr/>
        </p:nvSpPr>
        <p:spPr>
          <a:xfrm>
            <a:off x="403765" y="4441317"/>
            <a:ext cx="1786033" cy="971931"/>
          </a:xfrm>
          <a:custGeom>
            <a:avLst/>
            <a:gdLst/>
            <a:ahLst/>
            <a:cxnLst/>
            <a:rect l="l" t="t" r="r" b="b"/>
            <a:pathLst>
              <a:path w="1786033" h="971931">
                <a:moveTo>
                  <a:pt x="0" y="0"/>
                </a:moveTo>
                <a:lnTo>
                  <a:pt x="490156" y="0"/>
                </a:lnTo>
                <a:lnTo>
                  <a:pt x="1483233" y="0"/>
                </a:lnTo>
                <a:lnTo>
                  <a:pt x="1786033" y="0"/>
                </a:lnTo>
                <a:lnTo>
                  <a:pt x="1598676" y="971931"/>
                </a:lnTo>
                <a:lnTo>
                  <a:pt x="1483233" y="971931"/>
                </a:lnTo>
                <a:lnTo>
                  <a:pt x="302800" y="971931"/>
                </a:lnTo>
                <a:lnTo>
                  <a:pt x="0" y="971931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wrap="none" lIns="95" tIns="348806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业务影响</a:t>
            </a:r>
          </a:p>
        </p:txBody>
      </p:sp>
      <p:grpSp>
        <p:nvGrpSpPr>
          <p:cNvPr id="25" name="Picture 44"/>
          <p:cNvGrpSpPr/>
          <p:nvPr/>
        </p:nvGrpSpPr>
        <p:grpSpPr>
          <a:xfrm>
            <a:off x="356044" y="158210"/>
            <a:ext cx="2011870" cy="617220"/>
            <a:chOff x="356044" y="158210"/>
            <a:chExt cx="2011870" cy="617220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6044" y="158210"/>
              <a:ext cx="2011870" cy="617220"/>
            </a:xfrm>
            <a:prstGeom prst="rect">
              <a:avLst/>
            </a:prstGeom>
          </p:spPr>
        </p:pic>
      </p:grpSp>
      <p:grpSp>
        <p:nvGrpSpPr>
          <p:cNvPr id="27" name="core-title"/>
          <p:cNvGrpSpPr/>
          <p:nvPr/>
        </p:nvGrpSpPr>
        <p:grpSpPr>
          <a:xfrm>
            <a:off x="416433" y="1098550"/>
            <a:ext cx="4547616" cy="469392"/>
            <a:chOff x="416433" y="1098550"/>
            <a:chExt cx="4547616" cy="469392"/>
          </a:xfrm>
        </p:grpSpPr>
        <p:sp>
          <p:nvSpPr>
            <p:cNvPr id="26" name="TextBox 26"/>
            <p:cNvSpPr txBox="1"/>
            <p:nvPr/>
          </p:nvSpPr>
          <p:spPr>
            <a:xfrm>
              <a:off x="416433" y="1098550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13884"/>
                  </a:solidFill>
                  <a:latin typeface="Arial"/>
                  <a:ea typeface="Microsoft YaHei"/>
                  <a:cs typeface="Arial"/>
                </a:rPr>
                <a:t>输入精度门槛仍需扰动实验确定</a:t>
              </a:r>
            </a:p>
          </p:txBody>
        </p:sp>
      </p:grpSp>
      <p:grpSp>
        <p:nvGrpSpPr>
          <p:cNvPr id="29" name="source-citation"/>
          <p:cNvGrpSpPr/>
          <p:nvPr/>
        </p:nvGrpSpPr>
        <p:grpSpPr>
          <a:xfrm>
            <a:off x="422529" y="6315075"/>
            <a:ext cx="3482797" cy="234696"/>
            <a:chOff x="422529" y="6315075"/>
            <a:chExt cx="3482797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422529" y="6315075"/>
              <a:ext cx="34827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依据原文 [18]；原文 §7 · 文献编号与Word一致</a:t>
              </a:r>
            </a:p>
          </p:txBody>
        </p:sp>
      </p:grpSp>
    </p:spTree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淘宝-想搞设计PPT(倒卖必究)-13"/>
          <p:cNvSpPr/>
          <p:nvPr/>
        </p:nvSpPr>
        <p:spPr>
          <a:xfrm>
            <a:off x="0" y="0"/>
            <a:ext cx="12192000" cy="79200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55600" dist="190500" dir="5400000" algn="ctr" rotWithShape="0">
              <a:srgbClr val="000000">
                <a:alpha val="825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cxnSp>
        <p:nvCxnSpPr>
          <p:cNvPr id="12" name="淘宝-想搞设计PPT(倒卖必究)-12"/>
          <p:cNvCxnSpPr/>
          <p:nvPr/>
        </p:nvCxnSpPr>
        <p:spPr>
          <a:xfrm>
            <a:off x="6521768" y="4937474"/>
            <a:ext cx="1836039" cy="0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3" name="淘宝-想搞设计PPT(倒卖必究)-3"/>
          <p:cNvCxnSpPr/>
          <p:nvPr/>
        </p:nvCxnSpPr>
        <p:spPr>
          <a:xfrm>
            <a:off x="4594670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4" name="淘宝-想搞设计PPT(倒卖必究)-4"/>
          <p:cNvCxnSpPr/>
          <p:nvPr/>
        </p:nvCxnSpPr>
        <p:spPr>
          <a:xfrm>
            <a:off x="9802082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5" name="淘宝-想搞设计PPT(倒卖必究)-5"/>
          <p:cNvSpPr/>
          <p:nvPr/>
        </p:nvSpPr>
        <p:spPr>
          <a:xfrm>
            <a:off x="3147155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需求边界</a:t>
            </a:r>
          </a:p>
        </p:txBody>
      </p:sp>
      <p:sp>
        <p:nvSpPr>
          <p:cNvPr id="6" name="淘宝-想搞设计PPT(倒卖必究)-6"/>
          <p:cNvSpPr/>
          <p:nvPr/>
        </p:nvSpPr>
        <p:spPr>
          <a:xfrm>
            <a:off x="8354473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研究空白</a:t>
            </a:r>
          </a:p>
        </p:txBody>
      </p:sp>
      <p:sp>
        <p:nvSpPr>
          <p:cNvPr id="7" name="淘宝-想搞设计PPT(倒卖必究)-7"/>
          <p:cNvSpPr/>
          <p:nvPr/>
        </p:nvSpPr>
        <p:spPr>
          <a:xfrm>
            <a:off x="10090309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研究主线</a:t>
            </a:r>
          </a:p>
        </p:txBody>
      </p:sp>
      <p:sp>
        <p:nvSpPr>
          <p:cNvPr id="8" name="淘宝-想搞设计PPT(倒卖必究)-8"/>
          <p:cNvSpPr/>
          <p:nvPr/>
        </p:nvSpPr>
        <p:spPr>
          <a:xfrm>
            <a:off x="8106251" y="0"/>
            <a:ext cx="1656017" cy="792004"/>
          </a:xfrm>
          <a:prstGeom prst="rect">
            <a:avLst/>
          </a:prstGeom>
          <a:solidFill>
            <a:srgbClr val="113884"/>
          </a:solidFill>
          <a:ln>
            <a:noFill/>
          </a:ln>
        </p:spPr>
      </p:sp>
      <p:sp>
        <p:nvSpPr>
          <p:cNvPr id="9" name="淘宝-想搞设计PPT(倒卖必究)-9"/>
          <p:cNvSpPr/>
          <p:nvPr/>
        </p:nvSpPr>
        <p:spPr>
          <a:xfrm>
            <a:off x="4882896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研究现状</a:t>
            </a:r>
          </a:p>
        </p:txBody>
      </p:sp>
      <p:cxnSp>
        <p:nvCxnSpPr>
          <p:cNvPr id="10" name="淘宝-想搞设计PPT(倒卖必究)-10"/>
          <p:cNvCxnSpPr/>
          <p:nvPr/>
        </p:nvCxnSpPr>
        <p:spPr>
          <a:xfrm>
            <a:off x="2858929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11" name="淘宝-想搞设计PPT(倒卖必究)-11"/>
          <p:cNvSpPr/>
          <p:nvPr/>
        </p:nvSpPr>
        <p:spPr>
          <a:xfrm>
            <a:off x="6375082" y="211360"/>
            <a:ext cx="1646587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评价方法</a:t>
            </a:r>
          </a:p>
        </p:txBody>
      </p:sp>
      <p:sp>
        <p:nvSpPr>
          <p:cNvPr id="39" name="淘宝-想搞设计PPT(倒卖必究)-39"/>
          <p:cNvSpPr/>
          <p:nvPr/>
        </p:nvSpPr>
        <p:spPr>
          <a:xfrm>
            <a:off x="2730722" y="2060067"/>
            <a:ext cx="8765953" cy="971931"/>
          </a:xfrm>
          <a:custGeom>
            <a:avLst/>
            <a:gdLst/>
            <a:ahLst/>
            <a:cxnLst/>
            <a:rect l="l" t="t" r="r" b="b"/>
            <a:pathLst>
              <a:path w="8765953" h="971931">
                <a:moveTo>
                  <a:pt x="269653" y="0"/>
                </a:moveTo>
                <a:lnTo>
                  <a:pt x="2704528" y="0"/>
                </a:lnTo>
                <a:lnTo>
                  <a:pt x="8623840" y="0"/>
                </a:lnTo>
                <a:lnTo>
                  <a:pt x="8765953" y="0"/>
                </a:lnTo>
                <a:lnTo>
                  <a:pt x="8765953" y="971931"/>
                </a:lnTo>
                <a:lnTo>
                  <a:pt x="8354187" y="971931"/>
                </a:lnTo>
                <a:lnTo>
                  <a:pt x="2704528" y="971931"/>
                </a:lnTo>
                <a:lnTo>
                  <a:pt x="0" y="971931"/>
                </a:lnTo>
                <a:close/>
              </a:path>
            </a:pathLst>
          </a:custGeom>
          <a:noFill/>
          <a:ln w="9525">
            <a:solidFill>
              <a:srgbClr val="BFBFBF"/>
            </a:solidFill>
          </a:ln>
        </p:spPr>
        <p:txBody>
          <a:bodyPr wrap="none" lIns="548640" tIns="346774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留季节与天气分层测试，检查分布变化和解释稳定性。</a:t>
            </a:r>
          </a:p>
        </p:txBody>
      </p:sp>
      <p:sp>
        <p:nvSpPr>
          <p:cNvPr id="40" name="淘宝-想搞设计PPT(倒卖必究)-40"/>
          <p:cNvSpPr/>
          <p:nvPr/>
        </p:nvSpPr>
        <p:spPr>
          <a:xfrm>
            <a:off x="403765" y="2060067"/>
            <a:ext cx="2369248" cy="971931"/>
          </a:xfrm>
          <a:custGeom>
            <a:avLst/>
            <a:gdLst/>
            <a:ahLst/>
            <a:cxnLst/>
            <a:rect l="l" t="t" r="r" b="b"/>
            <a:pathLst>
              <a:path w="2369248" h="971931">
                <a:moveTo>
                  <a:pt x="0" y="0"/>
                </a:moveTo>
                <a:lnTo>
                  <a:pt x="650272" y="0"/>
                </a:lnTo>
                <a:lnTo>
                  <a:pt x="1967579" y="0"/>
                </a:lnTo>
                <a:lnTo>
                  <a:pt x="2369248" y="0"/>
                </a:lnTo>
                <a:lnTo>
                  <a:pt x="2120741" y="971931"/>
                </a:lnTo>
                <a:lnTo>
                  <a:pt x="1967579" y="971931"/>
                </a:lnTo>
                <a:lnTo>
                  <a:pt x="401669" y="971931"/>
                </a:lnTo>
                <a:lnTo>
                  <a:pt x="0" y="971931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wrap="none" lIns="0" tIns="348806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跨季节</a:t>
            </a:r>
          </a:p>
        </p:txBody>
      </p:sp>
      <p:sp>
        <p:nvSpPr>
          <p:cNvPr id="41" name="淘宝-想搞设计PPT(倒卖必究)-41"/>
          <p:cNvSpPr/>
          <p:nvPr/>
        </p:nvSpPr>
        <p:spPr>
          <a:xfrm>
            <a:off x="2433352" y="3250692"/>
            <a:ext cx="9063323" cy="971931"/>
          </a:xfrm>
          <a:custGeom>
            <a:avLst/>
            <a:gdLst/>
            <a:ahLst/>
            <a:cxnLst/>
            <a:rect l="l" t="t" r="r" b="b"/>
            <a:pathLst>
              <a:path w="9063323" h="971931">
                <a:moveTo>
                  <a:pt x="278797" y="0"/>
                </a:moveTo>
                <a:lnTo>
                  <a:pt x="2796254" y="0"/>
                </a:lnTo>
                <a:lnTo>
                  <a:pt x="8916352" y="0"/>
                </a:lnTo>
                <a:lnTo>
                  <a:pt x="9063323" y="0"/>
                </a:lnTo>
                <a:lnTo>
                  <a:pt x="9063323" y="971931"/>
                </a:lnTo>
                <a:lnTo>
                  <a:pt x="8637556" y="971931"/>
                </a:lnTo>
                <a:lnTo>
                  <a:pt x="2796254" y="971931"/>
                </a:lnTo>
                <a:lnTo>
                  <a:pt x="0" y="971931"/>
                </a:lnTo>
                <a:close/>
              </a:path>
            </a:pathLst>
          </a:custGeom>
          <a:noFill/>
          <a:ln w="9525">
            <a:solidFill>
              <a:srgbClr val="113884"/>
            </a:solidFill>
          </a:ln>
        </p:spPr>
        <p:txBody>
          <a:bodyPr wrap="none" lIns="548640" tIns="346774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检查遮挡、清洗、容量、限发与逆变器变化后的效果。</a:t>
            </a:r>
          </a:p>
        </p:txBody>
      </p:sp>
      <p:sp>
        <p:nvSpPr>
          <p:cNvPr id="42" name="淘宝-想搞设计PPT(倒卖必究)-42"/>
          <p:cNvSpPr/>
          <p:nvPr/>
        </p:nvSpPr>
        <p:spPr>
          <a:xfrm>
            <a:off x="403765" y="3250692"/>
            <a:ext cx="2058829" cy="971931"/>
          </a:xfrm>
          <a:custGeom>
            <a:avLst/>
            <a:gdLst/>
            <a:ahLst/>
            <a:cxnLst/>
            <a:rect l="l" t="t" r="r" b="b"/>
            <a:pathLst>
              <a:path w="2058829" h="971931">
                <a:moveTo>
                  <a:pt x="0" y="0"/>
                </a:moveTo>
                <a:lnTo>
                  <a:pt x="565023" y="0"/>
                </a:lnTo>
                <a:lnTo>
                  <a:pt x="1709833" y="0"/>
                </a:lnTo>
                <a:lnTo>
                  <a:pt x="2058829" y="0"/>
                </a:lnTo>
                <a:lnTo>
                  <a:pt x="1842897" y="971931"/>
                </a:lnTo>
                <a:lnTo>
                  <a:pt x="1709833" y="971931"/>
                </a:lnTo>
                <a:lnTo>
                  <a:pt x="349091" y="971931"/>
                </a:lnTo>
                <a:lnTo>
                  <a:pt x="0" y="971931"/>
                </a:lnTo>
                <a:close/>
              </a:path>
            </a:pathLst>
          </a:custGeom>
          <a:solidFill>
            <a:srgbClr val="113884">
              <a:alpha val="90000"/>
            </a:srgbClr>
          </a:solidFill>
          <a:ln>
            <a:noFill/>
          </a:ln>
        </p:spPr>
        <p:txBody>
          <a:bodyPr wrap="none" lIns="95" tIns="348806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跨设备</a:t>
            </a:r>
          </a:p>
        </p:txBody>
      </p:sp>
      <p:sp>
        <p:nvSpPr>
          <p:cNvPr id="43" name="淘宝-想搞设计PPT(倒卖必究)-43"/>
          <p:cNvSpPr/>
          <p:nvPr/>
        </p:nvSpPr>
        <p:spPr>
          <a:xfrm>
            <a:off x="2111883" y="4441317"/>
            <a:ext cx="9384792" cy="971931"/>
          </a:xfrm>
          <a:custGeom>
            <a:avLst/>
            <a:gdLst/>
            <a:ahLst/>
            <a:cxnLst/>
            <a:rect l="l" t="t" r="r" b="b"/>
            <a:pathLst>
              <a:path w="9384792" h="971931">
                <a:moveTo>
                  <a:pt x="288703" y="0"/>
                </a:moveTo>
                <a:lnTo>
                  <a:pt x="2895410" y="0"/>
                </a:lnTo>
                <a:lnTo>
                  <a:pt x="9232678" y="0"/>
                </a:lnTo>
                <a:lnTo>
                  <a:pt x="9384792" y="0"/>
                </a:lnTo>
                <a:lnTo>
                  <a:pt x="9384792" y="971931"/>
                </a:lnTo>
                <a:lnTo>
                  <a:pt x="8943975" y="971931"/>
                </a:lnTo>
                <a:lnTo>
                  <a:pt x="2895410" y="971931"/>
                </a:lnTo>
                <a:lnTo>
                  <a:pt x="0" y="971931"/>
                </a:lnTo>
                <a:close/>
              </a:path>
            </a:pathLst>
          </a:custGeom>
          <a:noFill/>
          <a:ln w="9525">
            <a:solidFill>
              <a:srgbClr val="BFBFBF"/>
            </a:solidFill>
          </a:ln>
        </p:spPr>
        <p:txBody>
          <a:bodyPr wrap="none" lIns="548640" tIns="346774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记录完整率、延迟、可用率、回退与恢复，确定重训练条件。</a:t>
            </a:r>
          </a:p>
        </p:txBody>
      </p:sp>
      <p:sp>
        <p:nvSpPr>
          <p:cNvPr id="44" name="淘宝-想搞设计PPT(倒卖必究)-44"/>
          <p:cNvSpPr/>
          <p:nvPr/>
        </p:nvSpPr>
        <p:spPr>
          <a:xfrm>
            <a:off x="403765" y="4441317"/>
            <a:ext cx="1786033" cy="971931"/>
          </a:xfrm>
          <a:custGeom>
            <a:avLst/>
            <a:gdLst/>
            <a:ahLst/>
            <a:cxnLst/>
            <a:rect l="l" t="t" r="r" b="b"/>
            <a:pathLst>
              <a:path w="1786033" h="971931">
                <a:moveTo>
                  <a:pt x="0" y="0"/>
                </a:moveTo>
                <a:lnTo>
                  <a:pt x="490156" y="0"/>
                </a:lnTo>
                <a:lnTo>
                  <a:pt x="1483233" y="0"/>
                </a:lnTo>
                <a:lnTo>
                  <a:pt x="1786033" y="0"/>
                </a:lnTo>
                <a:lnTo>
                  <a:pt x="1598676" y="971931"/>
                </a:lnTo>
                <a:lnTo>
                  <a:pt x="1483233" y="971931"/>
                </a:lnTo>
                <a:lnTo>
                  <a:pt x="302800" y="971931"/>
                </a:lnTo>
                <a:lnTo>
                  <a:pt x="0" y="971931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wrap="none" lIns="95" tIns="348806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连续服务</a:t>
            </a:r>
          </a:p>
        </p:txBody>
      </p:sp>
      <p:grpSp>
        <p:nvGrpSpPr>
          <p:cNvPr id="25" name="Picture 44"/>
          <p:cNvGrpSpPr/>
          <p:nvPr/>
        </p:nvGrpSpPr>
        <p:grpSpPr>
          <a:xfrm>
            <a:off x="356044" y="158210"/>
            <a:ext cx="2011870" cy="617220"/>
            <a:chOff x="356044" y="158210"/>
            <a:chExt cx="2011870" cy="617220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6044" y="158210"/>
              <a:ext cx="2011870" cy="617220"/>
            </a:xfrm>
            <a:prstGeom prst="rect">
              <a:avLst/>
            </a:prstGeom>
          </p:spPr>
        </p:pic>
      </p:grpSp>
      <p:grpSp>
        <p:nvGrpSpPr>
          <p:cNvPr id="27" name="core-title"/>
          <p:cNvGrpSpPr/>
          <p:nvPr/>
        </p:nvGrpSpPr>
        <p:grpSpPr>
          <a:xfrm>
            <a:off x="416433" y="1098550"/>
            <a:ext cx="5193792" cy="469392"/>
            <a:chOff x="416433" y="1098550"/>
            <a:chExt cx="5193792" cy="469392"/>
          </a:xfrm>
        </p:grpSpPr>
        <p:sp>
          <p:nvSpPr>
            <p:cNvPr id="26" name="TextBox 26"/>
            <p:cNvSpPr txBox="1"/>
            <p:nvPr/>
          </p:nvSpPr>
          <p:spPr>
            <a:xfrm>
              <a:off x="416433" y="1098550"/>
              <a:ext cx="51937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13884"/>
                  </a:solidFill>
                  <a:latin typeface="Arial"/>
                  <a:ea typeface="Microsoft YaHei"/>
                  <a:cs typeface="Arial"/>
                </a:rPr>
                <a:t>模型泛化与连续运行可靠性仍需检验</a:t>
              </a:r>
            </a:p>
          </p:txBody>
        </p:sp>
      </p:grpSp>
      <p:grpSp>
        <p:nvGrpSpPr>
          <p:cNvPr id="29" name="source-citation"/>
          <p:cNvGrpSpPr/>
          <p:nvPr/>
        </p:nvGrpSpPr>
        <p:grpSpPr>
          <a:xfrm>
            <a:off x="422529" y="6315075"/>
            <a:ext cx="3838194" cy="234696"/>
            <a:chOff x="422529" y="6315075"/>
            <a:chExt cx="3838194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422529" y="6315075"/>
              <a:ext cx="38381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依据原文 [3,5,7,11,12,14] · 文献编号与Word一致</a:t>
              </a:r>
            </a:p>
          </p:txBody>
        </p:sp>
      </p:grpSp>
    </p:spTree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淘宝-想搞设计PPT(倒卖必究)-20"/>
          <p:cNvSpPr/>
          <p:nvPr/>
        </p:nvSpPr>
        <p:spPr>
          <a:xfrm>
            <a:off x="0" y="0"/>
            <a:ext cx="12192000" cy="79200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55600" dist="190500" dir="5400000" algn="ctr" rotWithShape="0">
              <a:srgbClr val="000000">
                <a:alpha val="825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淘宝-想搞设计PPT(倒卖必究)-16"/>
          <p:cNvSpPr/>
          <p:nvPr>
            <p:ph type="dt" idx="4294967295" sz="half"/>
          </p:nvPr>
        </p:nvSpPr>
        <p:spPr>
          <a:xfrm>
            <a:off x="838200" y="6464332"/>
            <a:ext cx="2743200" cy="3650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淘宝-想搞设计PPT(倒卖必究)-15"/>
          <p:cNvSpPr/>
          <p:nvPr>
            <p:ph type="ftr" idx="4294967295" sz="quarter"/>
          </p:nvPr>
        </p:nvSpPr>
        <p:spPr>
          <a:xfrm>
            <a:off x="4038600" y="6464332"/>
            <a:ext cx="4114800" cy="3650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淘宝-想搞设计PPT(倒卖必究)-14"/>
          <p:cNvSpPr/>
          <p:nvPr>
            <p:ph type="sldNum" idx="4294967295" sz="quarter"/>
          </p:nvPr>
        </p:nvSpPr>
        <p:spPr>
          <a:xfrm>
            <a:off x="9366218" y="6464332"/>
            <a:ext cx="27432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106331" rIns="91440" bIns="0" anchor="t" anchorCtr="0">
            <a:noAutofit/>
          </a:bodyPr>
          <a:lstStyle/>
          <a:p>
            <a:pPr algn="r"/>
            <a:r>
              <a:rPr lang="zh-CN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3" name="淘宝-想搞设计PPT(倒卖必究)-13"/>
          <p:cNvSpPr/>
          <p:nvPr/>
        </p:nvSpPr>
        <p:spPr>
          <a:xfrm>
            <a:off x="344519" y="1046893"/>
            <a:ext cx="11144250" cy="514350"/>
          </a:xfrm>
          <a:prstGeom prst="rect">
            <a:avLst/>
          </a:prstGeom>
          <a:noFill/>
          <a:ln>
            <a:noFill/>
          </a:ln>
        </p:spPr>
        <p:txBody>
          <a:bodyPr wrap="none" lIns="91440" tIns="42653" rIns="0" bIns="0" anchor="t" anchorCtr="0">
            <a:no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研究应沿数据边界到运行回测逐步推进</a:t>
            </a:r>
          </a:p>
        </p:txBody>
      </p:sp>
      <p:cxnSp>
        <p:nvCxnSpPr>
          <p:cNvPr id="12" name="淘宝-想搞设计PPT(倒卖必究)-12"/>
          <p:cNvCxnSpPr/>
          <p:nvPr/>
        </p:nvCxnSpPr>
        <p:spPr>
          <a:xfrm>
            <a:off x="425768" y="1508474"/>
            <a:ext cx="1836039" cy="0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3" name="淘宝-想搞设计PPT(倒卖必究)-3"/>
          <p:cNvSpPr/>
          <p:nvPr/>
        </p:nvSpPr>
        <p:spPr>
          <a:xfrm>
            <a:off x="9842087" y="0"/>
            <a:ext cx="1656017" cy="792004"/>
          </a:xfrm>
          <a:prstGeom prst="rect">
            <a:avLst/>
          </a:prstGeom>
          <a:solidFill>
            <a:srgbClr val="113884"/>
          </a:solidFill>
          <a:ln>
            <a:noFill/>
          </a:ln>
        </p:spPr>
      </p:sp>
      <p:cxnSp>
        <p:nvCxnSpPr>
          <p:cNvPr id="4" name="淘宝-想搞设计PPT(倒卖必究)-4"/>
          <p:cNvCxnSpPr/>
          <p:nvPr/>
        </p:nvCxnSpPr>
        <p:spPr>
          <a:xfrm>
            <a:off x="6330506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5" name="淘宝-想搞设计PPT(倒卖必究)-5"/>
          <p:cNvCxnSpPr/>
          <p:nvPr/>
        </p:nvCxnSpPr>
        <p:spPr>
          <a:xfrm>
            <a:off x="8066246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6" name="淘宝-想搞设计PPT(倒卖必究)-6"/>
          <p:cNvCxnSpPr/>
          <p:nvPr/>
        </p:nvCxnSpPr>
        <p:spPr>
          <a:xfrm>
            <a:off x="9802082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7" name="淘宝-想搞设计PPT(倒卖必究)-7"/>
          <p:cNvSpPr/>
          <p:nvPr/>
        </p:nvSpPr>
        <p:spPr>
          <a:xfrm>
            <a:off x="3147155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需求边界</a:t>
            </a:r>
          </a:p>
        </p:txBody>
      </p:sp>
      <p:sp>
        <p:nvSpPr>
          <p:cNvPr id="8" name="淘宝-想搞设计PPT(倒卖必究)-8"/>
          <p:cNvSpPr/>
          <p:nvPr/>
        </p:nvSpPr>
        <p:spPr>
          <a:xfrm>
            <a:off x="4882896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研究现状</a:t>
            </a:r>
          </a:p>
        </p:txBody>
      </p:sp>
      <p:sp>
        <p:nvSpPr>
          <p:cNvPr id="9" name="淘宝-想搞设计PPT(倒卖必究)-9"/>
          <p:cNvSpPr/>
          <p:nvPr/>
        </p:nvSpPr>
        <p:spPr>
          <a:xfrm>
            <a:off x="6375082" y="211360"/>
            <a:ext cx="1646587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评价方法</a:t>
            </a:r>
          </a:p>
        </p:txBody>
      </p:sp>
      <p:sp>
        <p:nvSpPr>
          <p:cNvPr id="10" name="淘宝-想搞设计PPT(倒卖必究)-10"/>
          <p:cNvSpPr/>
          <p:nvPr/>
        </p:nvSpPr>
        <p:spPr>
          <a:xfrm>
            <a:off x="8354473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研究空白</a:t>
            </a:r>
          </a:p>
        </p:txBody>
      </p:sp>
      <p:sp>
        <p:nvSpPr>
          <p:cNvPr id="11" name="淘宝-想搞设计PPT(倒卖必究)-11"/>
          <p:cNvSpPr/>
          <p:nvPr/>
        </p:nvSpPr>
        <p:spPr>
          <a:xfrm>
            <a:off x="10090309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研究主线</a:t>
            </a:r>
          </a:p>
        </p:txBody>
      </p:sp>
      <p:sp>
        <p:nvSpPr>
          <p:cNvPr id="36" name="淘宝-想搞设计PPT(倒卖必究)-36"/>
          <p:cNvSpPr/>
          <p:nvPr/>
        </p:nvSpPr>
        <p:spPr>
          <a:xfrm>
            <a:off x="695325" y="2044160"/>
            <a:ext cx="943451" cy="943451"/>
          </a:xfrm>
          <a:prstGeom prst="rect">
            <a:avLst/>
          </a:prstGeom>
          <a:solidFill>
            <a:srgbClr val="113884"/>
          </a:solidFill>
          <a:ln>
            <a:noFill/>
          </a:ln>
          <a:effectLst>
            <a:outerShdw blurRad="254000" dist="127000" dir="0" algn="l" rotWithShape="0">
              <a:srgbClr val="4472C4">
                <a:alpha val="24000"/>
              </a:srgbClr>
            </a:outerShdw>
          </a:effectLst>
        </p:spPr>
        <p:txBody>
          <a:bodyPr wrap="none" lIns="0" tIns="370117" rIns="95" bIns="0" anchor="t" anchorCtr="0">
            <a:noAutofit/>
          </a:bodyPr>
          <a:lstStyle/>
          <a:p>
            <a:pPr algn="ctr"/>
            <a:r>
              <a:rPr lang="zh-CN" sz="15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7" name="淘宝-想搞设计PPT(倒卖必究)-37"/>
          <p:cNvSpPr/>
          <p:nvPr/>
        </p:nvSpPr>
        <p:spPr>
          <a:xfrm>
            <a:off x="695325" y="2992850"/>
            <a:ext cx="943451" cy="943451"/>
          </a:xfrm>
          <a:prstGeom prst="rect">
            <a:avLst/>
          </a:prstGeom>
          <a:solidFill>
            <a:srgbClr val="113884"/>
          </a:solidFill>
          <a:ln>
            <a:noFill/>
          </a:ln>
          <a:effectLst>
            <a:outerShdw blurRad="254000" dist="127000" dir="0" algn="l" rotWithShape="0">
              <a:srgbClr val="ED7D31">
                <a:alpha val="24000"/>
              </a:srgbClr>
            </a:outerShdw>
          </a:effectLst>
        </p:spPr>
        <p:txBody>
          <a:bodyPr wrap="none" lIns="0" tIns="370098" rIns="95" bIns="0" anchor="t" anchorCtr="0">
            <a:noAutofit/>
          </a:bodyPr>
          <a:lstStyle/>
          <a:p>
            <a:pPr algn="ctr"/>
            <a:r>
              <a:rPr lang="zh-CN" sz="15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8" name="淘宝-想搞设计PPT(倒卖必究)-38"/>
          <p:cNvSpPr/>
          <p:nvPr/>
        </p:nvSpPr>
        <p:spPr>
          <a:xfrm>
            <a:off x="695325" y="3929920"/>
            <a:ext cx="943451" cy="943451"/>
          </a:xfrm>
          <a:prstGeom prst="rect">
            <a:avLst/>
          </a:prstGeom>
          <a:solidFill>
            <a:srgbClr val="113884"/>
          </a:solidFill>
          <a:ln>
            <a:noFill/>
          </a:ln>
          <a:effectLst>
            <a:outerShdw blurRad="254000" dist="127000" dir="0" algn="l" rotWithShape="0">
              <a:srgbClr val="A5A5A5">
                <a:alpha val="24000"/>
              </a:srgbClr>
            </a:outerShdw>
          </a:effectLst>
        </p:spPr>
        <p:txBody>
          <a:bodyPr wrap="none" lIns="0" tIns="370124" rIns="95" bIns="0" anchor="t" anchorCtr="0">
            <a:noAutofit/>
          </a:bodyPr>
          <a:lstStyle/>
          <a:p>
            <a:pPr algn="ctr"/>
            <a:r>
              <a:rPr lang="zh-CN" sz="15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9" name="淘宝-想搞设计PPT(倒卖必究)-39"/>
          <p:cNvSpPr/>
          <p:nvPr/>
        </p:nvSpPr>
        <p:spPr>
          <a:xfrm>
            <a:off x="695325" y="4867751"/>
            <a:ext cx="943451" cy="943451"/>
          </a:xfrm>
          <a:prstGeom prst="rect">
            <a:avLst/>
          </a:prstGeom>
          <a:solidFill>
            <a:srgbClr val="113884"/>
          </a:solidFill>
          <a:ln>
            <a:noFill/>
          </a:ln>
          <a:effectLst>
            <a:outerShdw blurRad="254000" dist="127000" dir="0" algn="l" rotWithShape="0">
              <a:srgbClr val="FFC000">
                <a:alpha val="24000"/>
              </a:srgbClr>
            </a:outerShdw>
          </a:effectLst>
        </p:spPr>
        <p:txBody>
          <a:bodyPr wrap="none" lIns="0" tIns="370078" rIns="95" bIns="0" anchor="t" anchorCtr="0">
            <a:noAutofit/>
          </a:bodyPr>
          <a:lstStyle/>
          <a:p>
            <a:pPr algn="ctr"/>
            <a:r>
              <a:rPr lang="zh-CN" sz="15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0" name="淘宝-想搞设计PPT(倒卖必究)-40"/>
          <p:cNvSpPr/>
          <p:nvPr/>
        </p:nvSpPr>
        <p:spPr>
          <a:xfrm>
            <a:off x="1638776" y="2044160"/>
            <a:ext cx="9857899" cy="94345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54000" dist="127000" dir="0" algn="l" rotWithShape="0">
              <a:srgbClr val="A6A6A6">
                <a:alpha val="15000"/>
              </a:srgbClr>
            </a:outerShdw>
          </a:effectLst>
        </p:spPr>
        <p:txBody>
          <a:bodyPr wrap="none" lIns="91440" tIns="321857" rIns="0" bIns="0" anchor="t" anchorCtr="0">
            <a:noAutofit/>
          </a:bodyPr>
          <a:lstStyle/>
          <a:p>
            <a:pPr algn="l"/>
            <a: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数据边界：明确功率口径、天气发布时间和异常标记。</a:t>
            </a:r>
          </a:p>
        </p:txBody>
      </p:sp>
      <p:sp>
        <p:nvSpPr>
          <p:cNvPr id="41" name="淘宝-想搞设计PPT(倒卖必究)-41"/>
          <p:cNvSpPr/>
          <p:nvPr/>
        </p:nvSpPr>
        <p:spPr>
          <a:xfrm>
            <a:off x="1638776" y="2992850"/>
            <a:ext cx="9857899" cy="94345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54000" dist="127000" dir="0" algn="l" rotWithShape="0">
              <a:srgbClr val="A6A6A6">
                <a:alpha val="15000"/>
              </a:srgbClr>
            </a:outerShdw>
          </a:effectLst>
        </p:spPr>
        <p:txBody>
          <a:bodyPr wrap="none" lIns="91440" tIns="321838" rIns="0" bIns="0" anchor="t" anchorCtr="0">
            <a:noAutofit/>
          </a:bodyPr>
          <a:lstStyle/>
          <a:p>
            <a:pPr algn="l"/>
            <a: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时距对照：固定测试期，比较逐步技能与窗口电量误差。</a:t>
            </a:r>
          </a:p>
        </p:txBody>
      </p:sp>
      <p:sp>
        <p:nvSpPr>
          <p:cNvPr id="42" name="淘宝-想搞设计PPT(倒卖必究)-42"/>
          <p:cNvSpPr/>
          <p:nvPr/>
        </p:nvSpPr>
        <p:spPr>
          <a:xfrm>
            <a:off x="1638776" y="3929920"/>
            <a:ext cx="9857899" cy="94345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54000" dist="127000" dir="0" algn="l" rotWithShape="0">
              <a:srgbClr val="A6A6A6">
                <a:alpha val="15000"/>
              </a:srgbClr>
            </a:outerShdw>
          </a:effectLst>
        </p:spPr>
        <p:txBody>
          <a:bodyPr wrap="none" lIns="91440" tIns="321865" rIns="0" bIns="0" anchor="t" anchorCtr="0">
            <a:noAutofit/>
          </a:bodyPr>
          <a:lstStyle/>
          <a:p>
            <a:pPr algn="l"/>
            <a: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解释与事件：SHAP＋重训练消融，并评价关键突降。</a:t>
            </a:r>
          </a:p>
        </p:txBody>
      </p:sp>
      <p:sp>
        <p:nvSpPr>
          <p:cNvPr id="43" name="淘宝-想搞设计PPT(倒卖必究)-43"/>
          <p:cNvSpPr/>
          <p:nvPr/>
        </p:nvSpPr>
        <p:spPr>
          <a:xfrm>
            <a:off x="1638776" y="4867751"/>
            <a:ext cx="9857899" cy="94345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54000" dist="127000" dir="0" algn="l" rotWithShape="0">
              <a:srgbClr val="A6A6A6">
                <a:alpha val="15000"/>
              </a:srgbClr>
            </a:outerShdw>
          </a:effectLst>
        </p:spPr>
        <p:txBody>
          <a:bodyPr wrap="none" lIns="91440" tIns="321818" rIns="0" bIns="0" anchor="t" anchorCtr="0">
            <a:noAutofit/>
          </a:bodyPr>
          <a:lstStyle/>
          <a:p>
            <a:pPr algn="l"/>
            <a: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运行与稳定性：滚动调度回测，再做跨季节与设备检验。</a:t>
            </a:r>
          </a:p>
        </p:txBody>
      </p:sp>
      <p:grpSp>
        <p:nvGrpSpPr>
          <p:cNvPr id="33" name="Picture 43"/>
          <p:cNvGrpSpPr/>
          <p:nvPr/>
        </p:nvGrpSpPr>
        <p:grpSpPr>
          <a:xfrm>
            <a:off x="356044" y="158210"/>
            <a:ext cx="2011870" cy="617220"/>
            <a:chOff x="356044" y="158210"/>
            <a:chExt cx="2011870" cy="617220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6044" y="158210"/>
              <a:ext cx="2011870" cy="617220"/>
            </a:xfrm>
            <a:prstGeom prst="rect">
              <a:avLst/>
            </a:prstGeom>
          </p:spPr>
        </p:pic>
      </p:grpSp>
      <p:grpSp>
        <p:nvGrpSpPr>
          <p:cNvPr id="35" name="source-citation"/>
          <p:cNvGrpSpPr/>
          <p:nvPr/>
        </p:nvGrpSpPr>
        <p:grpSpPr>
          <a:xfrm>
            <a:off x="422529" y="6315075"/>
            <a:ext cx="2670239" cy="234696"/>
            <a:chOff x="422529" y="6315075"/>
            <a:chExt cx="2670239" cy="234696"/>
          </a:xfrm>
        </p:grpSpPr>
        <p:sp>
          <p:nvSpPr>
            <p:cNvPr id="34" name="TextBox 34"/>
            <p:cNvSpPr txBox="1"/>
            <p:nvPr/>
          </p:nvSpPr>
          <p:spPr>
            <a:xfrm>
              <a:off x="422529" y="6315075"/>
              <a:ext cx="26702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依据Word §8 · 文献编号与Word一致</a:t>
              </a:r>
            </a:p>
          </p:txBody>
        </p:sp>
      </p:grpSp>
    </p:spTree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淘宝-想搞设计PPT(倒卖必究)-26"/>
          <p:cNvSpPr/>
          <p:nvPr/>
        </p:nvSpPr>
        <p:spPr>
          <a:xfrm>
            <a:off x="695325" y="2680240"/>
            <a:ext cx="10801350" cy="3780949"/>
          </a:xfrm>
          <a:prstGeom prst="rect">
            <a:avLst/>
          </a:prstGeom>
          <a:gradFill>
            <a:gsLst>
              <a:gs pos="0">
                <a:srgbClr val="12469E">
                  <a:lumMod val="23000"/>
                  <a:lumOff val="77000"/>
                  <a:alpha val="42000"/>
                </a:srgbClr>
              </a:gs>
              <a:gs pos="100000">
                <a:srgbClr val="12469E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 rot="0" spcFirstLastPara="0" vert="horz" wrap="square" lIns="90000" tIns="46800" rIns="90000" bIns="46800" numCol="1" spcCol="0" rtlCol="0" fromWordArt="0" anchor="t" anchorCtr="0" forceAA="0" compatLnSpc="1">
            <a:normAutofit/>
          </a:bodyPr>
          <a:lstStyle/>
          <a:p>
            <a:pPr marL="171450" marR="0" lvl="0" indent="-1714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27965" algn="l"/>
              </a:tabLst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淘宝-想搞设计PPT(倒卖必究)-23"/>
          <p:cNvSpPr/>
          <p:nvPr/>
        </p:nvSpPr>
        <p:spPr>
          <a:xfrm>
            <a:off x="0" y="0"/>
            <a:ext cx="12192000" cy="79200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55600" dist="190500" dir="5400000" algn="ctr" rotWithShape="0">
              <a:srgbClr val="000000">
                <a:alpha val="825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淘宝-想搞设计PPT(倒卖必究)-19"/>
          <p:cNvSpPr/>
          <p:nvPr>
            <p:ph type="dt" idx="4294967295" sz="half"/>
          </p:nvPr>
        </p:nvSpPr>
        <p:spPr>
          <a:xfrm>
            <a:off x="838200" y="6464332"/>
            <a:ext cx="2743200" cy="3650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淘宝-想搞设计PPT(倒卖必究)-18"/>
          <p:cNvSpPr/>
          <p:nvPr>
            <p:ph type="ftr" idx="4294967295" sz="quarter"/>
          </p:nvPr>
        </p:nvSpPr>
        <p:spPr>
          <a:xfrm>
            <a:off x="4038600" y="6464332"/>
            <a:ext cx="4114800" cy="3650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淘宝-想搞设计PPT(倒卖必究)-14"/>
          <p:cNvSpPr/>
          <p:nvPr>
            <p:ph type="sldNum" idx="4294967295" sz="quarter"/>
          </p:nvPr>
        </p:nvSpPr>
        <p:spPr>
          <a:xfrm>
            <a:off x="9366218" y="6464332"/>
            <a:ext cx="27432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106331" rIns="91440" bIns="0" anchor="t" anchorCtr="0">
            <a:noAutofit/>
          </a:bodyPr>
          <a:lstStyle/>
          <a:p>
            <a:pPr algn="r"/>
            <a:r>
              <a:rPr lang="zh-CN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13" name="淘宝-想搞设计PPT(倒卖必究)-13"/>
          <p:cNvSpPr/>
          <p:nvPr/>
        </p:nvSpPr>
        <p:spPr>
          <a:xfrm>
            <a:off x="344519" y="1046893"/>
            <a:ext cx="11144250" cy="514350"/>
          </a:xfrm>
          <a:prstGeom prst="rect">
            <a:avLst/>
          </a:prstGeom>
          <a:noFill/>
          <a:ln>
            <a:noFill/>
          </a:ln>
        </p:spPr>
        <p:txBody>
          <a:bodyPr wrap="none" lIns="91440" tIns="42653" rIns="0" bIns="0" anchor="t" anchorCtr="0">
            <a:no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缺少调度数据时，结论应限定为预测性能</a:t>
            </a:r>
          </a:p>
        </p:txBody>
      </p:sp>
      <p:cxnSp>
        <p:nvCxnSpPr>
          <p:cNvPr id="12" name="淘宝-想搞设计PPT(倒卖必究)-12"/>
          <p:cNvCxnSpPr/>
          <p:nvPr/>
        </p:nvCxnSpPr>
        <p:spPr>
          <a:xfrm>
            <a:off x="425768" y="1508474"/>
            <a:ext cx="1836039" cy="0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3" name="淘宝-想搞设计PPT(倒卖必究)-3"/>
          <p:cNvSpPr/>
          <p:nvPr/>
        </p:nvSpPr>
        <p:spPr>
          <a:xfrm>
            <a:off x="9842087" y="0"/>
            <a:ext cx="1656017" cy="792004"/>
          </a:xfrm>
          <a:prstGeom prst="rect">
            <a:avLst/>
          </a:prstGeom>
          <a:solidFill>
            <a:srgbClr val="113884"/>
          </a:solidFill>
          <a:ln>
            <a:noFill/>
          </a:ln>
        </p:spPr>
      </p:sp>
      <p:cxnSp>
        <p:nvCxnSpPr>
          <p:cNvPr id="4" name="淘宝-想搞设计PPT(倒卖必究)-4"/>
          <p:cNvCxnSpPr/>
          <p:nvPr/>
        </p:nvCxnSpPr>
        <p:spPr>
          <a:xfrm>
            <a:off x="6330506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5" name="淘宝-想搞设计PPT(倒卖必究)-5"/>
          <p:cNvCxnSpPr/>
          <p:nvPr/>
        </p:nvCxnSpPr>
        <p:spPr>
          <a:xfrm>
            <a:off x="8066246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cxnSp>
        <p:nvCxnSpPr>
          <p:cNvPr id="6" name="淘宝-想搞设计PPT(倒卖必究)-6"/>
          <p:cNvCxnSpPr/>
          <p:nvPr/>
        </p:nvCxnSpPr>
        <p:spPr>
          <a:xfrm>
            <a:off x="9802082" y="252032"/>
            <a:ext cx="0" cy="288036"/>
          </a:xfrm>
          <a:prstGeom prst="line">
            <a:avLst/>
          </a:prstGeom>
          <a:noFill/>
          <a:ln w="9525">
            <a:solidFill>
              <a:srgbClr val="BFBFBF"/>
            </a:solidFill>
          </a:ln>
        </p:spPr>
      </p:cxnSp>
      <p:sp>
        <p:nvSpPr>
          <p:cNvPr id="7" name="淘宝-想搞设计PPT(倒卖必究)-7"/>
          <p:cNvSpPr/>
          <p:nvPr/>
        </p:nvSpPr>
        <p:spPr>
          <a:xfrm>
            <a:off x="3147155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需求边界</a:t>
            </a:r>
          </a:p>
        </p:txBody>
      </p:sp>
      <p:sp>
        <p:nvSpPr>
          <p:cNvPr id="8" name="淘宝-想搞设计PPT(倒卖必究)-8"/>
          <p:cNvSpPr/>
          <p:nvPr/>
        </p:nvSpPr>
        <p:spPr>
          <a:xfrm>
            <a:off x="4882896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研究现状</a:t>
            </a:r>
          </a:p>
        </p:txBody>
      </p:sp>
      <p:sp>
        <p:nvSpPr>
          <p:cNvPr id="9" name="淘宝-想搞设计PPT(倒卖必究)-9"/>
          <p:cNvSpPr/>
          <p:nvPr/>
        </p:nvSpPr>
        <p:spPr>
          <a:xfrm>
            <a:off x="6375082" y="211360"/>
            <a:ext cx="1646587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评价方法</a:t>
            </a:r>
          </a:p>
        </p:txBody>
      </p:sp>
      <p:sp>
        <p:nvSpPr>
          <p:cNvPr id="10" name="淘宝-想搞设计PPT(倒卖必究)-10"/>
          <p:cNvSpPr/>
          <p:nvPr/>
        </p:nvSpPr>
        <p:spPr>
          <a:xfrm>
            <a:off x="8354473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95" tIns="45694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研究空白</a:t>
            </a:r>
          </a:p>
        </p:txBody>
      </p:sp>
      <p:sp>
        <p:nvSpPr>
          <p:cNvPr id="11" name="淘宝-想搞设计PPT(倒卖必究)-11"/>
          <p:cNvSpPr/>
          <p:nvPr/>
        </p:nvSpPr>
        <p:spPr>
          <a:xfrm>
            <a:off x="10090309" y="211360"/>
            <a:ext cx="1159288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45694" rIns="95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研究主线</a:t>
            </a:r>
          </a:p>
        </p:txBody>
      </p:sp>
      <p:sp>
        <p:nvSpPr>
          <p:cNvPr id="16" name="淘宝-想搞设计PPT(倒卖必究)-16"/>
          <p:cNvSpPr/>
          <p:nvPr/>
        </p:nvSpPr>
        <p:spPr>
          <a:xfrm>
            <a:off x="695325" y="1965579"/>
            <a:ext cx="10801350" cy="719995"/>
          </a:xfrm>
          <a:prstGeom prst="rect">
            <a:avLst/>
          </a:prstGeom>
          <a:solidFill>
            <a:srgbClr val="113884"/>
          </a:solidFill>
          <a:ln w="12700" cap="flat">
            <a:solidFill>
              <a:srgbClr val="113884"/>
            </a:solidFill>
          </a:ln>
        </p:spPr>
        <p:txBody>
          <a:bodyPr wrap="none" lIns="0" tIns="197457" rIns="0" bIns="0" anchor="t" anchorCtr="0">
            <a:no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从性能证据到运行结论，需要补齐数据</a:t>
            </a:r>
          </a:p>
        </p:txBody>
      </p:sp>
      <p:sp>
        <p:nvSpPr>
          <p:cNvPr id="17" name="淘宝-想搞设计PPT(倒卖必究)-17"/>
          <p:cNvSpPr/>
          <p:nvPr/>
        </p:nvSpPr>
        <p:spPr>
          <a:xfrm>
            <a:off x="1043369" y="2955036"/>
            <a:ext cx="10105263" cy="2118550"/>
          </a:xfrm>
          <a:prstGeom prst="rect">
            <a:avLst/>
          </a:prstGeom>
          <a:noFill/>
          <a:ln>
            <a:noFill/>
          </a:ln>
        </p:spPr>
        <p:txBody>
          <a:bodyPr wrap="none" lIns="91440" tIns="58439" rIns="0" bIns="0" anchor="t" anchorCtr="0">
            <a:noAutofit/>
          </a:bodyPr>
          <a:lstStyle/>
          <a:p>
            <a:pPr algn="l">
              <a:lnSpc>
                <a:spcPts val="3120"/>
              </a:lnSpc>
            </a:pPr>
            <a: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可报告：误差随时距变化、输入信息增益与关键事件能力。</a:t>
            </a:r>
            <a:b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</a:br>
            <a: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需补齐：园区负荷、电价、储能容量、SOC与运行约束。</a:t>
            </a:r>
            <a:b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</a:br>
            <a: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获得统一调度回测结果后，才能讨论经济意义上的有用时距。</a:t>
            </a:r>
            <a:b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</a:br>
            <a:r>
              <a:rPr lang="zh-CN" sz="19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暂时不能把模型性能比较写成“园区经济最优预测时长”。</a:t>
            </a:r>
          </a:p>
        </p:txBody>
      </p:sp>
      <p:grpSp>
        <p:nvGrpSpPr>
          <p:cNvPr id="31" name="Picture 26"/>
          <p:cNvGrpSpPr/>
          <p:nvPr/>
        </p:nvGrpSpPr>
        <p:grpSpPr>
          <a:xfrm>
            <a:off x="356044" y="158210"/>
            <a:ext cx="2011870" cy="617220"/>
            <a:chOff x="356044" y="158210"/>
            <a:chExt cx="2011870" cy="617220"/>
          </a:xfrm>
        </p:grpSpPr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6044" y="158210"/>
              <a:ext cx="2011870" cy="617220"/>
            </a:xfrm>
            <a:prstGeom prst="rect">
              <a:avLst/>
            </a:prstGeom>
          </p:spPr>
        </p:pic>
      </p:grpSp>
      <p:grpSp>
        <p:nvGrpSpPr>
          <p:cNvPr id="33" name="source-citation"/>
          <p:cNvGrpSpPr/>
          <p:nvPr/>
        </p:nvGrpSpPr>
        <p:grpSpPr>
          <a:xfrm>
            <a:off x="422529" y="6315075"/>
            <a:ext cx="3187065" cy="234696"/>
            <a:chOff x="422529" y="6315075"/>
            <a:chExt cx="3187065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422529" y="6315075"/>
              <a:ext cx="31870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依据Word §5.4、§9 · 文献编号与Word一致</a:t>
              </a:r>
            </a:p>
          </p:txBody>
        </p:sp>
      </p:grpSp>
    </p:spTree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-436912" y="-1730788"/>
            <a:ext cx="12895612" cy="8839676"/>
            <a:chOff x="-436912" y="-1730788"/>
            <a:chExt cx="12895612" cy="8839676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37814" y="-593217"/>
              <a:ext cx="12229814" cy="7643622"/>
            </a:xfrm>
            <a:prstGeom prst="rect">
              <a:avLst/>
            </a:prstGeom>
          </p:spPr>
        </p:pic>
        <p:sp>
          <p:nvSpPr>
            <p:cNvPr id="20" name="淘宝-想搞设计PPT(倒卖必究)-20"/>
            <p:cNvSpPr/>
            <p:nvPr/>
          </p:nvSpPr>
          <p:spPr>
            <a:xfrm>
              <a:off x="-436912" y="4983670"/>
              <a:ext cx="12895612" cy="212521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淘宝-想搞设计PPT(倒卖必究)-21"/>
            <p:cNvSpPr/>
            <p:nvPr/>
          </p:nvSpPr>
          <p:spPr>
            <a:xfrm>
              <a:off x="-250888" y="-1730788"/>
              <a:ext cx="12442888" cy="3825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淘宝-想搞设计PPT(倒卖必究)-3"/>
          <p:cNvSpPr/>
          <p:nvPr/>
        </p:nvSpPr>
        <p:spPr>
          <a:xfrm>
            <a:off x="-250888" y="2101024"/>
            <a:ext cx="12442888" cy="2879979"/>
          </a:xfrm>
          <a:prstGeom prst="rect">
            <a:avLst/>
          </a:prstGeom>
          <a:solidFill>
            <a:srgbClr val="113884">
              <a:alpha val="78000"/>
            </a:srgb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淘宝-想搞设计PPT(倒卖必究)-7"/>
          <p:cNvSpPr/>
          <p:nvPr/>
        </p:nvSpPr>
        <p:spPr>
          <a:xfrm>
            <a:off x="3047238" y="5680996"/>
            <a:ext cx="2236470" cy="400145"/>
          </a:xfrm>
          <a:prstGeom prst="rect">
            <a:avLst/>
          </a:prstGeom>
          <a:noFill/>
          <a:ln>
            <a:noFill/>
          </a:ln>
        </p:spPr>
        <p:txBody>
          <a:bodyPr wrap="none" lIns="0" tIns="71122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依据所附文献综述</a:t>
            </a:r>
          </a:p>
        </p:txBody>
      </p:sp>
      <p:sp>
        <p:nvSpPr>
          <p:cNvPr id="8" name="淘宝-想搞设计PPT(倒卖必究)-8"/>
          <p:cNvSpPr/>
          <p:nvPr/>
        </p:nvSpPr>
        <p:spPr>
          <a:xfrm>
            <a:off x="6651784" y="5680996"/>
            <a:ext cx="2492978" cy="400145"/>
          </a:xfrm>
          <a:prstGeom prst="rect">
            <a:avLst/>
          </a:prstGeom>
          <a:noFill/>
          <a:ln>
            <a:noFill/>
          </a:ln>
        </p:spPr>
        <p:txBody>
          <a:bodyPr wrap="none" lIns="95" tIns="71122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2026年10月12日</a:t>
            </a:r>
          </a:p>
        </p:txBody>
      </p:sp>
      <p:sp>
        <p:nvSpPr>
          <p:cNvPr id="9" name="淘宝-想搞设计PPT(倒卖必究)-9"/>
          <p:cNvSpPr/>
          <p:nvPr/>
        </p:nvSpPr>
        <p:spPr>
          <a:xfrm>
            <a:off x="1333500" y="2095500"/>
            <a:ext cx="9525000" cy="1524000"/>
          </a:xfrm>
          <a:prstGeom prst="rect">
            <a:avLst/>
          </a:prstGeom>
          <a:noFill/>
          <a:ln>
            <a:noFill/>
          </a:ln>
        </p:spPr>
        <p:txBody>
          <a:bodyPr wrap="none" lIns="0" tIns="260985" rIns="0" bIns="0" anchor="t" anchorCtr="0">
            <a:noAutofit/>
          </a:bodyPr>
          <a:lstStyle/>
          <a:p>
            <a:pPr algn="ctr">
              <a:lnSpc>
                <a:spcPts val="6720"/>
              </a:lnSpc>
            </a:pPr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预测信息如何</a:t>
            </a:r>
            <a:br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改变园区决策？</a:t>
            </a:r>
          </a:p>
        </p:txBody>
      </p:sp>
      <p:grpSp>
        <p:nvGrpSpPr>
          <p:cNvPr id="11" name="Picture 23"/>
          <p:cNvGrpSpPr/>
          <p:nvPr/>
        </p:nvGrpSpPr>
        <p:grpSpPr>
          <a:xfrm>
            <a:off x="4019740" y="374237"/>
            <a:ext cx="4152519" cy="1273969"/>
            <a:chOff x="4019740" y="374237"/>
            <a:chExt cx="4152519" cy="1273969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19740" y="374237"/>
              <a:ext cx="4152519" cy="1273969"/>
            </a:xfrm>
            <a:prstGeom prst="rect">
              <a:avLst/>
            </a:prstGeom>
          </p:spPr>
        </p:pic>
      </p:grpSp>
      <p:sp>
        <p:nvSpPr>
          <p:cNvPr id="22" name="淘宝-想搞设计PPT(倒卖必究)-22"/>
          <p:cNvSpPr/>
          <p:nvPr/>
        </p:nvSpPr>
        <p:spPr>
          <a:xfrm>
            <a:off x="2667000" y="3974592"/>
            <a:ext cx="6667500" cy="461677"/>
          </a:xfrm>
          <a:prstGeom prst="rect">
            <a:avLst/>
          </a:prstGeom>
          <a:noFill/>
          <a:ln>
            <a:noFill/>
          </a:ln>
        </p:spPr>
        <p:txBody>
          <a:bodyPr wrap="none" lIns="0" tIns="83849" rIns="60388" bIns="0" anchor="t" anchorCtr="0">
            <a:no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研究方法已有，园区运行价值仍需验证</a:t>
            </a:r>
          </a:p>
        </p:txBody>
      </p:sp>
    </p:spTree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NkNDYxMmIwNmM5NTY2OTdkODYxNGM2OGY2YmI2OGYifQ=="/>
</p:tagLst>
</file>

<file path=ppt/tags/tag2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68399;#152018;"/>
</p:tagLst>
</file>

<file path=ppt/tags/tag8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a35c8e3-d360-463e-be95-188ab319b303}"/>
  <p:tag name="TABLE_ENDDRAG_ORIGIN_RECT" val="694*308"/>
  <p:tag name="TABLE_ENDDRAG_RECT" val="206*173*694*308"/>
</p:tagLst>
</file>

<file path=ppt/tags/tag9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7919684-fa0c-448b-b2e0-387e1fdd040c}"/>
  <p:tag name="TABLE_ENDDRAG_ORIGIN_RECT" val="678*307"/>
  <p:tag name="TABLE_ENDDRAG_RECT" val="220*179*678*307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3rrne3h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3676</ns0:TotalTime>
  <ns0:Words>1953</ns0:Words>
  <ns0:Application>Microsoft Office PowerPoint</ns0:Application>
  <ns0:PresentationFormat>宽屏</ns0:PresentationFormat>
  <ns0:Paragraphs>460</ns0:Paragraphs>
  <ns0:Slides>20</ns0:Slides>
  <ns0:Notes>1</ns0:Notes>
  <ns0:HiddenSlides>0</ns0:HiddenSlides>
  <ns0:MMClips>0</ns0:MMClips>
  <ns0:ScaleCrop>false</ns0:ScaleCrop>
  <ns0:HeadingPairs>
    <ns1:vector size="8" baseType="variant">
      <ns1:variant>
        <ns1:lpstr>已用的字体</ns1:lpstr>
      </ns1:variant>
      <ns1:variant>
        <ns1:i4>9</ns1:i4>
      </ns1:variant>
      <ns1:variant>
        <ns1:lpstr>主题</ns1:lpstr>
      </ns1:variant>
      <ns1:variant>
        <ns1:i4>1</ns1:i4>
      </ns1:variant>
      <ns1:variant>
        <ns1:lpstr>嵌入 OLE 服务器</ns1:lpstr>
      </ns1:variant>
      <ns1:variant>
        <ns1:i4>0</ns1:i4>
      </ns1:variant>
      <ns1:variant>
        <ns1:lpstr>幻灯片标题</ns1:lpstr>
      </ns1:variant>
      <ns1:variant>
        <ns1:i4>27</ns1:i4>
      </ns1:variant>
    </ns1:vector>
  </ns0:HeadingPairs>
  <ns0:TitlesOfParts>
    <ns1:vector size="37" baseType="lpstr">
      <ns1:lpstr>Alibaba PuHuiTi</ns1:lpstr>
      <ns1:lpstr>Alibaba PuHuiTi Medium</ns1:lpstr>
      <ns1:lpstr>Inter</ns1:lpstr>
      <ns1:lpstr>等线</ns1:lpstr>
      <ns1:lpstr>思源黑体 CN Heavy</ns1:lpstr>
      <ns1:lpstr>微软雅黑</ns1:lpstr>
      <ns1:lpstr>Arial</ns1:lpstr>
      <ns1:lpstr>Calibri</ns1:lpstr>
      <ns1:lpstr>Tahoma</ns1:lpstr>
      <ns1:lpstr>Office 主题​​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</ns1:vector>
  </ns0:TitlesOfParts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Lin M.Y.</dc:creator>
  <cp:lastModifiedBy>1 pompeya</cp:lastModifiedBy>
  <cp:revision>188</cp:revision>
  <dcterms:created xsi:type="dcterms:W3CDTF">2019-07-31T06:15:00Z</dcterms:created>
  <dcterms:modified xsi:type="dcterms:W3CDTF">2025-02-22T13:11:33Z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022A88C5D12D4945ADE0ED2726AF53ED</vt:lpwstr>
  </property>
  <property fmtid="{D5CDD505-2E9C-101B-9397-08002B2CF9AE}" pid="3" name="KSOProductBuildVer">
    <vt:lpwstr>2052-12.1.0.16417</vt:lpwstr>
  </property>
</Properties>
</file>